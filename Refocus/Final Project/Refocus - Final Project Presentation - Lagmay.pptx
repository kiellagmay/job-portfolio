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Lst>
  <p:sldSz cy="5143500" cx="9144000"/>
  <p:notesSz cx="6858000" cy="9144000"/>
  <p:embeddedFontLst>
    <p:embeddedFont>
      <p:font typeface="Inter SemiBold"/>
      <p:regular r:id="rId48"/>
      <p:bold r:id="rId49"/>
    </p:embeddedFont>
    <p:embeddedFont>
      <p:font typeface="Nunito"/>
      <p:regular r:id="rId50"/>
      <p:bold r:id="rId51"/>
      <p:italic r:id="rId52"/>
      <p:boldItalic r:id="rId53"/>
    </p:embeddedFont>
    <p:embeddedFont>
      <p:font typeface="Lato"/>
      <p:regular r:id="rId54"/>
      <p:bold r:id="rId55"/>
      <p:italic r:id="rId56"/>
      <p:boldItalic r:id="rId57"/>
    </p:embeddedFont>
    <p:embeddedFont>
      <p:font typeface="Inter"/>
      <p:regular r:id="rId58"/>
      <p:bold r:id="rId5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 uri="GoogleSlidesCustomDataVersion2">
      <go:slidesCustomData xmlns:go="http://customooxmlschemas.google.com/" r:id="rId60" roundtripDataSignature="AMtx7mhkmhqLGEFN9P9AkOdgwohVNznC0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font" Target="fonts/InterSemiBold-regular.fntdata"/><Relationship Id="rId47" Type="http://schemas.openxmlformats.org/officeDocument/2006/relationships/slide" Target="slides/slide42.xml"/><Relationship Id="rId49" Type="http://schemas.openxmlformats.org/officeDocument/2006/relationships/font" Target="fonts/InterSemiBold-bold.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60" Type="http://customschemas.google.com/relationships/presentationmetadata" Target="metadata"/><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font" Target="fonts/Nunito-bold.fntdata"/><Relationship Id="rId50" Type="http://schemas.openxmlformats.org/officeDocument/2006/relationships/font" Target="fonts/Nunito-regular.fntdata"/><Relationship Id="rId53" Type="http://schemas.openxmlformats.org/officeDocument/2006/relationships/font" Target="fonts/Nunito-boldItalic.fntdata"/><Relationship Id="rId52" Type="http://schemas.openxmlformats.org/officeDocument/2006/relationships/font" Target="fonts/Nunito-italic.fntdata"/><Relationship Id="rId11" Type="http://schemas.openxmlformats.org/officeDocument/2006/relationships/slide" Target="slides/slide6.xml"/><Relationship Id="rId55" Type="http://schemas.openxmlformats.org/officeDocument/2006/relationships/font" Target="fonts/Lato-bold.fntdata"/><Relationship Id="rId10" Type="http://schemas.openxmlformats.org/officeDocument/2006/relationships/slide" Target="slides/slide5.xml"/><Relationship Id="rId54" Type="http://schemas.openxmlformats.org/officeDocument/2006/relationships/font" Target="fonts/Lato-regular.fntdata"/><Relationship Id="rId13" Type="http://schemas.openxmlformats.org/officeDocument/2006/relationships/slide" Target="slides/slide8.xml"/><Relationship Id="rId57" Type="http://schemas.openxmlformats.org/officeDocument/2006/relationships/font" Target="fonts/Lato-boldItalic.fntdata"/><Relationship Id="rId12" Type="http://schemas.openxmlformats.org/officeDocument/2006/relationships/slide" Target="slides/slide7.xml"/><Relationship Id="rId56" Type="http://schemas.openxmlformats.org/officeDocument/2006/relationships/font" Target="fonts/Lato-italic.fntdata"/><Relationship Id="rId15" Type="http://schemas.openxmlformats.org/officeDocument/2006/relationships/slide" Target="slides/slide10.xml"/><Relationship Id="rId59" Type="http://schemas.openxmlformats.org/officeDocument/2006/relationships/font" Target="fonts/Inter-bold.fntdata"/><Relationship Id="rId14" Type="http://schemas.openxmlformats.org/officeDocument/2006/relationships/slide" Target="slides/slide9.xml"/><Relationship Id="rId58" Type="http://schemas.openxmlformats.org/officeDocument/2006/relationships/font" Target="fonts/Inter-regular.fntdata"/><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2: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2" name="Google Shape;52;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 name="Shape 60"/>
        <p:cNvGrpSpPr/>
        <p:nvPr/>
      </p:nvGrpSpPr>
      <p:grpSpPr>
        <a:xfrm>
          <a:off x="0" y="0"/>
          <a:ext cx="0" cy="0"/>
          <a:chOff x="0" y="0"/>
          <a:chExt cx="0" cy="0"/>
        </a:xfrm>
      </p:grpSpPr>
      <p:sp>
        <p:nvSpPr>
          <p:cNvPr id="61" name="Google Shape;61;p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2" name="Google Shape;62;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g2ced1532c44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0" name="Google Shape;70;g2ced1532c44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g2ced1532c44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8" name="Google Shape;78;g2ced1532c44_0_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26f55e7bfc3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6" name="Google Shape;86;g26f55e7bfc3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g26f55e7bfc3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4" name="Google Shape;94;g26f55e7bfc3_0_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26f55e7bfc3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2" name="Google Shape;102;g26f55e7bfc3_0_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g26f55e7bfc3_0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0" name="Google Shape;110;g26f55e7bfc3_0_4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g26f55e7bfc3_0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9" name="Google Shape;119;g26f55e7bfc3_0_3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26f55e7bfc3_0_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7" name="Google Shape;127;g26f55e7bfc3_0_4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g26f55e7bfc3_0_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5" name="Google Shape;135;g26f55e7bfc3_0_5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g26f55e7bfc3_0_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3" name="Google Shape;143;g26f55e7bfc3_0_7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p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1" name="Google Shape;151;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p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9" name="Google Shape;159;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g26f55e7bfc3_0_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8" name="Google Shape;168;g26f55e7bfc3_0_9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g26f55e7bfc3_0_1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6" name="Google Shape;176;g26f55e7bfc3_0_10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g26f55e7bfc3_0_1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4" name="Google Shape;184;g26f55e7bfc3_0_1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g2cfee9e1d5c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2" name="Google Shape;192;g2cfee9e1d5c_0_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g2cfee9e1d5c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0" name="Google Shape;200;g2cfee9e1d5c_0_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g26f55e7bfc3_0_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8" name="Google Shape;208;g26f55e7bfc3_0_8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p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6" name="Google Shape;216;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g26f55e7bfc3_0_1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4" name="Google Shape;224;g26f55e7bfc3_0_14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g26f55e7bfc3_0_1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2" name="Google Shape;232;g26f55e7bfc3_0_15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g26f55e7bfc3_0_1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0" name="Google Shape;240;g26f55e7bfc3_0_16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g26f55e7bfc3_0_1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8" name="Google Shape;248;g26f55e7bfc3_0_17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g26f55e7bfc3_0_1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6" name="Google Shape;256;g26f55e7bfc3_0_12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p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4" name="Google Shape;264;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g26f76466bc4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74" name="Google Shape;274;g26f76466bc4_0_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g26f76466bc4_0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82" name="Google Shape;282;g26f76466bc4_0_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g26f76466bc4_0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90" name="Google Shape;290;g26f76466bc4_0_3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6" name="Shape 296"/>
        <p:cNvGrpSpPr/>
        <p:nvPr/>
      </p:nvGrpSpPr>
      <p:grpSpPr>
        <a:xfrm>
          <a:off x="0" y="0"/>
          <a:ext cx="0" cy="0"/>
          <a:chOff x="0" y="0"/>
          <a:chExt cx="0" cy="0"/>
        </a:xfrm>
      </p:grpSpPr>
      <p:sp>
        <p:nvSpPr>
          <p:cNvPr id="297" name="Google Shape;297;g2cfb6489d96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98" name="Google Shape;298;g2cfb6489d96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 name="Shape 306"/>
        <p:cNvGrpSpPr/>
        <p:nvPr/>
      </p:nvGrpSpPr>
      <p:grpSpPr>
        <a:xfrm>
          <a:off x="0" y="0"/>
          <a:ext cx="0" cy="0"/>
          <a:chOff x="0" y="0"/>
          <a:chExt cx="0" cy="0"/>
        </a:xfrm>
      </p:grpSpPr>
      <p:sp>
        <p:nvSpPr>
          <p:cNvPr id="307" name="Google Shape;307;g2cfb6489d96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08" name="Google Shape;308;g2cfb6489d96_0_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6" name="Shape 316"/>
        <p:cNvGrpSpPr/>
        <p:nvPr/>
      </p:nvGrpSpPr>
      <p:grpSpPr>
        <a:xfrm>
          <a:off x="0" y="0"/>
          <a:ext cx="0" cy="0"/>
          <a:chOff x="0" y="0"/>
          <a:chExt cx="0" cy="0"/>
        </a:xfrm>
      </p:grpSpPr>
      <p:sp>
        <p:nvSpPr>
          <p:cNvPr id="317" name="Google Shape;317;g2cfb6489d96_0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18" name="Google Shape;318;g2cfb6489d96_0_3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7" name="Shape 327"/>
        <p:cNvGrpSpPr/>
        <p:nvPr/>
      </p:nvGrpSpPr>
      <p:grpSpPr>
        <a:xfrm>
          <a:off x="0" y="0"/>
          <a:ext cx="0" cy="0"/>
          <a:chOff x="0" y="0"/>
          <a:chExt cx="0" cy="0"/>
        </a:xfrm>
      </p:grpSpPr>
      <p:sp>
        <p:nvSpPr>
          <p:cNvPr id="328" name="Google Shape;328;g2cfb6489d96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29" name="Google Shape;329;g2cfb6489d96_0_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6" name="Shape 336"/>
        <p:cNvGrpSpPr/>
        <p:nvPr/>
      </p:nvGrpSpPr>
      <p:grpSpPr>
        <a:xfrm>
          <a:off x="0" y="0"/>
          <a:ext cx="0" cy="0"/>
          <a:chOff x="0" y="0"/>
          <a:chExt cx="0" cy="0"/>
        </a:xfrm>
      </p:grpSpPr>
      <p:sp>
        <p:nvSpPr>
          <p:cNvPr id="337" name="Google Shape;337;g2cfb6489d96_0_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38" name="Google Shape;338;g2cfb6489d96_0_4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 name="Shape 344"/>
        <p:cNvGrpSpPr/>
        <p:nvPr/>
      </p:nvGrpSpPr>
      <p:grpSpPr>
        <a:xfrm>
          <a:off x="0" y="0"/>
          <a:ext cx="0" cy="0"/>
          <a:chOff x="0" y="0"/>
          <a:chExt cx="0" cy="0"/>
        </a:xfrm>
      </p:grpSpPr>
      <p:sp>
        <p:nvSpPr>
          <p:cNvPr id="345" name="Google Shape;345;g26f76466bc4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46" name="Google Shape;346;g26f76466bc4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2" name="Shape 352"/>
        <p:cNvGrpSpPr/>
        <p:nvPr/>
      </p:nvGrpSpPr>
      <p:grpSpPr>
        <a:xfrm>
          <a:off x="0" y="0"/>
          <a:ext cx="0" cy="0"/>
          <a:chOff x="0" y="0"/>
          <a:chExt cx="0" cy="0"/>
        </a:xfrm>
      </p:grpSpPr>
      <p:sp>
        <p:nvSpPr>
          <p:cNvPr id="353" name="Google Shape;353;p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54" name="Google Shape;354;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0" name="Shape 360"/>
        <p:cNvGrpSpPr/>
        <p:nvPr/>
      </p:nvGrpSpPr>
      <p:grpSpPr>
        <a:xfrm>
          <a:off x="0" y="0"/>
          <a:ext cx="0" cy="0"/>
          <a:chOff x="0" y="0"/>
          <a:chExt cx="0" cy="0"/>
        </a:xfrm>
      </p:grpSpPr>
      <p:sp>
        <p:nvSpPr>
          <p:cNvPr id="361" name="Google Shape;361;p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62" name="Google Shape;362;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8" name="Shape 368"/>
        <p:cNvGrpSpPr/>
        <p:nvPr/>
      </p:nvGrpSpPr>
      <p:grpSpPr>
        <a:xfrm>
          <a:off x="0" y="0"/>
          <a:ext cx="0" cy="0"/>
          <a:chOff x="0" y="0"/>
          <a:chExt cx="0" cy="0"/>
        </a:xfrm>
      </p:grpSpPr>
      <p:sp>
        <p:nvSpPr>
          <p:cNvPr id="369" name="Google Shape;369;p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70" name="Google Shape;370;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6" name="Shape 376"/>
        <p:cNvGrpSpPr/>
        <p:nvPr/>
      </p:nvGrpSpPr>
      <p:grpSpPr>
        <a:xfrm>
          <a:off x="0" y="0"/>
          <a:ext cx="0" cy="0"/>
          <a:chOff x="0" y="0"/>
          <a:chExt cx="0" cy="0"/>
        </a:xfrm>
      </p:grpSpPr>
      <p:sp>
        <p:nvSpPr>
          <p:cNvPr id="377" name="Google Shape;377;p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78" name="Google Shape;378;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4" name="Shape 384"/>
        <p:cNvGrpSpPr/>
        <p:nvPr/>
      </p:nvGrpSpPr>
      <p:grpSpPr>
        <a:xfrm>
          <a:off x="0" y="0"/>
          <a:ext cx="0" cy="0"/>
          <a:chOff x="0" y="0"/>
          <a:chExt cx="0" cy="0"/>
        </a:xfrm>
      </p:grpSpPr>
      <p:sp>
        <p:nvSpPr>
          <p:cNvPr id="385" name="Google Shape;385;p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86" name="Google Shape;386;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2" name="Shape 392"/>
        <p:cNvGrpSpPr/>
        <p:nvPr/>
      </p:nvGrpSpPr>
      <p:grpSpPr>
        <a:xfrm>
          <a:off x="0" y="0"/>
          <a:ext cx="0" cy="0"/>
          <a:chOff x="0" y="0"/>
          <a:chExt cx="0" cy="0"/>
        </a:xfrm>
      </p:grpSpPr>
      <p:sp>
        <p:nvSpPr>
          <p:cNvPr id="393" name="Google Shape;393;p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94" name="Google Shape;394;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9" name="Shape 9"/>
        <p:cNvGrpSpPr/>
        <p:nvPr/>
      </p:nvGrpSpPr>
      <p:grpSpPr>
        <a:xfrm>
          <a:off x="0" y="0"/>
          <a:ext cx="0" cy="0"/>
          <a:chOff x="0" y="0"/>
          <a:chExt cx="0" cy="0"/>
        </a:xfrm>
      </p:grpSpPr>
      <p:sp>
        <p:nvSpPr>
          <p:cNvPr id="10" name="Google Shape;10;p1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1" name="Shape 11"/>
        <p:cNvGrpSpPr/>
        <p:nvPr/>
      </p:nvGrpSpPr>
      <p:grpSpPr>
        <a:xfrm>
          <a:off x="0" y="0"/>
          <a:ext cx="0" cy="0"/>
          <a:chOff x="0" y="0"/>
          <a:chExt cx="0" cy="0"/>
        </a:xfrm>
      </p:grpSpPr>
      <p:sp>
        <p:nvSpPr>
          <p:cNvPr id="12" name="Google Shape;12;p16"/>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3" name="Google Shape;13;p16"/>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4" name="Google Shape;14;p1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5" name="Shape 15"/>
        <p:cNvGrpSpPr/>
        <p:nvPr/>
      </p:nvGrpSpPr>
      <p:grpSpPr>
        <a:xfrm>
          <a:off x="0" y="0"/>
          <a:ext cx="0" cy="0"/>
          <a:chOff x="0" y="0"/>
          <a:chExt cx="0" cy="0"/>
        </a:xfrm>
      </p:grpSpPr>
      <p:sp>
        <p:nvSpPr>
          <p:cNvPr id="16" name="Google Shape;16;p1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7" name="Google Shape;17;p17"/>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18" name="Google Shape;18;p1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9" name="Shape 19"/>
        <p:cNvGrpSpPr/>
        <p:nvPr/>
      </p:nvGrpSpPr>
      <p:grpSpPr>
        <a:xfrm>
          <a:off x="0" y="0"/>
          <a:ext cx="0" cy="0"/>
          <a:chOff x="0" y="0"/>
          <a:chExt cx="0" cy="0"/>
        </a:xfrm>
      </p:grpSpPr>
      <p:sp>
        <p:nvSpPr>
          <p:cNvPr id="20" name="Google Shape;20;p18"/>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21" name="Google Shape;21;p1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2" name="Shape 22"/>
        <p:cNvGrpSpPr/>
        <p:nvPr/>
      </p:nvGrpSpPr>
      <p:grpSpPr>
        <a:xfrm>
          <a:off x="0" y="0"/>
          <a:ext cx="0" cy="0"/>
          <a:chOff x="0" y="0"/>
          <a:chExt cx="0" cy="0"/>
        </a:xfrm>
      </p:grpSpPr>
      <p:sp>
        <p:nvSpPr>
          <p:cNvPr id="23" name="Google Shape;23;p1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4" name="Google Shape;24;p19"/>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5" name="Google Shape;25;p19"/>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6" name="Google Shape;26;p1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7" name="Shape 27"/>
        <p:cNvGrpSpPr/>
        <p:nvPr/>
      </p:nvGrpSpPr>
      <p:grpSpPr>
        <a:xfrm>
          <a:off x="0" y="0"/>
          <a:ext cx="0" cy="0"/>
          <a:chOff x="0" y="0"/>
          <a:chExt cx="0" cy="0"/>
        </a:xfrm>
      </p:grpSpPr>
      <p:sp>
        <p:nvSpPr>
          <p:cNvPr id="28" name="Google Shape;28;p2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9" name="Google Shape;29;p2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0" name="Shape 30"/>
        <p:cNvGrpSpPr/>
        <p:nvPr/>
      </p:nvGrpSpPr>
      <p:grpSpPr>
        <a:xfrm>
          <a:off x="0" y="0"/>
          <a:ext cx="0" cy="0"/>
          <a:chOff x="0" y="0"/>
          <a:chExt cx="0" cy="0"/>
        </a:xfrm>
      </p:grpSpPr>
      <p:sp>
        <p:nvSpPr>
          <p:cNvPr id="31" name="Google Shape;31;p21"/>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32" name="Google Shape;32;p21"/>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33" name="Google Shape;33;p2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4" name="Shape 34"/>
        <p:cNvGrpSpPr/>
        <p:nvPr/>
      </p:nvGrpSpPr>
      <p:grpSpPr>
        <a:xfrm>
          <a:off x="0" y="0"/>
          <a:ext cx="0" cy="0"/>
          <a:chOff x="0" y="0"/>
          <a:chExt cx="0" cy="0"/>
        </a:xfrm>
      </p:grpSpPr>
      <p:sp>
        <p:nvSpPr>
          <p:cNvPr id="35" name="Google Shape;35;p22"/>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36" name="Google Shape;36;p2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7" name="Shape 37"/>
        <p:cNvGrpSpPr/>
        <p:nvPr/>
      </p:nvGrpSpPr>
      <p:grpSpPr>
        <a:xfrm>
          <a:off x="0" y="0"/>
          <a:ext cx="0" cy="0"/>
          <a:chOff x="0" y="0"/>
          <a:chExt cx="0" cy="0"/>
        </a:xfrm>
      </p:grpSpPr>
      <p:sp>
        <p:nvSpPr>
          <p:cNvPr id="38" name="Google Shape;38;p23"/>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 name="Google Shape;39;p23"/>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40" name="Google Shape;40;p23"/>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1" name="Google Shape;41;p23"/>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42" name="Google Shape;42;p2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3" name="Shape 43"/>
        <p:cNvGrpSpPr/>
        <p:nvPr/>
      </p:nvGrpSpPr>
      <p:grpSpPr>
        <a:xfrm>
          <a:off x="0" y="0"/>
          <a:ext cx="0" cy="0"/>
          <a:chOff x="0" y="0"/>
          <a:chExt cx="0" cy="0"/>
        </a:xfrm>
      </p:grpSpPr>
      <p:sp>
        <p:nvSpPr>
          <p:cNvPr id="44" name="Google Shape;44;p24"/>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800"/>
              <a:buNone/>
              <a:defRPr/>
            </a:lvl1pPr>
          </a:lstStyle>
          <a:p/>
        </p:txBody>
      </p:sp>
      <p:sp>
        <p:nvSpPr>
          <p:cNvPr id="45" name="Google Shape;45;p2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6" name="Shape 46"/>
        <p:cNvGrpSpPr/>
        <p:nvPr/>
      </p:nvGrpSpPr>
      <p:grpSpPr>
        <a:xfrm>
          <a:off x="0" y="0"/>
          <a:ext cx="0" cy="0"/>
          <a:chOff x="0" y="0"/>
          <a:chExt cx="0" cy="0"/>
        </a:xfrm>
      </p:grpSpPr>
      <p:sp>
        <p:nvSpPr>
          <p:cNvPr id="47" name="Google Shape;47;p25"/>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8" name="Google Shape;48;p25"/>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49" name="Google Shape;49;p2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7" name="Google Shape;7;p14"/>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8" name="Google Shape;8;p1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image" Target="../media/image4.png"/><Relationship Id="rId4" Type="http://schemas.openxmlformats.org/officeDocument/2006/relationships/image" Target="../media/image3.png"/><Relationship Id="rId5" Type="http://schemas.openxmlformats.org/officeDocument/2006/relationships/image" Target="../media/image6.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6.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6.png"/><Relationship Id="rId4" Type="http://schemas.openxmlformats.org/officeDocument/2006/relationships/image" Target="../media/image16.png"/><Relationship Id="rId5"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6.png"/><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6.png"/><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6.png"/><Relationship Id="rId4" Type="http://schemas.openxmlformats.org/officeDocument/2006/relationships/image" Target="../media/image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6.png"/><Relationship Id="rId4" Type="http://schemas.openxmlformats.org/officeDocument/2006/relationships/image" Target="../media/image1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6.png"/><Relationship Id="rId4" Type="http://schemas.openxmlformats.org/officeDocument/2006/relationships/image" Target="../media/image23.png"/><Relationship Id="rId5" Type="http://schemas.openxmlformats.org/officeDocument/2006/relationships/image" Target="../media/image2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6.png"/><Relationship Id="rId4" Type="http://schemas.openxmlformats.org/officeDocument/2006/relationships/image" Target="../media/image1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6.png"/><Relationship Id="rId4" Type="http://schemas.openxmlformats.org/officeDocument/2006/relationships/image" Target="../media/image1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6.png"/><Relationship Id="rId4" Type="http://schemas.openxmlformats.org/officeDocument/2006/relationships/image" Target="../media/image2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6.png"/><Relationship Id="rId4" Type="http://schemas.openxmlformats.org/officeDocument/2006/relationships/image" Target="../media/image2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6.png"/><Relationship Id="rId4" Type="http://schemas.openxmlformats.org/officeDocument/2006/relationships/image" Target="../media/image18.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6.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6.png"/><Relationship Id="rId4" Type="http://schemas.openxmlformats.org/officeDocument/2006/relationships/image" Target="../media/image38.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6.png"/><Relationship Id="rId4" Type="http://schemas.openxmlformats.org/officeDocument/2006/relationships/image" Target="../media/image13.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6.png"/><Relationship Id="rId4" Type="http://schemas.openxmlformats.org/officeDocument/2006/relationships/image" Target="../media/image1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6.png"/><Relationship Id="rId4" Type="http://schemas.openxmlformats.org/officeDocument/2006/relationships/image" Target="../media/image12.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6.png"/><Relationship Id="rId4" Type="http://schemas.openxmlformats.org/officeDocument/2006/relationships/image" Target="../media/image2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6.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6.png"/><Relationship Id="rId4" Type="http://schemas.openxmlformats.org/officeDocument/2006/relationships/image" Target="../media/image10.png"/><Relationship Id="rId5" Type="http://schemas.openxmlformats.org/officeDocument/2006/relationships/image" Target="../media/image9.png"/><Relationship Id="rId6" Type="http://schemas.openxmlformats.org/officeDocument/2006/relationships/image" Target="../media/image20.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image" Target="../media/image6.png"/><Relationship Id="rId4" Type="http://schemas.openxmlformats.org/officeDocument/2006/relationships/image" Target="../media/image35.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 Id="rId3" Type="http://schemas.openxmlformats.org/officeDocument/2006/relationships/image" Target="../media/image6.png"/><Relationship Id="rId4" Type="http://schemas.openxmlformats.org/officeDocument/2006/relationships/image" Target="../media/image24.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image" Target="../media/image6.png"/><Relationship Id="rId4" Type="http://schemas.openxmlformats.org/officeDocument/2006/relationships/image" Target="../media/image37.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image" Target="../media/image6.png"/><Relationship Id="rId4" Type="http://schemas.openxmlformats.org/officeDocument/2006/relationships/image" Target="../media/image19.png"/><Relationship Id="rId5" Type="http://schemas.openxmlformats.org/officeDocument/2006/relationships/image" Target="../media/image28.png"/><Relationship Id="rId6" Type="http://schemas.openxmlformats.org/officeDocument/2006/relationships/image" Target="../media/image36.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 Id="rId3" Type="http://schemas.openxmlformats.org/officeDocument/2006/relationships/image" Target="../media/image6.png"/><Relationship Id="rId4" Type="http://schemas.openxmlformats.org/officeDocument/2006/relationships/image" Target="../media/image31.png"/><Relationship Id="rId5" Type="http://schemas.openxmlformats.org/officeDocument/2006/relationships/image" Target="../media/image25.png"/><Relationship Id="rId6" Type="http://schemas.openxmlformats.org/officeDocument/2006/relationships/image" Target="../media/image34.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 Id="rId3" Type="http://schemas.openxmlformats.org/officeDocument/2006/relationships/image" Target="../media/image6.png"/><Relationship Id="rId4" Type="http://schemas.openxmlformats.org/officeDocument/2006/relationships/image" Target="../media/image32.png"/><Relationship Id="rId5" Type="http://schemas.openxmlformats.org/officeDocument/2006/relationships/image" Target="../media/image29.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 Id="rId3" Type="http://schemas.openxmlformats.org/officeDocument/2006/relationships/image" Target="../media/image6.png"/><Relationship Id="rId4" Type="http://schemas.openxmlformats.org/officeDocument/2006/relationships/image" Target="../media/image33.png"/><Relationship Id="rId5" Type="http://schemas.openxmlformats.org/officeDocument/2006/relationships/image" Target="../media/image30.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 Id="rId3" Type="http://schemas.openxmlformats.org/officeDocument/2006/relationships/image" Target="../media/image6.png"/><Relationship Id="rId4" Type="http://schemas.openxmlformats.org/officeDocument/2006/relationships/image" Target="../media/image39.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 Id="rId3" Type="http://schemas.openxmlformats.org/officeDocument/2006/relationships/image" Target="../media/image6.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 Id="rId3" Type="http://schemas.openxmlformats.org/officeDocument/2006/relationships/image" Target="../media/image6.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 Id="rId3" Type="http://schemas.openxmlformats.org/officeDocument/2006/relationships/hyperlink" Target="https://www.investopedia.com/ask/answers/111314/what-causes-inflation-and-does-anyone-gain-it.asp#:~:text=Higher%20wages%20also%20increase%20consumers,the%20other%20and%20vice%2Dversa" TargetMode="External"/><Relationship Id="rId4" Type="http://schemas.openxmlformats.org/officeDocument/2006/relationships/image" Target="../media/image6.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 Id="rId3" Type="http://schemas.openxmlformats.org/officeDocument/2006/relationships/image" Target="../media/image6.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 Id="rId3" Type="http://schemas.openxmlformats.org/officeDocument/2006/relationships/image" Target="../media/image6.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 Id="rId3" Type="http://schemas.openxmlformats.org/officeDocument/2006/relationships/image" Target="../media/image6.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 Id="rId3"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CF10D"/>
        </a:solidFill>
      </p:bgPr>
    </p:bg>
    <p:spTree>
      <p:nvGrpSpPr>
        <p:cNvPr id="53" name="Shape 53"/>
        <p:cNvGrpSpPr/>
        <p:nvPr/>
      </p:nvGrpSpPr>
      <p:grpSpPr>
        <a:xfrm>
          <a:off x="0" y="0"/>
          <a:ext cx="0" cy="0"/>
          <a:chOff x="0" y="0"/>
          <a:chExt cx="0" cy="0"/>
        </a:xfrm>
      </p:grpSpPr>
      <p:pic>
        <p:nvPicPr>
          <p:cNvPr id="54" name="Google Shape;54;p2"/>
          <p:cNvPicPr preferRelativeResize="0"/>
          <p:nvPr/>
        </p:nvPicPr>
        <p:blipFill rotWithShape="1">
          <a:blip r:embed="rId3">
            <a:alphaModFix/>
          </a:blip>
          <a:srcRect b="0" l="0" r="0" t="0"/>
          <a:stretch/>
        </p:blipFill>
        <p:spPr>
          <a:xfrm>
            <a:off x="3669450" y="1867094"/>
            <a:ext cx="5474550" cy="3288375"/>
          </a:xfrm>
          <a:prstGeom prst="rect">
            <a:avLst/>
          </a:prstGeom>
          <a:noFill/>
          <a:ln>
            <a:noFill/>
          </a:ln>
        </p:spPr>
      </p:pic>
      <p:pic>
        <p:nvPicPr>
          <p:cNvPr id="55" name="Google Shape;55;p2"/>
          <p:cNvPicPr preferRelativeResize="0"/>
          <p:nvPr/>
        </p:nvPicPr>
        <p:blipFill rotWithShape="1">
          <a:blip r:embed="rId4">
            <a:alphaModFix/>
          </a:blip>
          <a:srcRect b="0" l="0" r="0" t="0"/>
          <a:stretch/>
        </p:blipFill>
        <p:spPr>
          <a:xfrm>
            <a:off x="6018950" y="2590568"/>
            <a:ext cx="2894674" cy="2894674"/>
          </a:xfrm>
          <a:prstGeom prst="rect">
            <a:avLst/>
          </a:prstGeom>
          <a:noFill/>
          <a:ln>
            <a:noFill/>
          </a:ln>
        </p:spPr>
      </p:pic>
      <p:sp>
        <p:nvSpPr>
          <p:cNvPr id="56" name="Google Shape;56;p2"/>
          <p:cNvSpPr txBox="1"/>
          <p:nvPr>
            <p:ph idx="1" type="subTitle"/>
          </p:nvPr>
        </p:nvSpPr>
        <p:spPr>
          <a:xfrm>
            <a:off x="311700" y="2253725"/>
            <a:ext cx="8520600" cy="792600"/>
          </a:xfrm>
          <a:prstGeom prst="rect">
            <a:avLst/>
          </a:prstGeom>
          <a:noFill/>
          <a:ln>
            <a:noFill/>
          </a:ln>
        </p:spPr>
        <p:txBody>
          <a:bodyPr anchorCtr="0" anchor="t" bIns="91425" lIns="91425" spcFirstLastPara="1" rIns="91425" wrap="square" tIns="91425">
            <a:noAutofit/>
          </a:bodyPr>
          <a:lstStyle/>
          <a:p>
            <a:pPr indent="0" lvl="0" marL="0" rtl="0" algn="l">
              <a:lnSpc>
                <a:spcPct val="90000"/>
              </a:lnSpc>
              <a:spcBef>
                <a:spcPts val="0"/>
              </a:spcBef>
              <a:spcAft>
                <a:spcPts val="0"/>
              </a:spcAft>
              <a:buClr>
                <a:schemeClr val="dk1"/>
              </a:buClr>
              <a:buSzPts val="1100"/>
              <a:buFont typeface="Arial"/>
              <a:buNone/>
            </a:pPr>
            <a:r>
              <a:rPr lang="en" sz="1800">
                <a:solidFill>
                  <a:schemeClr val="dk1"/>
                </a:solidFill>
                <a:latin typeface="Lato"/>
                <a:ea typeface="Lato"/>
                <a:cs typeface="Lato"/>
                <a:sym typeface="Lato"/>
              </a:rPr>
              <a:t>Ezekiel Adriel D. Lagmay</a:t>
            </a:r>
            <a:endParaRPr sz="1800">
              <a:solidFill>
                <a:schemeClr val="dk1"/>
              </a:solidFill>
              <a:latin typeface="Lato"/>
              <a:ea typeface="Lato"/>
              <a:cs typeface="Lato"/>
              <a:sym typeface="Lato"/>
            </a:endParaRPr>
          </a:p>
          <a:p>
            <a:pPr indent="0" lvl="0" marL="0" rtl="0" algn="ctr">
              <a:lnSpc>
                <a:spcPct val="90000"/>
              </a:lnSpc>
              <a:spcBef>
                <a:spcPts val="0"/>
              </a:spcBef>
              <a:spcAft>
                <a:spcPts val="0"/>
              </a:spcAft>
              <a:buSzPts val="2800"/>
              <a:buNone/>
            </a:pPr>
            <a:r>
              <a:t/>
            </a:r>
            <a:endParaRPr sz="1800">
              <a:latin typeface="Lato"/>
              <a:ea typeface="Lato"/>
              <a:cs typeface="Lato"/>
              <a:sym typeface="Lato"/>
            </a:endParaRPr>
          </a:p>
        </p:txBody>
      </p:sp>
      <p:sp>
        <p:nvSpPr>
          <p:cNvPr id="57" name="Google Shape;57;p2"/>
          <p:cNvSpPr txBox="1"/>
          <p:nvPr>
            <p:ph idx="1" type="subTitle"/>
          </p:nvPr>
        </p:nvSpPr>
        <p:spPr>
          <a:xfrm>
            <a:off x="311700" y="1376766"/>
            <a:ext cx="8520600" cy="792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sz="2400">
                <a:solidFill>
                  <a:schemeClr val="dk1"/>
                </a:solidFill>
                <a:latin typeface="Inter SemiBold"/>
                <a:ea typeface="Inter SemiBold"/>
                <a:cs typeface="Inter SemiBold"/>
                <a:sym typeface="Inter SemiBold"/>
              </a:rPr>
              <a:t>A Feasibility Study on the Expansion of Health Smartwatches Beyond California</a:t>
            </a:r>
            <a:endParaRPr sz="2400">
              <a:solidFill>
                <a:schemeClr val="dk1"/>
              </a:solidFill>
              <a:latin typeface="Inter SemiBold"/>
              <a:ea typeface="Inter SemiBold"/>
              <a:cs typeface="Inter SemiBold"/>
              <a:sym typeface="Inter SemiBold"/>
            </a:endParaRPr>
          </a:p>
          <a:p>
            <a:pPr indent="0" lvl="0" marL="0" rtl="0" algn="ctr">
              <a:lnSpc>
                <a:spcPct val="100000"/>
              </a:lnSpc>
              <a:spcBef>
                <a:spcPts val="0"/>
              </a:spcBef>
              <a:spcAft>
                <a:spcPts val="0"/>
              </a:spcAft>
              <a:buSzPts val="2800"/>
              <a:buNone/>
            </a:pPr>
            <a:r>
              <a:t/>
            </a:r>
            <a:endParaRPr sz="2400"/>
          </a:p>
        </p:txBody>
      </p:sp>
      <p:sp>
        <p:nvSpPr>
          <p:cNvPr id="58" name="Google Shape;58;p2"/>
          <p:cNvSpPr txBox="1"/>
          <p:nvPr>
            <p:ph idx="1" type="subTitle"/>
          </p:nvPr>
        </p:nvSpPr>
        <p:spPr>
          <a:xfrm>
            <a:off x="332690" y="3052222"/>
            <a:ext cx="8520600" cy="792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sz="1600">
                <a:solidFill>
                  <a:schemeClr val="dk1"/>
                </a:solidFill>
                <a:latin typeface="Inter"/>
                <a:ea typeface="Inter"/>
                <a:cs typeface="Inter"/>
                <a:sym typeface="Inter"/>
              </a:rPr>
              <a:t>Which one (or two) states should be prioritized in the</a:t>
            </a:r>
            <a:endParaRPr sz="1600">
              <a:solidFill>
                <a:schemeClr val="dk1"/>
              </a:solidFill>
              <a:latin typeface="Inter"/>
              <a:ea typeface="Inter"/>
              <a:cs typeface="Inter"/>
              <a:sym typeface="Inter"/>
            </a:endParaRPr>
          </a:p>
          <a:p>
            <a:pPr indent="0" lvl="0" marL="0" rtl="0" algn="l">
              <a:lnSpc>
                <a:spcPct val="100000"/>
              </a:lnSpc>
              <a:spcBef>
                <a:spcPts val="0"/>
              </a:spcBef>
              <a:spcAft>
                <a:spcPts val="0"/>
              </a:spcAft>
              <a:buSzPts val="2800"/>
              <a:buNone/>
            </a:pPr>
            <a:r>
              <a:rPr lang="en" sz="1600">
                <a:solidFill>
                  <a:schemeClr val="dk1"/>
                </a:solidFill>
                <a:latin typeface="Inter"/>
                <a:ea typeface="Inter"/>
                <a:cs typeface="Inter"/>
                <a:sym typeface="Inter"/>
              </a:rPr>
              <a:t>expansion of the Health Smartwatch business?</a:t>
            </a:r>
            <a:endParaRPr sz="1600">
              <a:solidFill>
                <a:schemeClr val="dk1"/>
              </a:solidFill>
              <a:latin typeface="Inter"/>
              <a:ea typeface="Inter"/>
              <a:cs typeface="Inter"/>
              <a:sym typeface="Inter"/>
            </a:endParaRPr>
          </a:p>
          <a:p>
            <a:pPr indent="0" lvl="0" marL="0" rtl="0" algn="l">
              <a:lnSpc>
                <a:spcPct val="90000"/>
              </a:lnSpc>
              <a:spcBef>
                <a:spcPts val="0"/>
              </a:spcBef>
              <a:spcAft>
                <a:spcPts val="0"/>
              </a:spcAft>
              <a:buSzPts val="2800"/>
              <a:buNone/>
            </a:pPr>
            <a:r>
              <a:t/>
            </a:r>
            <a:endParaRPr sz="2100">
              <a:solidFill>
                <a:schemeClr val="dk1"/>
              </a:solidFill>
              <a:latin typeface="Lato"/>
              <a:ea typeface="Lato"/>
              <a:cs typeface="Lato"/>
              <a:sym typeface="Lato"/>
            </a:endParaRPr>
          </a:p>
          <a:p>
            <a:pPr indent="0" lvl="0" marL="0" rtl="0" algn="ctr">
              <a:lnSpc>
                <a:spcPct val="90000"/>
              </a:lnSpc>
              <a:spcBef>
                <a:spcPts val="0"/>
              </a:spcBef>
              <a:spcAft>
                <a:spcPts val="0"/>
              </a:spcAft>
              <a:buSzPts val="2800"/>
              <a:buNone/>
            </a:pPr>
            <a:r>
              <a:t/>
            </a:r>
            <a:endParaRPr>
              <a:latin typeface="Lato"/>
              <a:ea typeface="Lato"/>
              <a:cs typeface="Lato"/>
              <a:sym typeface="Lato"/>
            </a:endParaRPr>
          </a:p>
        </p:txBody>
      </p:sp>
      <p:pic>
        <p:nvPicPr>
          <p:cNvPr id="59" name="Google Shape;59;p2"/>
          <p:cNvPicPr preferRelativeResize="0"/>
          <p:nvPr/>
        </p:nvPicPr>
        <p:blipFill rotWithShape="1">
          <a:blip r:embed="rId5">
            <a:alphaModFix/>
          </a:blip>
          <a:srcRect b="0" l="0" r="0" t="0"/>
          <a:stretch/>
        </p:blipFill>
        <p:spPr>
          <a:xfrm>
            <a:off x="458526" y="4459825"/>
            <a:ext cx="887050" cy="20845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 name="Shape 63"/>
        <p:cNvGrpSpPr/>
        <p:nvPr/>
      </p:nvGrpSpPr>
      <p:grpSpPr>
        <a:xfrm>
          <a:off x="0" y="0"/>
          <a:ext cx="0" cy="0"/>
          <a:chOff x="0" y="0"/>
          <a:chExt cx="0" cy="0"/>
        </a:xfrm>
      </p:grpSpPr>
      <p:sp>
        <p:nvSpPr>
          <p:cNvPr id="64" name="Google Shape;64;p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Clr>
                <a:schemeClr val="dk1"/>
              </a:buClr>
              <a:buSzPct val="39285"/>
              <a:buFont typeface="Arial"/>
              <a:buNone/>
            </a:pPr>
            <a:r>
              <a:rPr lang="en">
                <a:solidFill>
                  <a:srgbClr val="424242"/>
                </a:solidFill>
                <a:latin typeface="Inter SemiBold"/>
                <a:ea typeface="Inter SemiBold"/>
                <a:cs typeface="Inter SemiBold"/>
                <a:sym typeface="Inter SemiBold"/>
              </a:rPr>
              <a:t>Project description</a:t>
            </a:r>
            <a:endParaRPr>
              <a:solidFill>
                <a:srgbClr val="424242"/>
              </a:solidFill>
              <a:latin typeface="Inter SemiBold"/>
              <a:ea typeface="Inter SemiBold"/>
              <a:cs typeface="Inter SemiBold"/>
              <a:sym typeface="Inter SemiBold"/>
            </a:endParaRPr>
          </a:p>
          <a:p>
            <a:pPr indent="0" lvl="0" marL="0" rtl="0" algn="l">
              <a:lnSpc>
                <a:spcPct val="100000"/>
              </a:lnSpc>
              <a:spcBef>
                <a:spcPts val="0"/>
              </a:spcBef>
              <a:spcAft>
                <a:spcPts val="0"/>
              </a:spcAft>
              <a:buSzPct val="111111"/>
              <a:buNone/>
            </a:pPr>
            <a:r>
              <a:t/>
            </a:r>
            <a:endParaRPr/>
          </a:p>
        </p:txBody>
      </p:sp>
      <p:sp>
        <p:nvSpPr>
          <p:cNvPr id="65" name="Google Shape;65;p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800"/>
              <a:buNone/>
            </a:pPr>
            <a:r>
              <a:rPr lang="en" sz="1400">
                <a:solidFill>
                  <a:srgbClr val="424242"/>
                </a:solidFill>
                <a:latin typeface="Inter"/>
                <a:ea typeface="Inter"/>
                <a:cs typeface="Inter"/>
                <a:sym typeface="Inter"/>
              </a:rPr>
              <a:t>Business Questions:</a:t>
            </a:r>
            <a:endParaRPr sz="1400">
              <a:solidFill>
                <a:srgbClr val="424242"/>
              </a:solidFill>
              <a:latin typeface="Inter"/>
              <a:ea typeface="Inter"/>
              <a:cs typeface="Inter"/>
              <a:sym typeface="Inter"/>
            </a:endParaRPr>
          </a:p>
          <a:p>
            <a:pPr indent="-317500" lvl="0" marL="457200" rtl="0" algn="l">
              <a:lnSpc>
                <a:spcPct val="115000"/>
              </a:lnSpc>
              <a:spcBef>
                <a:spcPts val="1200"/>
              </a:spcBef>
              <a:spcAft>
                <a:spcPts val="0"/>
              </a:spcAft>
              <a:buClr>
                <a:srgbClr val="424242"/>
              </a:buClr>
              <a:buSzPts val="1400"/>
              <a:buFont typeface="Inter"/>
              <a:buChar char="●"/>
            </a:pPr>
            <a:r>
              <a:rPr lang="en" sz="1400">
                <a:solidFill>
                  <a:srgbClr val="424242"/>
                </a:solidFill>
                <a:latin typeface="Inter"/>
                <a:ea typeface="Inter"/>
                <a:cs typeface="Inter"/>
                <a:sym typeface="Inter"/>
              </a:rPr>
              <a:t>How does the level of state income impact property prices?</a:t>
            </a:r>
            <a:endParaRPr sz="1400">
              <a:solidFill>
                <a:srgbClr val="424242"/>
              </a:solidFill>
              <a:latin typeface="Inter"/>
              <a:ea typeface="Inter"/>
              <a:cs typeface="Inter"/>
              <a:sym typeface="Inter"/>
            </a:endParaRPr>
          </a:p>
          <a:p>
            <a:pPr indent="-317500" lvl="0" marL="457200" rtl="0" algn="l">
              <a:lnSpc>
                <a:spcPct val="115000"/>
              </a:lnSpc>
              <a:spcBef>
                <a:spcPts val="0"/>
              </a:spcBef>
              <a:spcAft>
                <a:spcPts val="0"/>
              </a:spcAft>
              <a:buClr>
                <a:srgbClr val="424242"/>
              </a:buClr>
              <a:buSzPts val="1400"/>
              <a:buFont typeface="Inter"/>
              <a:buChar char="●"/>
            </a:pPr>
            <a:r>
              <a:rPr lang="en" sz="1400">
                <a:solidFill>
                  <a:srgbClr val="424242"/>
                </a:solidFill>
                <a:latin typeface="Inter"/>
                <a:ea typeface="Inter"/>
                <a:cs typeface="Inter"/>
                <a:sym typeface="Inter"/>
              </a:rPr>
              <a:t>How does the level of healthcare spending vary between states, and which states spend the most/least per person?</a:t>
            </a:r>
            <a:endParaRPr sz="1400">
              <a:solidFill>
                <a:srgbClr val="424242"/>
              </a:solidFill>
              <a:latin typeface="Inter"/>
              <a:ea typeface="Inter"/>
              <a:cs typeface="Inter"/>
              <a:sym typeface="Inter"/>
            </a:endParaRPr>
          </a:p>
          <a:p>
            <a:pPr indent="-317500" lvl="0" marL="457200" rtl="0" algn="l">
              <a:lnSpc>
                <a:spcPct val="115000"/>
              </a:lnSpc>
              <a:spcBef>
                <a:spcPts val="0"/>
              </a:spcBef>
              <a:spcAft>
                <a:spcPts val="0"/>
              </a:spcAft>
              <a:buClr>
                <a:srgbClr val="424242"/>
              </a:buClr>
              <a:buSzPts val="1400"/>
              <a:buFont typeface="Inter"/>
              <a:buChar char="●"/>
            </a:pPr>
            <a:r>
              <a:rPr lang="en" sz="1400">
                <a:solidFill>
                  <a:srgbClr val="424242"/>
                </a:solidFill>
                <a:latin typeface="Inter"/>
                <a:ea typeface="Inter"/>
                <a:cs typeface="Inter"/>
                <a:sym typeface="Inter"/>
              </a:rPr>
              <a:t>How does the average spending on healthcare-related products and services per person vary between states with different levels of corruption?</a:t>
            </a:r>
            <a:endParaRPr sz="1400">
              <a:solidFill>
                <a:srgbClr val="424242"/>
              </a:solidFill>
              <a:latin typeface="Inter"/>
              <a:ea typeface="Inter"/>
              <a:cs typeface="Inter"/>
              <a:sym typeface="Inter"/>
            </a:endParaRPr>
          </a:p>
        </p:txBody>
      </p:sp>
      <p:pic>
        <p:nvPicPr>
          <p:cNvPr id="66" name="Google Shape;66;p3"/>
          <p:cNvPicPr preferRelativeResize="0"/>
          <p:nvPr/>
        </p:nvPicPr>
        <p:blipFill rotWithShape="1">
          <a:blip r:embed="rId3">
            <a:alphaModFix/>
          </a:blip>
          <a:srcRect b="0" l="0" r="0" t="0"/>
          <a:stretch/>
        </p:blipFill>
        <p:spPr>
          <a:xfrm>
            <a:off x="458526" y="4459825"/>
            <a:ext cx="887050" cy="208450"/>
          </a:xfrm>
          <a:prstGeom prst="rect">
            <a:avLst/>
          </a:prstGeom>
          <a:noFill/>
          <a:ln>
            <a:noFill/>
          </a:ln>
        </p:spPr>
      </p:pic>
      <p:sp>
        <p:nvSpPr>
          <p:cNvPr id="67" name="Google Shape;67;p3"/>
          <p:cNvSpPr/>
          <p:nvPr/>
        </p:nvSpPr>
        <p:spPr>
          <a:xfrm>
            <a:off x="0" y="0"/>
            <a:ext cx="9144000" cy="295200"/>
          </a:xfrm>
          <a:prstGeom prst="rect">
            <a:avLst/>
          </a:prstGeom>
          <a:solidFill>
            <a:srgbClr val="DCF10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highlight>
                <a:srgbClr val="DCF10D"/>
              </a:highlight>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g2ced1532c44_0_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Clr>
                <a:schemeClr val="dk1"/>
              </a:buClr>
              <a:buSzPct val="39285"/>
              <a:buFont typeface="Arial"/>
              <a:buNone/>
            </a:pPr>
            <a:r>
              <a:rPr lang="en">
                <a:solidFill>
                  <a:srgbClr val="424242"/>
                </a:solidFill>
                <a:latin typeface="Inter SemiBold"/>
                <a:ea typeface="Inter SemiBold"/>
                <a:cs typeface="Inter SemiBold"/>
                <a:sym typeface="Inter SemiBold"/>
              </a:rPr>
              <a:t>Project description</a:t>
            </a:r>
            <a:endParaRPr>
              <a:solidFill>
                <a:srgbClr val="424242"/>
              </a:solidFill>
              <a:latin typeface="Inter SemiBold"/>
              <a:ea typeface="Inter SemiBold"/>
              <a:cs typeface="Inter SemiBold"/>
              <a:sym typeface="Inter SemiBold"/>
            </a:endParaRPr>
          </a:p>
          <a:p>
            <a:pPr indent="0" lvl="0" marL="0" rtl="0" algn="l">
              <a:lnSpc>
                <a:spcPct val="100000"/>
              </a:lnSpc>
              <a:spcBef>
                <a:spcPts val="0"/>
              </a:spcBef>
              <a:spcAft>
                <a:spcPts val="0"/>
              </a:spcAft>
              <a:buSzPct val="111111"/>
              <a:buNone/>
            </a:pPr>
            <a:r>
              <a:t/>
            </a:r>
            <a:endParaRPr/>
          </a:p>
        </p:txBody>
      </p:sp>
      <p:sp>
        <p:nvSpPr>
          <p:cNvPr id="73" name="Google Shape;73;g2ced1532c44_0_0"/>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800"/>
              <a:buNone/>
            </a:pPr>
            <a:r>
              <a:rPr lang="en" sz="1400">
                <a:solidFill>
                  <a:srgbClr val="424242"/>
                </a:solidFill>
                <a:latin typeface="Inter"/>
                <a:ea typeface="Inter"/>
                <a:cs typeface="Inter"/>
                <a:sym typeface="Inter"/>
              </a:rPr>
              <a:t>Description of Dataset</a:t>
            </a:r>
            <a:endParaRPr sz="1400">
              <a:solidFill>
                <a:srgbClr val="424242"/>
              </a:solidFill>
              <a:latin typeface="Inter"/>
              <a:ea typeface="Inter"/>
              <a:cs typeface="Inter"/>
              <a:sym typeface="Inter"/>
            </a:endParaRPr>
          </a:p>
          <a:p>
            <a:pPr indent="-317500" lvl="0" marL="457200" rtl="0" algn="l">
              <a:lnSpc>
                <a:spcPct val="115000"/>
              </a:lnSpc>
              <a:spcBef>
                <a:spcPts val="1200"/>
              </a:spcBef>
              <a:spcAft>
                <a:spcPts val="0"/>
              </a:spcAft>
              <a:buClr>
                <a:srgbClr val="424242"/>
              </a:buClr>
              <a:buSzPts val="1400"/>
              <a:buFont typeface="Inter"/>
              <a:buChar char="●"/>
            </a:pPr>
            <a:r>
              <a:rPr lang="en" sz="1400">
                <a:solidFill>
                  <a:srgbClr val="424242"/>
                </a:solidFill>
                <a:latin typeface="Inter"/>
                <a:ea typeface="Inter"/>
                <a:cs typeface="Inter"/>
                <a:sym typeface="Inter"/>
              </a:rPr>
              <a:t>Competitor companies’ profit and expenditures - This contains the total profit and the costs incurred for research and development, marketing, and administration per state and competitor.</a:t>
            </a:r>
            <a:endParaRPr sz="1400">
              <a:solidFill>
                <a:srgbClr val="424242"/>
              </a:solidFill>
              <a:latin typeface="Inter"/>
              <a:ea typeface="Inter"/>
              <a:cs typeface="Inter"/>
              <a:sym typeface="Inter"/>
            </a:endParaRPr>
          </a:p>
          <a:p>
            <a:pPr indent="-317500" lvl="0" marL="457200" rtl="0" algn="l">
              <a:lnSpc>
                <a:spcPct val="115000"/>
              </a:lnSpc>
              <a:spcBef>
                <a:spcPts val="0"/>
              </a:spcBef>
              <a:spcAft>
                <a:spcPts val="0"/>
              </a:spcAft>
              <a:buClr>
                <a:srgbClr val="424242"/>
              </a:buClr>
              <a:buSzPts val="1400"/>
              <a:buFont typeface="Inter"/>
              <a:buChar char="●"/>
            </a:pPr>
            <a:r>
              <a:rPr lang="en" sz="1400">
                <a:solidFill>
                  <a:srgbClr val="424242"/>
                </a:solidFill>
                <a:latin typeface="Inter"/>
                <a:ea typeface="Inter"/>
                <a:cs typeface="Inter"/>
                <a:sym typeface="Inter"/>
              </a:rPr>
              <a:t>Corruption conviction per capita - This is the number of convictions per population per state.</a:t>
            </a:r>
            <a:endParaRPr sz="1400">
              <a:solidFill>
                <a:srgbClr val="424242"/>
              </a:solidFill>
              <a:latin typeface="Inter"/>
              <a:ea typeface="Inter"/>
              <a:cs typeface="Inter"/>
              <a:sym typeface="Inter"/>
            </a:endParaRPr>
          </a:p>
          <a:p>
            <a:pPr indent="-317500" lvl="0" marL="457200" rtl="0" algn="l">
              <a:lnSpc>
                <a:spcPct val="115000"/>
              </a:lnSpc>
              <a:spcBef>
                <a:spcPts val="0"/>
              </a:spcBef>
              <a:spcAft>
                <a:spcPts val="0"/>
              </a:spcAft>
              <a:buClr>
                <a:srgbClr val="424242"/>
              </a:buClr>
              <a:buSzPts val="1400"/>
              <a:buFont typeface="Inter"/>
              <a:buChar char="●"/>
            </a:pPr>
            <a:r>
              <a:rPr lang="en" sz="1400">
                <a:solidFill>
                  <a:srgbClr val="424242"/>
                </a:solidFill>
                <a:latin typeface="Inter"/>
                <a:ea typeface="Inter"/>
                <a:cs typeface="Inter"/>
                <a:sym typeface="Inter"/>
              </a:rPr>
              <a:t>Health spending - The average, minimum, and maximum health spending per person per state.</a:t>
            </a:r>
            <a:endParaRPr sz="1400">
              <a:solidFill>
                <a:srgbClr val="424242"/>
              </a:solidFill>
              <a:latin typeface="Inter"/>
              <a:ea typeface="Inter"/>
              <a:cs typeface="Inter"/>
              <a:sym typeface="Inter"/>
            </a:endParaRPr>
          </a:p>
          <a:p>
            <a:pPr indent="-317500" lvl="0" marL="457200" rtl="0" algn="l">
              <a:lnSpc>
                <a:spcPct val="115000"/>
              </a:lnSpc>
              <a:spcBef>
                <a:spcPts val="0"/>
              </a:spcBef>
              <a:spcAft>
                <a:spcPts val="0"/>
              </a:spcAft>
              <a:buClr>
                <a:srgbClr val="424242"/>
              </a:buClr>
              <a:buSzPts val="1400"/>
              <a:buFont typeface="Inter"/>
              <a:buChar char="●"/>
            </a:pPr>
            <a:r>
              <a:rPr lang="en" sz="1400">
                <a:solidFill>
                  <a:srgbClr val="424242"/>
                </a:solidFill>
                <a:latin typeface="Inter"/>
                <a:ea typeface="Inter"/>
                <a:cs typeface="Inter"/>
                <a:sym typeface="Inter"/>
              </a:rPr>
              <a:t>Property prices - The average, minimum, and maximum property price per square meter per state.</a:t>
            </a:r>
            <a:endParaRPr sz="1400">
              <a:solidFill>
                <a:srgbClr val="424242"/>
              </a:solidFill>
              <a:latin typeface="Inter"/>
              <a:ea typeface="Inter"/>
              <a:cs typeface="Inter"/>
              <a:sym typeface="Inter"/>
            </a:endParaRPr>
          </a:p>
          <a:p>
            <a:pPr indent="-317500" lvl="0" marL="457200" rtl="0" algn="l">
              <a:lnSpc>
                <a:spcPct val="115000"/>
              </a:lnSpc>
              <a:spcBef>
                <a:spcPts val="0"/>
              </a:spcBef>
              <a:spcAft>
                <a:spcPts val="0"/>
              </a:spcAft>
              <a:buClr>
                <a:srgbClr val="424242"/>
              </a:buClr>
              <a:buSzPts val="1400"/>
              <a:buFont typeface="Inter"/>
              <a:buChar char="●"/>
            </a:pPr>
            <a:r>
              <a:rPr lang="en" sz="1400">
                <a:solidFill>
                  <a:srgbClr val="424242"/>
                </a:solidFill>
                <a:latin typeface="Inter"/>
                <a:ea typeface="Inter"/>
                <a:cs typeface="Inter"/>
                <a:sym typeface="Inter"/>
              </a:rPr>
              <a:t>State income - The average, minimum, and maximum income per state.</a:t>
            </a:r>
            <a:endParaRPr sz="1400">
              <a:solidFill>
                <a:srgbClr val="424242"/>
              </a:solidFill>
              <a:latin typeface="Inter"/>
              <a:ea typeface="Inter"/>
              <a:cs typeface="Inter"/>
              <a:sym typeface="Inter"/>
            </a:endParaRPr>
          </a:p>
          <a:p>
            <a:pPr indent="-317500" lvl="0" marL="457200" rtl="0" algn="l">
              <a:lnSpc>
                <a:spcPct val="115000"/>
              </a:lnSpc>
              <a:spcBef>
                <a:spcPts val="0"/>
              </a:spcBef>
              <a:spcAft>
                <a:spcPts val="0"/>
              </a:spcAft>
              <a:buClr>
                <a:srgbClr val="424242"/>
              </a:buClr>
              <a:buSzPts val="1400"/>
              <a:buFont typeface="Inter"/>
              <a:buChar char="●"/>
            </a:pPr>
            <a:r>
              <a:rPr lang="en" sz="1400">
                <a:solidFill>
                  <a:srgbClr val="424242"/>
                </a:solidFill>
                <a:latin typeface="Inter"/>
                <a:ea typeface="Inter"/>
                <a:cs typeface="Inter"/>
                <a:sym typeface="Inter"/>
              </a:rPr>
              <a:t>Population - The total population per state (this includes District of Columbia, which is not part of the other datasets and is hence excluded from the analysis).</a:t>
            </a:r>
            <a:endParaRPr sz="1400">
              <a:solidFill>
                <a:srgbClr val="424242"/>
              </a:solidFill>
              <a:latin typeface="Inter"/>
              <a:ea typeface="Inter"/>
              <a:cs typeface="Inter"/>
              <a:sym typeface="Inter"/>
            </a:endParaRPr>
          </a:p>
        </p:txBody>
      </p:sp>
      <p:pic>
        <p:nvPicPr>
          <p:cNvPr id="74" name="Google Shape;74;g2ced1532c44_0_0"/>
          <p:cNvPicPr preferRelativeResize="0"/>
          <p:nvPr/>
        </p:nvPicPr>
        <p:blipFill rotWithShape="1">
          <a:blip r:embed="rId3">
            <a:alphaModFix/>
          </a:blip>
          <a:srcRect b="0" l="0" r="0" t="0"/>
          <a:stretch/>
        </p:blipFill>
        <p:spPr>
          <a:xfrm>
            <a:off x="458526" y="4459825"/>
            <a:ext cx="887050" cy="208450"/>
          </a:xfrm>
          <a:prstGeom prst="rect">
            <a:avLst/>
          </a:prstGeom>
          <a:noFill/>
          <a:ln>
            <a:noFill/>
          </a:ln>
        </p:spPr>
      </p:pic>
      <p:sp>
        <p:nvSpPr>
          <p:cNvPr id="75" name="Google Shape;75;g2ced1532c44_0_0"/>
          <p:cNvSpPr/>
          <p:nvPr/>
        </p:nvSpPr>
        <p:spPr>
          <a:xfrm>
            <a:off x="0" y="0"/>
            <a:ext cx="9144000" cy="295200"/>
          </a:xfrm>
          <a:prstGeom prst="rect">
            <a:avLst/>
          </a:prstGeom>
          <a:solidFill>
            <a:srgbClr val="DCF10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highlight>
                <a:srgbClr val="DCF10D"/>
              </a:highlight>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sp>
        <p:nvSpPr>
          <p:cNvPr id="80" name="Google Shape;80;g2ced1532c44_0_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Clr>
                <a:schemeClr val="dk1"/>
              </a:buClr>
              <a:buSzPct val="39285"/>
              <a:buFont typeface="Arial"/>
              <a:buNone/>
            </a:pPr>
            <a:r>
              <a:rPr lang="en">
                <a:solidFill>
                  <a:srgbClr val="424242"/>
                </a:solidFill>
                <a:latin typeface="Inter SemiBold"/>
                <a:ea typeface="Inter SemiBold"/>
                <a:cs typeface="Inter SemiBold"/>
                <a:sym typeface="Inter SemiBold"/>
              </a:rPr>
              <a:t>Project description</a:t>
            </a:r>
            <a:endParaRPr>
              <a:solidFill>
                <a:srgbClr val="424242"/>
              </a:solidFill>
              <a:latin typeface="Inter SemiBold"/>
              <a:ea typeface="Inter SemiBold"/>
              <a:cs typeface="Inter SemiBold"/>
              <a:sym typeface="Inter SemiBold"/>
            </a:endParaRPr>
          </a:p>
          <a:p>
            <a:pPr indent="0" lvl="0" marL="0" rtl="0" algn="l">
              <a:lnSpc>
                <a:spcPct val="100000"/>
              </a:lnSpc>
              <a:spcBef>
                <a:spcPts val="0"/>
              </a:spcBef>
              <a:spcAft>
                <a:spcPts val="0"/>
              </a:spcAft>
              <a:buSzPct val="111111"/>
              <a:buNone/>
            </a:pPr>
            <a:r>
              <a:t/>
            </a:r>
            <a:endParaRPr/>
          </a:p>
        </p:txBody>
      </p:sp>
      <p:sp>
        <p:nvSpPr>
          <p:cNvPr id="81" name="Google Shape;81;g2ced1532c44_0_7"/>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800"/>
              <a:buNone/>
            </a:pPr>
            <a:r>
              <a:rPr lang="en" sz="1400">
                <a:solidFill>
                  <a:srgbClr val="424242"/>
                </a:solidFill>
                <a:latin typeface="Inter"/>
                <a:ea typeface="Inter"/>
                <a:cs typeface="Inter"/>
                <a:sym typeface="Inter"/>
              </a:rPr>
              <a:t>Steps in Analyzing the Data</a:t>
            </a:r>
            <a:endParaRPr sz="1400">
              <a:solidFill>
                <a:srgbClr val="424242"/>
              </a:solidFill>
              <a:latin typeface="Inter"/>
              <a:ea typeface="Inter"/>
              <a:cs typeface="Inter"/>
              <a:sym typeface="Inter"/>
            </a:endParaRPr>
          </a:p>
          <a:p>
            <a:pPr indent="-317500" lvl="0" marL="457200" rtl="0" algn="l">
              <a:lnSpc>
                <a:spcPct val="115000"/>
              </a:lnSpc>
              <a:spcBef>
                <a:spcPts val="1200"/>
              </a:spcBef>
              <a:spcAft>
                <a:spcPts val="0"/>
              </a:spcAft>
              <a:buClr>
                <a:srgbClr val="424242"/>
              </a:buClr>
              <a:buSzPts val="1400"/>
              <a:buFont typeface="Inter"/>
              <a:buChar char="●"/>
            </a:pPr>
            <a:r>
              <a:rPr lang="en" sz="1400">
                <a:solidFill>
                  <a:srgbClr val="424242"/>
                </a:solidFill>
                <a:latin typeface="Inter"/>
                <a:ea typeface="Inter"/>
                <a:cs typeface="Inter"/>
                <a:sym typeface="Inter"/>
              </a:rPr>
              <a:t>PostgreSQL</a:t>
            </a:r>
            <a:endParaRPr sz="1400">
              <a:solidFill>
                <a:srgbClr val="424242"/>
              </a:solidFill>
              <a:latin typeface="Inter"/>
              <a:ea typeface="Inter"/>
              <a:cs typeface="Inter"/>
              <a:sym typeface="Inter"/>
            </a:endParaRPr>
          </a:p>
          <a:p>
            <a:pPr indent="-317500" lvl="1" marL="914400" rtl="0" algn="l">
              <a:lnSpc>
                <a:spcPct val="115000"/>
              </a:lnSpc>
              <a:spcBef>
                <a:spcPts val="1200"/>
              </a:spcBef>
              <a:spcAft>
                <a:spcPts val="0"/>
              </a:spcAft>
              <a:buClr>
                <a:srgbClr val="424242"/>
              </a:buClr>
              <a:buSzPts val="1400"/>
              <a:buFont typeface="Inter"/>
              <a:buChar char="○"/>
            </a:pPr>
            <a:r>
              <a:rPr lang="en">
                <a:solidFill>
                  <a:srgbClr val="424242"/>
                </a:solidFill>
                <a:latin typeface="Inter"/>
                <a:ea typeface="Inter"/>
                <a:cs typeface="Inter"/>
                <a:sym typeface="Inter"/>
              </a:rPr>
              <a:t>Top 5 states with the highest and lowest total health spending (average health spending per person * total population).</a:t>
            </a:r>
            <a:endParaRPr>
              <a:solidFill>
                <a:srgbClr val="424242"/>
              </a:solidFill>
              <a:latin typeface="Inter"/>
              <a:ea typeface="Inter"/>
              <a:cs typeface="Inter"/>
              <a:sym typeface="Inter"/>
            </a:endParaRPr>
          </a:p>
          <a:p>
            <a:pPr indent="-317500" lvl="1" marL="914400" rtl="0" algn="l">
              <a:lnSpc>
                <a:spcPct val="115000"/>
              </a:lnSpc>
              <a:spcBef>
                <a:spcPts val="1200"/>
              </a:spcBef>
              <a:spcAft>
                <a:spcPts val="0"/>
              </a:spcAft>
              <a:buClr>
                <a:srgbClr val="424242"/>
              </a:buClr>
              <a:buSzPts val="1400"/>
              <a:buFont typeface="Inter"/>
              <a:buChar char="○"/>
            </a:pPr>
            <a:r>
              <a:rPr lang="en">
                <a:solidFill>
                  <a:srgbClr val="424242"/>
                </a:solidFill>
                <a:latin typeface="Inter"/>
                <a:ea typeface="Inter"/>
                <a:cs typeface="Inter"/>
                <a:sym typeface="Inter"/>
              </a:rPr>
              <a:t>Join competitor dataset with the health spending dataset to see if there is any correlation between health spending per state and profit.</a:t>
            </a:r>
            <a:endParaRPr>
              <a:solidFill>
                <a:srgbClr val="424242"/>
              </a:solidFill>
              <a:latin typeface="Inter"/>
              <a:ea typeface="Inter"/>
              <a:cs typeface="Inter"/>
              <a:sym typeface="Inter"/>
            </a:endParaRPr>
          </a:p>
          <a:p>
            <a:pPr indent="-317500" lvl="1" marL="914400" rtl="0" algn="l">
              <a:lnSpc>
                <a:spcPct val="115000"/>
              </a:lnSpc>
              <a:spcBef>
                <a:spcPts val="1200"/>
              </a:spcBef>
              <a:spcAft>
                <a:spcPts val="0"/>
              </a:spcAft>
              <a:buClr>
                <a:srgbClr val="424242"/>
              </a:buClr>
              <a:buSzPts val="1400"/>
              <a:buFont typeface="Inter"/>
              <a:buChar char="○"/>
            </a:pPr>
            <a:r>
              <a:rPr lang="en">
                <a:solidFill>
                  <a:srgbClr val="424242"/>
                </a:solidFill>
                <a:latin typeface="Inter"/>
                <a:ea typeface="Inter"/>
                <a:cs typeface="Inter"/>
                <a:sym typeface="Inter"/>
              </a:rPr>
              <a:t>Also used for joining health spending with population dataset, and for joining property price with average competitor profit for analysis via Excel, Power BI, and Python.</a:t>
            </a:r>
            <a:endParaRPr>
              <a:solidFill>
                <a:srgbClr val="424242"/>
              </a:solidFill>
              <a:latin typeface="Inter"/>
              <a:ea typeface="Inter"/>
              <a:cs typeface="Inter"/>
              <a:sym typeface="Inter"/>
            </a:endParaRPr>
          </a:p>
        </p:txBody>
      </p:sp>
      <p:pic>
        <p:nvPicPr>
          <p:cNvPr id="82" name="Google Shape;82;g2ced1532c44_0_7"/>
          <p:cNvPicPr preferRelativeResize="0"/>
          <p:nvPr/>
        </p:nvPicPr>
        <p:blipFill rotWithShape="1">
          <a:blip r:embed="rId3">
            <a:alphaModFix/>
          </a:blip>
          <a:srcRect b="0" l="0" r="0" t="0"/>
          <a:stretch/>
        </p:blipFill>
        <p:spPr>
          <a:xfrm>
            <a:off x="458526" y="4459825"/>
            <a:ext cx="887050" cy="208450"/>
          </a:xfrm>
          <a:prstGeom prst="rect">
            <a:avLst/>
          </a:prstGeom>
          <a:noFill/>
          <a:ln>
            <a:noFill/>
          </a:ln>
        </p:spPr>
      </p:pic>
      <p:sp>
        <p:nvSpPr>
          <p:cNvPr id="83" name="Google Shape;83;g2ced1532c44_0_7"/>
          <p:cNvSpPr/>
          <p:nvPr/>
        </p:nvSpPr>
        <p:spPr>
          <a:xfrm>
            <a:off x="0" y="0"/>
            <a:ext cx="9144000" cy="295200"/>
          </a:xfrm>
          <a:prstGeom prst="rect">
            <a:avLst/>
          </a:prstGeom>
          <a:solidFill>
            <a:srgbClr val="DCF10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highlight>
                <a:srgbClr val="DCF10D"/>
              </a:highlight>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g26f55e7bfc3_0_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Clr>
                <a:schemeClr val="dk1"/>
              </a:buClr>
              <a:buSzPct val="39285"/>
              <a:buFont typeface="Arial"/>
              <a:buNone/>
            </a:pPr>
            <a:r>
              <a:rPr lang="en">
                <a:solidFill>
                  <a:srgbClr val="424242"/>
                </a:solidFill>
                <a:latin typeface="Inter SemiBold"/>
                <a:ea typeface="Inter SemiBold"/>
                <a:cs typeface="Inter SemiBold"/>
                <a:sym typeface="Inter SemiBold"/>
              </a:rPr>
              <a:t>Project description</a:t>
            </a:r>
            <a:endParaRPr>
              <a:solidFill>
                <a:srgbClr val="424242"/>
              </a:solidFill>
              <a:latin typeface="Inter SemiBold"/>
              <a:ea typeface="Inter SemiBold"/>
              <a:cs typeface="Inter SemiBold"/>
              <a:sym typeface="Inter SemiBold"/>
            </a:endParaRPr>
          </a:p>
          <a:p>
            <a:pPr indent="0" lvl="0" marL="0" rtl="0" algn="l">
              <a:lnSpc>
                <a:spcPct val="100000"/>
              </a:lnSpc>
              <a:spcBef>
                <a:spcPts val="0"/>
              </a:spcBef>
              <a:spcAft>
                <a:spcPts val="0"/>
              </a:spcAft>
              <a:buSzPct val="111111"/>
              <a:buNone/>
            </a:pPr>
            <a:r>
              <a:t/>
            </a:r>
            <a:endParaRPr/>
          </a:p>
        </p:txBody>
      </p:sp>
      <p:sp>
        <p:nvSpPr>
          <p:cNvPr id="89" name="Google Shape;89;g26f55e7bfc3_0_0"/>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800"/>
              <a:buNone/>
            </a:pPr>
            <a:r>
              <a:rPr lang="en" sz="1400">
                <a:solidFill>
                  <a:srgbClr val="424242"/>
                </a:solidFill>
                <a:latin typeface="Inter"/>
                <a:ea typeface="Inter"/>
                <a:cs typeface="Inter"/>
                <a:sym typeface="Inter"/>
              </a:rPr>
              <a:t>Steps in Analyzing the Data</a:t>
            </a:r>
            <a:endParaRPr sz="1400">
              <a:solidFill>
                <a:srgbClr val="424242"/>
              </a:solidFill>
              <a:latin typeface="Inter"/>
              <a:ea typeface="Inter"/>
              <a:cs typeface="Inter"/>
              <a:sym typeface="Inter"/>
            </a:endParaRPr>
          </a:p>
          <a:p>
            <a:pPr indent="-317500" lvl="0" marL="457200" rtl="0" algn="l">
              <a:lnSpc>
                <a:spcPct val="115000"/>
              </a:lnSpc>
              <a:spcBef>
                <a:spcPts val="1200"/>
              </a:spcBef>
              <a:spcAft>
                <a:spcPts val="0"/>
              </a:spcAft>
              <a:buClr>
                <a:srgbClr val="424242"/>
              </a:buClr>
              <a:buSzPts val="1400"/>
              <a:buFont typeface="Inter"/>
              <a:buChar char="●"/>
            </a:pPr>
            <a:r>
              <a:rPr lang="en" sz="1400">
                <a:solidFill>
                  <a:srgbClr val="424242"/>
                </a:solidFill>
                <a:latin typeface="Inter"/>
                <a:ea typeface="Inter"/>
                <a:cs typeface="Inter"/>
                <a:sym typeface="Inter"/>
              </a:rPr>
              <a:t>Excel</a:t>
            </a:r>
            <a:endParaRPr sz="1400">
              <a:solidFill>
                <a:srgbClr val="424242"/>
              </a:solidFill>
              <a:latin typeface="Inter"/>
              <a:ea typeface="Inter"/>
              <a:cs typeface="Inter"/>
              <a:sym typeface="Inter"/>
            </a:endParaRPr>
          </a:p>
          <a:p>
            <a:pPr indent="-317500" lvl="1" marL="914400" rtl="0" algn="l">
              <a:lnSpc>
                <a:spcPct val="115000"/>
              </a:lnSpc>
              <a:spcBef>
                <a:spcPts val="1200"/>
              </a:spcBef>
              <a:spcAft>
                <a:spcPts val="0"/>
              </a:spcAft>
              <a:buClr>
                <a:srgbClr val="424242"/>
              </a:buClr>
              <a:buSzPts val="1400"/>
              <a:buFont typeface="Inter"/>
              <a:buChar char="○"/>
            </a:pPr>
            <a:r>
              <a:rPr lang="en">
                <a:solidFill>
                  <a:srgbClr val="424242"/>
                </a:solidFill>
                <a:latin typeface="Inter"/>
                <a:ea typeface="Inter"/>
                <a:cs typeface="Inter"/>
                <a:sym typeface="Inter"/>
              </a:rPr>
              <a:t>Created a pivot table to show the total health spending per state (average health spending per person * total population)</a:t>
            </a:r>
            <a:endParaRPr>
              <a:solidFill>
                <a:srgbClr val="424242"/>
              </a:solidFill>
              <a:latin typeface="Inter"/>
              <a:ea typeface="Inter"/>
              <a:cs typeface="Inter"/>
              <a:sym typeface="Inter"/>
            </a:endParaRPr>
          </a:p>
          <a:p>
            <a:pPr indent="-317500" lvl="1" marL="914400" rtl="0" algn="l">
              <a:lnSpc>
                <a:spcPct val="115000"/>
              </a:lnSpc>
              <a:spcBef>
                <a:spcPts val="1200"/>
              </a:spcBef>
              <a:spcAft>
                <a:spcPts val="0"/>
              </a:spcAft>
              <a:buClr>
                <a:srgbClr val="424242"/>
              </a:buClr>
              <a:buSzPts val="1400"/>
              <a:buFont typeface="Inter"/>
              <a:buChar char="○"/>
            </a:pPr>
            <a:r>
              <a:rPr lang="en">
                <a:solidFill>
                  <a:srgbClr val="424242"/>
                </a:solidFill>
                <a:latin typeface="Inter"/>
                <a:ea typeface="Inter"/>
                <a:cs typeface="Inter"/>
                <a:sym typeface="Inter"/>
              </a:rPr>
              <a:t>Used conditional formatting to highlight the top 5 states with the highest health spending per person.</a:t>
            </a:r>
            <a:endParaRPr>
              <a:solidFill>
                <a:srgbClr val="424242"/>
              </a:solidFill>
              <a:latin typeface="Inter"/>
              <a:ea typeface="Inter"/>
              <a:cs typeface="Inter"/>
              <a:sym typeface="Inter"/>
            </a:endParaRPr>
          </a:p>
          <a:p>
            <a:pPr indent="-317500" lvl="1" marL="914400" rtl="0" algn="l">
              <a:lnSpc>
                <a:spcPct val="115000"/>
              </a:lnSpc>
              <a:spcBef>
                <a:spcPts val="1200"/>
              </a:spcBef>
              <a:spcAft>
                <a:spcPts val="0"/>
              </a:spcAft>
              <a:buClr>
                <a:srgbClr val="424242"/>
              </a:buClr>
              <a:buSzPts val="1400"/>
              <a:buFont typeface="Inter"/>
              <a:buChar char="○"/>
            </a:pPr>
            <a:r>
              <a:rPr lang="en">
                <a:solidFill>
                  <a:srgbClr val="424242"/>
                </a:solidFill>
                <a:latin typeface="Inter"/>
                <a:ea typeface="Inter"/>
                <a:cs typeface="Inter"/>
                <a:sym typeface="Inter"/>
              </a:rPr>
              <a:t>Created a scatter plot to visualize the correlation between property prices and company profit.</a:t>
            </a:r>
            <a:endParaRPr>
              <a:solidFill>
                <a:srgbClr val="424242"/>
              </a:solidFill>
              <a:latin typeface="Inter"/>
              <a:ea typeface="Inter"/>
              <a:cs typeface="Inter"/>
              <a:sym typeface="Inter"/>
            </a:endParaRPr>
          </a:p>
          <a:p>
            <a:pPr indent="-317500" lvl="1" marL="914400" rtl="0" algn="l">
              <a:lnSpc>
                <a:spcPct val="115000"/>
              </a:lnSpc>
              <a:spcBef>
                <a:spcPts val="1200"/>
              </a:spcBef>
              <a:spcAft>
                <a:spcPts val="0"/>
              </a:spcAft>
              <a:buClr>
                <a:srgbClr val="424242"/>
              </a:buClr>
              <a:buSzPts val="1400"/>
              <a:buFont typeface="Inter"/>
              <a:buChar char="○"/>
            </a:pPr>
            <a:r>
              <a:rPr lang="en">
                <a:solidFill>
                  <a:srgbClr val="424242"/>
                </a:solidFill>
                <a:latin typeface="Inter"/>
                <a:ea typeface="Inter"/>
                <a:cs typeface="Inter"/>
                <a:sym typeface="Inter"/>
              </a:rPr>
              <a:t>Created a scatter plot to show the correlation between health spending per person and state income.</a:t>
            </a:r>
            <a:endParaRPr>
              <a:solidFill>
                <a:srgbClr val="424242"/>
              </a:solidFill>
              <a:latin typeface="Inter"/>
              <a:ea typeface="Inter"/>
              <a:cs typeface="Inter"/>
              <a:sym typeface="Inter"/>
            </a:endParaRPr>
          </a:p>
        </p:txBody>
      </p:sp>
      <p:pic>
        <p:nvPicPr>
          <p:cNvPr id="90" name="Google Shape;90;g26f55e7bfc3_0_0"/>
          <p:cNvPicPr preferRelativeResize="0"/>
          <p:nvPr/>
        </p:nvPicPr>
        <p:blipFill rotWithShape="1">
          <a:blip r:embed="rId3">
            <a:alphaModFix/>
          </a:blip>
          <a:srcRect b="0" l="0" r="0" t="0"/>
          <a:stretch/>
        </p:blipFill>
        <p:spPr>
          <a:xfrm>
            <a:off x="458526" y="4459825"/>
            <a:ext cx="887050" cy="208450"/>
          </a:xfrm>
          <a:prstGeom prst="rect">
            <a:avLst/>
          </a:prstGeom>
          <a:noFill/>
          <a:ln>
            <a:noFill/>
          </a:ln>
        </p:spPr>
      </p:pic>
      <p:sp>
        <p:nvSpPr>
          <p:cNvPr id="91" name="Google Shape;91;g26f55e7bfc3_0_0"/>
          <p:cNvSpPr/>
          <p:nvPr/>
        </p:nvSpPr>
        <p:spPr>
          <a:xfrm>
            <a:off x="0" y="0"/>
            <a:ext cx="9144000" cy="295200"/>
          </a:xfrm>
          <a:prstGeom prst="rect">
            <a:avLst/>
          </a:prstGeom>
          <a:solidFill>
            <a:srgbClr val="DCF10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highlight>
                <a:srgbClr val="DCF10D"/>
              </a:highlight>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g26f55e7bfc3_0_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Clr>
                <a:schemeClr val="dk1"/>
              </a:buClr>
              <a:buSzPct val="39285"/>
              <a:buFont typeface="Arial"/>
              <a:buNone/>
            </a:pPr>
            <a:r>
              <a:rPr lang="en">
                <a:solidFill>
                  <a:srgbClr val="424242"/>
                </a:solidFill>
                <a:latin typeface="Inter SemiBold"/>
                <a:ea typeface="Inter SemiBold"/>
                <a:cs typeface="Inter SemiBold"/>
                <a:sym typeface="Inter SemiBold"/>
              </a:rPr>
              <a:t>Project description</a:t>
            </a:r>
            <a:endParaRPr>
              <a:solidFill>
                <a:srgbClr val="424242"/>
              </a:solidFill>
              <a:latin typeface="Inter SemiBold"/>
              <a:ea typeface="Inter SemiBold"/>
              <a:cs typeface="Inter SemiBold"/>
              <a:sym typeface="Inter SemiBold"/>
            </a:endParaRPr>
          </a:p>
          <a:p>
            <a:pPr indent="0" lvl="0" marL="0" rtl="0" algn="l">
              <a:lnSpc>
                <a:spcPct val="100000"/>
              </a:lnSpc>
              <a:spcBef>
                <a:spcPts val="0"/>
              </a:spcBef>
              <a:spcAft>
                <a:spcPts val="0"/>
              </a:spcAft>
              <a:buSzPct val="111111"/>
              <a:buNone/>
            </a:pPr>
            <a:r>
              <a:t/>
            </a:r>
            <a:endParaRPr/>
          </a:p>
        </p:txBody>
      </p:sp>
      <p:sp>
        <p:nvSpPr>
          <p:cNvPr id="97" name="Google Shape;97;g26f55e7bfc3_0_7"/>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800"/>
              <a:buNone/>
            </a:pPr>
            <a:r>
              <a:rPr lang="en" sz="1400">
                <a:solidFill>
                  <a:srgbClr val="424242"/>
                </a:solidFill>
                <a:latin typeface="Inter"/>
                <a:ea typeface="Inter"/>
                <a:cs typeface="Inter"/>
                <a:sym typeface="Inter"/>
              </a:rPr>
              <a:t>Steps in Analyzing the Data</a:t>
            </a:r>
            <a:endParaRPr sz="1400">
              <a:solidFill>
                <a:srgbClr val="424242"/>
              </a:solidFill>
              <a:latin typeface="Inter"/>
              <a:ea typeface="Inter"/>
              <a:cs typeface="Inter"/>
              <a:sym typeface="Inter"/>
            </a:endParaRPr>
          </a:p>
          <a:p>
            <a:pPr indent="-317500" lvl="0" marL="457200" rtl="0" algn="l">
              <a:lnSpc>
                <a:spcPct val="115000"/>
              </a:lnSpc>
              <a:spcBef>
                <a:spcPts val="1200"/>
              </a:spcBef>
              <a:spcAft>
                <a:spcPts val="0"/>
              </a:spcAft>
              <a:buClr>
                <a:srgbClr val="424242"/>
              </a:buClr>
              <a:buSzPts val="1400"/>
              <a:buFont typeface="Inter"/>
              <a:buChar char="●"/>
            </a:pPr>
            <a:r>
              <a:rPr lang="en" sz="1400">
                <a:solidFill>
                  <a:srgbClr val="424242"/>
                </a:solidFill>
                <a:latin typeface="Inter"/>
                <a:ea typeface="Inter"/>
                <a:cs typeface="Inter"/>
                <a:sym typeface="Inter"/>
              </a:rPr>
              <a:t>Power BI</a:t>
            </a:r>
            <a:endParaRPr sz="1400">
              <a:solidFill>
                <a:srgbClr val="424242"/>
              </a:solidFill>
              <a:latin typeface="Inter"/>
              <a:ea typeface="Inter"/>
              <a:cs typeface="Inter"/>
              <a:sym typeface="Inter"/>
            </a:endParaRPr>
          </a:p>
          <a:p>
            <a:pPr indent="-317500" lvl="1" marL="914400" rtl="0" algn="l">
              <a:lnSpc>
                <a:spcPct val="115000"/>
              </a:lnSpc>
              <a:spcBef>
                <a:spcPts val="1200"/>
              </a:spcBef>
              <a:spcAft>
                <a:spcPts val="0"/>
              </a:spcAft>
              <a:buClr>
                <a:srgbClr val="424242"/>
              </a:buClr>
              <a:buSzPts val="1400"/>
              <a:buFont typeface="Inter"/>
              <a:buChar char="○"/>
            </a:pPr>
            <a:r>
              <a:rPr lang="en">
                <a:solidFill>
                  <a:srgbClr val="424242"/>
                </a:solidFill>
                <a:latin typeface="Inter"/>
                <a:ea typeface="Inter"/>
                <a:cs typeface="Inter"/>
                <a:sym typeface="Inter"/>
              </a:rPr>
              <a:t>Created a bar chart to show the health spending per state.</a:t>
            </a:r>
            <a:endParaRPr>
              <a:solidFill>
                <a:srgbClr val="424242"/>
              </a:solidFill>
              <a:latin typeface="Inter"/>
              <a:ea typeface="Inter"/>
              <a:cs typeface="Inter"/>
              <a:sym typeface="Inter"/>
            </a:endParaRPr>
          </a:p>
          <a:p>
            <a:pPr indent="-317500" lvl="1" marL="914400" rtl="0" algn="l">
              <a:lnSpc>
                <a:spcPct val="115000"/>
              </a:lnSpc>
              <a:spcBef>
                <a:spcPts val="1200"/>
              </a:spcBef>
              <a:spcAft>
                <a:spcPts val="0"/>
              </a:spcAft>
              <a:buClr>
                <a:srgbClr val="424242"/>
              </a:buClr>
              <a:buSzPts val="1400"/>
              <a:buFont typeface="Inter"/>
              <a:buChar char="○"/>
            </a:pPr>
            <a:r>
              <a:rPr lang="en">
                <a:solidFill>
                  <a:srgbClr val="424242"/>
                </a:solidFill>
                <a:latin typeface="Inter"/>
                <a:ea typeface="Inter"/>
                <a:cs typeface="Inter"/>
                <a:sym typeface="Inter"/>
              </a:rPr>
              <a:t>Used a map visualization to highlight the top 10 states with the highest health spending per person.</a:t>
            </a:r>
            <a:endParaRPr>
              <a:solidFill>
                <a:srgbClr val="424242"/>
              </a:solidFill>
              <a:latin typeface="Inter"/>
              <a:ea typeface="Inter"/>
              <a:cs typeface="Inter"/>
              <a:sym typeface="Inter"/>
            </a:endParaRPr>
          </a:p>
          <a:p>
            <a:pPr indent="-317500" lvl="1" marL="914400" rtl="0" algn="l">
              <a:lnSpc>
                <a:spcPct val="115000"/>
              </a:lnSpc>
              <a:spcBef>
                <a:spcPts val="1200"/>
              </a:spcBef>
              <a:spcAft>
                <a:spcPts val="0"/>
              </a:spcAft>
              <a:buClr>
                <a:srgbClr val="424242"/>
              </a:buClr>
              <a:buSzPts val="1400"/>
              <a:buFont typeface="Inter"/>
              <a:buChar char="○"/>
            </a:pPr>
            <a:r>
              <a:rPr lang="en">
                <a:solidFill>
                  <a:srgbClr val="424242"/>
                </a:solidFill>
                <a:latin typeface="Inter"/>
                <a:ea typeface="Inter"/>
                <a:cs typeface="Inter"/>
                <a:sym typeface="Inter"/>
              </a:rPr>
              <a:t>Created a correlation matrix to see if there is any correlation between property prices and profit.</a:t>
            </a:r>
            <a:endParaRPr>
              <a:solidFill>
                <a:srgbClr val="424242"/>
              </a:solidFill>
              <a:latin typeface="Inter"/>
              <a:ea typeface="Inter"/>
              <a:cs typeface="Inter"/>
              <a:sym typeface="Inter"/>
            </a:endParaRPr>
          </a:p>
          <a:p>
            <a:pPr indent="-317500" lvl="1" marL="914400" rtl="0" algn="l">
              <a:lnSpc>
                <a:spcPct val="115000"/>
              </a:lnSpc>
              <a:spcBef>
                <a:spcPts val="1200"/>
              </a:spcBef>
              <a:spcAft>
                <a:spcPts val="0"/>
              </a:spcAft>
              <a:buClr>
                <a:srgbClr val="424242"/>
              </a:buClr>
              <a:buSzPts val="1400"/>
              <a:buFont typeface="Inter"/>
              <a:buChar char="○"/>
            </a:pPr>
            <a:r>
              <a:rPr lang="en">
                <a:solidFill>
                  <a:srgbClr val="424242"/>
                </a:solidFill>
                <a:latin typeface="Inter"/>
                <a:ea typeface="Inter"/>
                <a:cs typeface="Inter"/>
                <a:sym typeface="Inter"/>
              </a:rPr>
              <a:t>Calculated Financial Viability Metrics from Competitor Companies, including Average Total Revenue, Average Total Cost, Average Total Profit, Average Net Profit Margin, and Average Breakdown of Costs.</a:t>
            </a:r>
            <a:endParaRPr>
              <a:solidFill>
                <a:srgbClr val="424242"/>
              </a:solidFill>
              <a:latin typeface="Inter"/>
              <a:ea typeface="Inter"/>
              <a:cs typeface="Inter"/>
              <a:sym typeface="Inter"/>
            </a:endParaRPr>
          </a:p>
        </p:txBody>
      </p:sp>
      <p:pic>
        <p:nvPicPr>
          <p:cNvPr id="98" name="Google Shape;98;g26f55e7bfc3_0_7"/>
          <p:cNvPicPr preferRelativeResize="0"/>
          <p:nvPr/>
        </p:nvPicPr>
        <p:blipFill rotWithShape="1">
          <a:blip r:embed="rId3">
            <a:alphaModFix/>
          </a:blip>
          <a:srcRect b="0" l="0" r="0" t="0"/>
          <a:stretch/>
        </p:blipFill>
        <p:spPr>
          <a:xfrm>
            <a:off x="458526" y="4459825"/>
            <a:ext cx="887050" cy="208450"/>
          </a:xfrm>
          <a:prstGeom prst="rect">
            <a:avLst/>
          </a:prstGeom>
          <a:noFill/>
          <a:ln>
            <a:noFill/>
          </a:ln>
        </p:spPr>
      </p:pic>
      <p:sp>
        <p:nvSpPr>
          <p:cNvPr id="99" name="Google Shape;99;g26f55e7bfc3_0_7"/>
          <p:cNvSpPr/>
          <p:nvPr/>
        </p:nvSpPr>
        <p:spPr>
          <a:xfrm>
            <a:off x="0" y="0"/>
            <a:ext cx="9144000" cy="295200"/>
          </a:xfrm>
          <a:prstGeom prst="rect">
            <a:avLst/>
          </a:prstGeom>
          <a:solidFill>
            <a:srgbClr val="DCF10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highlight>
                <a:srgbClr val="DCF10D"/>
              </a:highlight>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g26f55e7bfc3_0_1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Clr>
                <a:schemeClr val="dk1"/>
              </a:buClr>
              <a:buSzPct val="39285"/>
              <a:buFont typeface="Arial"/>
              <a:buNone/>
            </a:pPr>
            <a:r>
              <a:rPr lang="en">
                <a:solidFill>
                  <a:srgbClr val="424242"/>
                </a:solidFill>
                <a:latin typeface="Inter SemiBold"/>
                <a:ea typeface="Inter SemiBold"/>
                <a:cs typeface="Inter SemiBold"/>
                <a:sym typeface="Inter SemiBold"/>
              </a:rPr>
              <a:t>Project description</a:t>
            </a:r>
            <a:endParaRPr>
              <a:solidFill>
                <a:srgbClr val="424242"/>
              </a:solidFill>
              <a:latin typeface="Inter SemiBold"/>
              <a:ea typeface="Inter SemiBold"/>
              <a:cs typeface="Inter SemiBold"/>
              <a:sym typeface="Inter SemiBold"/>
            </a:endParaRPr>
          </a:p>
          <a:p>
            <a:pPr indent="0" lvl="0" marL="0" rtl="0" algn="l">
              <a:lnSpc>
                <a:spcPct val="100000"/>
              </a:lnSpc>
              <a:spcBef>
                <a:spcPts val="0"/>
              </a:spcBef>
              <a:spcAft>
                <a:spcPts val="0"/>
              </a:spcAft>
              <a:buSzPct val="111111"/>
              <a:buNone/>
            </a:pPr>
            <a:r>
              <a:t/>
            </a:r>
            <a:endParaRPr/>
          </a:p>
        </p:txBody>
      </p:sp>
      <p:sp>
        <p:nvSpPr>
          <p:cNvPr id="105" name="Google Shape;105;g26f55e7bfc3_0_14"/>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lnSpcReduction="10000"/>
          </a:bodyPr>
          <a:lstStyle/>
          <a:p>
            <a:pPr indent="0" lvl="0" marL="0" rtl="0" algn="l">
              <a:lnSpc>
                <a:spcPct val="115000"/>
              </a:lnSpc>
              <a:spcBef>
                <a:spcPts val="0"/>
              </a:spcBef>
              <a:spcAft>
                <a:spcPts val="0"/>
              </a:spcAft>
              <a:buSzPts val="1800"/>
              <a:buNone/>
            </a:pPr>
            <a:r>
              <a:rPr lang="en" sz="1400">
                <a:solidFill>
                  <a:srgbClr val="424242"/>
                </a:solidFill>
                <a:latin typeface="Inter"/>
                <a:ea typeface="Inter"/>
                <a:cs typeface="Inter"/>
                <a:sym typeface="Inter"/>
              </a:rPr>
              <a:t>Steps in Analyzing the Data</a:t>
            </a:r>
            <a:endParaRPr sz="1400">
              <a:solidFill>
                <a:srgbClr val="424242"/>
              </a:solidFill>
              <a:latin typeface="Inter"/>
              <a:ea typeface="Inter"/>
              <a:cs typeface="Inter"/>
              <a:sym typeface="Inter"/>
            </a:endParaRPr>
          </a:p>
          <a:p>
            <a:pPr indent="-317500" lvl="0" marL="457200" rtl="0" algn="l">
              <a:lnSpc>
                <a:spcPct val="115000"/>
              </a:lnSpc>
              <a:spcBef>
                <a:spcPts val="1200"/>
              </a:spcBef>
              <a:spcAft>
                <a:spcPts val="0"/>
              </a:spcAft>
              <a:buClr>
                <a:srgbClr val="424242"/>
              </a:buClr>
              <a:buSzPts val="1400"/>
              <a:buFont typeface="Inter"/>
              <a:buChar char="●"/>
            </a:pPr>
            <a:r>
              <a:rPr lang="en" sz="1400">
                <a:solidFill>
                  <a:srgbClr val="424242"/>
                </a:solidFill>
                <a:latin typeface="Inter"/>
                <a:ea typeface="Inter"/>
                <a:cs typeface="Inter"/>
                <a:sym typeface="Inter"/>
              </a:rPr>
              <a:t>Python</a:t>
            </a:r>
            <a:endParaRPr sz="1400">
              <a:solidFill>
                <a:srgbClr val="424242"/>
              </a:solidFill>
              <a:latin typeface="Inter"/>
              <a:ea typeface="Inter"/>
              <a:cs typeface="Inter"/>
              <a:sym typeface="Inter"/>
            </a:endParaRPr>
          </a:p>
          <a:p>
            <a:pPr indent="-317500" lvl="1" marL="914400" rtl="0" algn="l">
              <a:lnSpc>
                <a:spcPct val="115000"/>
              </a:lnSpc>
              <a:spcBef>
                <a:spcPts val="1200"/>
              </a:spcBef>
              <a:spcAft>
                <a:spcPts val="0"/>
              </a:spcAft>
              <a:buClr>
                <a:srgbClr val="424242"/>
              </a:buClr>
              <a:buSzPts val="1400"/>
              <a:buFont typeface="Inter"/>
              <a:buChar char="○"/>
            </a:pPr>
            <a:r>
              <a:rPr lang="en">
                <a:solidFill>
                  <a:srgbClr val="424242"/>
                </a:solidFill>
                <a:latin typeface="Inter"/>
                <a:ea typeface="Inter"/>
                <a:cs typeface="Inter"/>
                <a:sym typeface="Inter"/>
              </a:rPr>
              <a:t>Used Pandas to find the top 5 states with the highest health spending per person.</a:t>
            </a:r>
            <a:endParaRPr>
              <a:solidFill>
                <a:srgbClr val="424242"/>
              </a:solidFill>
              <a:latin typeface="Inter"/>
              <a:ea typeface="Inter"/>
              <a:cs typeface="Inter"/>
              <a:sym typeface="Inter"/>
            </a:endParaRPr>
          </a:p>
          <a:p>
            <a:pPr indent="-317500" lvl="1" marL="914400" rtl="0" algn="l">
              <a:lnSpc>
                <a:spcPct val="115000"/>
              </a:lnSpc>
              <a:spcBef>
                <a:spcPts val="1200"/>
              </a:spcBef>
              <a:spcAft>
                <a:spcPts val="0"/>
              </a:spcAft>
              <a:buClr>
                <a:srgbClr val="424242"/>
              </a:buClr>
              <a:buSzPts val="1400"/>
              <a:buFont typeface="Inter"/>
              <a:buChar char="○"/>
            </a:pPr>
            <a:r>
              <a:rPr lang="en">
                <a:solidFill>
                  <a:srgbClr val="424242"/>
                </a:solidFill>
                <a:latin typeface="Inter"/>
                <a:ea typeface="Inter"/>
                <a:cs typeface="Inter"/>
                <a:sym typeface="Inter"/>
              </a:rPr>
              <a:t>Used Matplotlib and/or Seaborn to create a bar chart to show the health spending per state.</a:t>
            </a:r>
            <a:endParaRPr>
              <a:solidFill>
                <a:srgbClr val="424242"/>
              </a:solidFill>
              <a:latin typeface="Inter"/>
              <a:ea typeface="Inter"/>
              <a:cs typeface="Inter"/>
              <a:sym typeface="Inter"/>
            </a:endParaRPr>
          </a:p>
          <a:p>
            <a:pPr indent="-317500" lvl="1" marL="914400" rtl="0" algn="l">
              <a:lnSpc>
                <a:spcPct val="115000"/>
              </a:lnSpc>
              <a:spcBef>
                <a:spcPts val="1200"/>
              </a:spcBef>
              <a:spcAft>
                <a:spcPts val="0"/>
              </a:spcAft>
              <a:buClr>
                <a:srgbClr val="424242"/>
              </a:buClr>
              <a:buSzPts val="1400"/>
              <a:buFont typeface="Inter"/>
              <a:buChar char="○"/>
            </a:pPr>
            <a:r>
              <a:rPr lang="en">
                <a:solidFill>
                  <a:srgbClr val="424242"/>
                </a:solidFill>
                <a:latin typeface="Inter"/>
                <a:ea typeface="Inter"/>
                <a:cs typeface="Inter"/>
                <a:sym typeface="Inter"/>
              </a:rPr>
              <a:t>Used Matplotlib and/or Seaborn to create a scatter plot to visualize the correlation between property prices and profit.</a:t>
            </a:r>
            <a:endParaRPr>
              <a:solidFill>
                <a:srgbClr val="424242"/>
              </a:solidFill>
              <a:latin typeface="Inter"/>
              <a:ea typeface="Inter"/>
              <a:cs typeface="Inter"/>
              <a:sym typeface="Inter"/>
            </a:endParaRPr>
          </a:p>
          <a:p>
            <a:pPr indent="-317500" lvl="1" marL="914400" rtl="0" algn="l">
              <a:spcBef>
                <a:spcPts val="1200"/>
              </a:spcBef>
              <a:spcAft>
                <a:spcPts val="0"/>
              </a:spcAft>
              <a:buClr>
                <a:srgbClr val="424242"/>
              </a:buClr>
              <a:buSzPts val="1400"/>
              <a:buFont typeface="Inter"/>
              <a:buChar char="○"/>
            </a:pPr>
            <a:r>
              <a:rPr lang="en">
                <a:solidFill>
                  <a:srgbClr val="424242"/>
                </a:solidFill>
                <a:latin typeface="Inter"/>
                <a:ea typeface="Inter"/>
                <a:cs typeface="Inter"/>
                <a:sym typeface="Inter"/>
              </a:rPr>
              <a:t>Created a scatter plot to show the correlation between property prices and state income.</a:t>
            </a:r>
            <a:endParaRPr>
              <a:solidFill>
                <a:srgbClr val="424242"/>
              </a:solidFill>
              <a:latin typeface="Inter"/>
              <a:ea typeface="Inter"/>
              <a:cs typeface="Inter"/>
              <a:sym typeface="Inter"/>
            </a:endParaRPr>
          </a:p>
          <a:p>
            <a:pPr indent="-317500" lvl="1" marL="914400" rtl="0" algn="l">
              <a:spcBef>
                <a:spcPts val="1200"/>
              </a:spcBef>
              <a:spcAft>
                <a:spcPts val="0"/>
              </a:spcAft>
              <a:buClr>
                <a:srgbClr val="424242"/>
              </a:buClr>
              <a:buSzPts val="1400"/>
              <a:buFont typeface="Inter"/>
              <a:buChar char="○"/>
            </a:pPr>
            <a:r>
              <a:rPr lang="en">
                <a:solidFill>
                  <a:srgbClr val="424242"/>
                </a:solidFill>
                <a:latin typeface="Inter"/>
                <a:ea typeface="Inter"/>
                <a:cs typeface="Inter"/>
                <a:sym typeface="Inter"/>
              </a:rPr>
              <a:t>Group states based on corruption level, health spending, and property prices.</a:t>
            </a:r>
            <a:endParaRPr>
              <a:solidFill>
                <a:srgbClr val="424242"/>
              </a:solidFill>
              <a:latin typeface="Inter"/>
              <a:ea typeface="Inter"/>
              <a:cs typeface="Inter"/>
              <a:sym typeface="Inter"/>
            </a:endParaRPr>
          </a:p>
        </p:txBody>
      </p:sp>
      <p:pic>
        <p:nvPicPr>
          <p:cNvPr id="106" name="Google Shape;106;g26f55e7bfc3_0_14"/>
          <p:cNvPicPr preferRelativeResize="0"/>
          <p:nvPr/>
        </p:nvPicPr>
        <p:blipFill rotWithShape="1">
          <a:blip r:embed="rId3">
            <a:alphaModFix/>
          </a:blip>
          <a:srcRect b="0" l="0" r="0" t="0"/>
          <a:stretch/>
        </p:blipFill>
        <p:spPr>
          <a:xfrm>
            <a:off x="458526" y="4459825"/>
            <a:ext cx="887050" cy="208450"/>
          </a:xfrm>
          <a:prstGeom prst="rect">
            <a:avLst/>
          </a:prstGeom>
          <a:noFill/>
          <a:ln>
            <a:noFill/>
          </a:ln>
        </p:spPr>
      </p:pic>
      <p:sp>
        <p:nvSpPr>
          <p:cNvPr id="107" name="Google Shape;107;g26f55e7bfc3_0_14"/>
          <p:cNvSpPr/>
          <p:nvPr/>
        </p:nvSpPr>
        <p:spPr>
          <a:xfrm>
            <a:off x="0" y="0"/>
            <a:ext cx="9144000" cy="295200"/>
          </a:xfrm>
          <a:prstGeom prst="rect">
            <a:avLst/>
          </a:prstGeom>
          <a:solidFill>
            <a:srgbClr val="DCF10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highlight>
                <a:srgbClr val="DCF10D"/>
              </a:highlight>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g26f55e7bfc3_0_4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solidFill>
                  <a:srgbClr val="424242"/>
                </a:solidFill>
                <a:latin typeface="Inter SemiBold"/>
                <a:ea typeface="Inter SemiBold"/>
                <a:cs typeface="Inter SemiBold"/>
                <a:sym typeface="Inter SemiBold"/>
              </a:rPr>
              <a:t>Postgres</a:t>
            </a:r>
            <a:endParaRPr>
              <a:solidFill>
                <a:srgbClr val="424242"/>
              </a:solidFill>
              <a:latin typeface="Inter SemiBold"/>
              <a:ea typeface="Inter SemiBold"/>
              <a:cs typeface="Inter SemiBold"/>
              <a:sym typeface="Inter SemiBold"/>
            </a:endParaRPr>
          </a:p>
          <a:p>
            <a:pPr indent="0" lvl="0" marL="0" rtl="0" algn="l">
              <a:lnSpc>
                <a:spcPct val="100000"/>
              </a:lnSpc>
              <a:spcBef>
                <a:spcPts val="0"/>
              </a:spcBef>
              <a:spcAft>
                <a:spcPts val="0"/>
              </a:spcAft>
              <a:buSzPct val="111111"/>
              <a:buNone/>
            </a:pPr>
            <a:r>
              <a:t/>
            </a:r>
            <a:endParaRPr/>
          </a:p>
        </p:txBody>
      </p:sp>
      <p:pic>
        <p:nvPicPr>
          <p:cNvPr id="113" name="Google Shape;113;g26f55e7bfc3_0_40"/>
          <p:cNvPicPr preferRelativeResize="0"/>
          <p:nvPr/>
        </p:nvPicPr>
        <p:blipFill rotWithShape="1">
          <a:blip r:embed="rId3">
            <a:alphaModFix/>
          </a:blip>
          <a:srcRect b="0" l="0" r="0" t="0"/>
          <a:stretch/>
        </p:blipFill>
        <p:spPr>
          <a:xfrm>
            <a:off x="458526" y="4459825"/>
            <a:ext cx="887050" cy="208450"/>
          </a:xfrm>
          <a:prstGeom prst="rect">
            <a:avLst/>
          </a:prstGeom>
          <a:noFill/>
          <a:ln>
            <a:noFill/>
          </a:ln>
        </p:spPr>
      </p:pic>
      <p:sp>
        <p:nvSpPr>
          <p:cNvPr id="114" name="Google Shape;114;g26f55e7bfc3_0_40"/>
          <p:cNvSpPr/>
          <p:nvPr/>
        </p:nvSpPr>
        <p:spPr>
          <a:xfrm>
            <a:off x="0" y="0"/>
            <a:ext cx="9144000" cy="295200"/>
          </a:xfrm>
          <a:prstGeom prst="rect">
            <a:avLst/>
          </a:prstGeom>
          <a:solidFill>
            <a:srgbClr val="DCF10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highlight>
                <a:srgbClr val="DCF10D"/>
              </a:highlight>
              <a:latin typeface="Arial"/>
              <a:ea typeface="Arial"/>
              <a:cs typeface="Arial"/>
              <a:sym typeface="Arial"/>
            </a:endParaRPr>
          </a:p>
        </p:txBody>
      </p:sp>
      <p:pic>
        <p:nvPicPr>
          <p:cNvPr id="115" name="Google Shape;115;g26f55e7bfc3_0_40"/>
          <p:cNvPicPr preferRelativeResize="0"/>
          <p:nvPr/>
        </p:nvPicPr>
        <p:blipFill>
          <a:blip r:embed="rId4">
            <a:alphaModFix/>
          </a:blip>
          <a:stretch>
            <a:fillRect/>
          </a:stretch>
        </p:blipFill>
        <p:spPr>
          <a:xfrm>
            <a:off x="2924175" y="1017725"/>
            <a:ext cx="3295650" cy="1543050"/>
          </a:xfrm>
          <a:prstGeom prst="rect">
            <a:avLst/>
          </a:prstGeom>
          <a:noFill/>
          <a:ln>
            <a:noFill/>
          </a:ln>
        </p:spPr>
      </p:pic>
      <p:pic>
        <p:nvPicPr>
          <p:cNvPr id="116" name="Google Shape;116;g26f55e7bfc3_0_40"/>
          <p:cNvPicPr preferRelativeResize="0"/>
          <p:nvPr/>
        </p:nvPicPr>
        <p:blipFill>
          <a:blip r:embed="rId5">
            <a:alphaModFix/>
          </a:blip>
          <a:stretch>
            <a:fillRect/>
          </a:stretch>
        </p:blipFill>
        <p:spPr>
          <a:xfrm>
            <a:off x="2924175" y="2798350"/>
            <a:ext cx="3295650" cy="15621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g26f55e7bfc3_0_3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solidFill>
                  <a:srgbClr val="424242"/>
                </a:solidFill>
                <a:latin typeface="Inter SemiBold"/>
                <a:ea typeface="Inter SemiBold"/>
                <a:cs typeface="Inter SemiBold"/>
                <a:sym typeface="Inter SemiBold"/>
              </a:rPr>
              <a:t>Postgres</a:t>
            </a:r>
            <a:endParaRPr>
              <a:solidFill>
                <a:srgbClr val="424242"/>
              </a:solidFill>
              <a:latin typeface="Inter SemiBold"/>
              <a:ea typeface="Inter SemiBold"/>
              <a:cs typeface="Inter SemiBold"/>
              <a:sym typeface="Inter SemiBold"/>
            </a:endParaRPr>
          </a:p>
          <a:p>
            <a:pPr indent="0" lvl="0" marL="0" rtl="0" algn="l">
              <a:lnSpc>
                <a:spcPct val="100000"/>
              </a:lnSpc>
              <a:spcBef>
                <a:spcPts val="0"/>
              </a:spcBef>
              <a:spcAft>
                <a:spcPts val="0"/>
              </a:spcAft>
              <a:buSzPct val="111111"/>
              <a:buNone/>
            </a:pPr>
            <a:r>
              <a:t/>
            </a:r>
            <a:endParaRPr/>
          </a:p>
        </p:txBody>
      </p:sp>
      <p:pic>
        <p:nvPicPr>
          <p:cNvPr id="122" name="Google Shape;122;g26f55e7bfc3_0_30"/>
          <p:cNvPicPr preferRelativeResize="0"/>
          <p:nvPr/>
        </p:nvPicPr>
        <p:blipFill rotWithShape="1">
          <a:blip r:embed="rId3">
            <a:alphaModFix/>
          </a:blip>
          <a:srcRect b="0" l="0" r="0" t="0"/>
          <a:stretch/>
        </p:blipFill>
        <p:spPr>
          <a:xfrm>
            <a:off x="458526" y="4459825"/>
            <a:ext cx="887050" cy="208450"/>
          </a:xfrm>
          <a:prstGeom prst="rect">
            <a:avLst/>
          </a:prstGeom>
          <a:noFill/>
          <a:ln>
            <a:noFill/>
          </a:ln>
        </p:spPr>
      </p:pic>
      <p:sp>
        <p:nvSpPr>
          <p:cNvPr id="123" name="Google Shape;123;g26f55e7bfc3_0_30"/>
          <p:cNvSpPr/>
          <p:nvPr/>
        </p:nvSpPr>
        <p:spPr>
          <a:xfrm>
            <a:off x="0" y="0"/>
            <a:ext cx="9144000" cy="295200"/>
          </a:xfrm>
          <a:prstGeom prst="rect">
            <a:avLst/>
          </a:prstGeom>
          <a:solidFill>
            <a:srgbClr val="DCF10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highlight>
                <a:srgbClr val="DCF10D"/>
              </a:highlight>
              <a:latin typeface="Arial"/>
              <a:ea typeface="Arial"/>
              <a:cs typeface="Arial"/>
              <a:sym typeface="Arial"/>
            </a:endParaRPr>
          </a:p>
        </p:txBody>
      </p:sp>
      <p:pic>
        <p:nvPicPr>
          <p:cNvPr id="124" name="Google Shape;124;g26f55e7bfc3_0_30"/>
          <p:cNvPicPr preferRelativeResize="0"/>
          <p:nvPr/>
        </p:nvPicPr>
        <p:blipFill>
          <a:blip r:embed="rId4">
            <a:alphaModFix/>
          </a:blip>
          <a:stretch>
            <a:fillRect/>
          </a:stretch>
        </p:blipFill>
        <p:spPr>
          <a:xfrm>
            <a:off x="1580462" y="1017725"/>
            <a:ext cx="5983075" cy="334372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g26f55e7bfc3_0_4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solidFill>
                  <a:srgbClr val="424242"/>
                </a:solidFill>
                <a:latin typeface="Inter SemiBold"/>
                <a:ea typeface="Inter SemiBold"/>
                <a:cs typeface="Inter SemiBold"/>
                <a:sym typeface="Inter SemiBold"/>
              </a:rPr>
              <a:t>Postgres</a:t>
            </a:r>
            <a:endParaRPr>
              <a:solidFill>
                <a:srgbClr val="424242"/>
              </a:solidFill>
              <a:latin typeface="Inter SemiBold"/>
              <a:ea typeface="Inter SemiBold"/>
              <a:cs typeface="Inter SemiBold"/>
              <a:sym typeface="Inter SemiBold"/>
            </a:endParaRPr>
          </a:p>
          <a:p>
            <a:pPr indent="0" lvl="0" marL="0" rtl="0" algn="l">
              <a:lnSpc>
                <a:spcPct val="100000"/>
              </a:lnSpc>
              <a:spcBef>
                <a:spcPts val="0"/>
              </a:spcBef>
              <a:spcAft>
                <a:spcPts val="0"/>
              </a:spcAft>
              <a:buSzPct val="111111"/>
              <a:buNone/>
            </a:pPr>
            <a:r>
              <a:t/>
            </a:r>
            <a:endParaRPr/>
          </a:p>
        </p:txBody>
      </p:sp>
      <p:pic>
        <p:nvPicPr>
          <p:cNvPr id="130" name="Google Shape;130;g26f55e7bfc3_0_49"/>
          <p:cNvPicPr preferRelativeResize="0"/>
          <p:nvPr/>
        </p:nvPicPr>
        <p:blipFill rotWithShape="1">
          <a:blip r:embed="rId3">
            <a:alphaModFix/>
          </a:blip>
          <a:srcRect b="0" l="0" r="0" t="0"/>
          <a:stretch/>
        </p:blipFill>
        <p:spPr>
          <a:xfrm>
            <a:off x="458526" y="4459825"/>
            <a:ext cx="887050" cy="208450"/>
          </a:xfrm>
          <a:prstGeom prst="rect">
            <a:avLst/>
          </a:prstGeom>
          <a:noFill/>
          <a:ln>
            <a:noFill/>
          </a:ln>
        </p:spPr>
      </p:pic>
      <p:sp>
        <p:nvSpPr>
          <p:cNvPr id="131" name="Google Shape;131;g26f55e7bfc3_0_49"/>
          <p:cNvSpPr/>
          <p:nvPr/>
        </p:nvSpPr>
        <p:spPr>
          <a:xfrm>
            <a:off x="0" y="0"/>
            <a:ext cx="9144000" cy="295200"/>
          </a:xfrm>
          <a:prstGeom prst="rect">
            <a:avLst/>
          </a:prstGeom>
          <a:solidFill>
            <a:srgbClr val="DCF10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highlight>
                <a:srgbClr val="DCF10D"/>
              </a:highlight>
              <a:latin typeface="Arial"/>
              <a:ea typeface="Arial"/>
              <a:cs typeface="Arial"/>
              <a:sym typeface="Arial"/>
            </a:endParaRPr>
          </a:p>
        </p:txBody>
      </p:sp>
      <p:pic>
        <p:nvPicPr>
          <p:cNvPr id="132" name="Google Shape;132;g26f55e7bfc3_0_49"/>
          <p:cNvPicPr preferRelativeResize="0"/>
          <p:nvPr/>
        </p:nvPicPr>
        <p:blipFill>
          <a:blip r:embed="rId4">
            <a:alphaModFix/>
          </a:blip>
          <a:stretch>
            <a:fillRect/>
          </a:stretch>
        </p:blipFill>
        <p:spPr>
          <a:xfrm>
            <a:off x="1512337" y="1017725"/>
            <a:ext cx="6119326" cy="343745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g26f55e7bfc3_0_5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solidFill>
                  <a:srgbClr val="424242"/>
                </a:solidFill>
                <a:latin typeface="Inter SemiBold"/>
                <a:ea typeface="Inter SemiBold"/>
                <a:cs typeface="Inter SemiBold"/>
                <a:sym typeface="Inter SemiBold"/>
              </a:rPr>
              <a:t>Postgres</a:t>
            </a:r>
            <a:endParaRPr>
              <a:solidFill>
                <a:srgbClr val="424242"/>
              </a:solidFill>
              <a:latin typeface="Inter SemiBold"/>
              <a:ea typeface="Inter SemiBold"/>
              <a:cs typeface="Inter SemiBold"/>
              <a:sym typeface="Inter SemiBold"/>
            </a:endParaRPr>
          </a:p>
          <a:p>
            <a:pPr indent="0" lvl="0" marL="0" rtl="0" algn="l">
              <a:lnSpc>
                <a:spcPct val="100000"/>
              </a:lnSpc>
              <a:spcBef>
                <a:spcPts val="0"/>
              </a:spcBef>
              <a:spcAft>
                <a:spcPts val="0"/>
              </a:spcAft>
              <a:buSzPct val="111111"/>
              <a:buNone/>
            </a:pPr>
            <a:r>
              <a:t/>
            </a:r>
            <a:endParaRPr/>
          </a:p>
        </p:txBody>
      </p:sp>
      <p:pic>
        <p:nvPicPr>
          <p:cNvPr id="138" name="Google Shape;138;g26f55e7bfc3_0_56"/>
          <p:cNvPicPr preferRelativeResize="0"/>
          <p:nvPr/>
        </p:nvPicPr>
        <p:blipFill rotWithShape="1">
          <a:blip r:embed="rId3">
            <a:alphaModFix/>
          </a:blip>
          <a:srcRect b="0" l="0" r="0" t="0"/>
          <a:stretch/>
        </p:blipFill>
        <p:spPr>
          <a:xfrm>
            <a:off x="458526" y="4459825"/>
            <a:ext cx="887050" cy="208450"/>
          </a:xfrm>
          <a:prstGeom prst="rect">
            <a:avLst/>
          </a:prstGeom>
          <a:noFill/>
          <a:ln>
            <a:noFill/>
          </a:ln>
        </p:spPr>
      </p:pic>
      <p:sp>
        <p:nvSpPr>
          <p:cNvPr id="139" name="Google Shape;139;g26f55e7bfc3_0_56"/>
          <p:cNvSpPr/>
          <p:nvPr/>
        </p:nvSpPr>
        <p:spPr>
          <a:xfrm>
            <a:off x="0" y="0"/>
            <a:ext cx="9144000" cy="295200"/>
          </a:xfrm>
          <a:prstGeom prst="rect">
            <a:avLst/>
          </a:prstGeom>
          <a:solidFill>
            <a:srgbClr val="DCF10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highlight>
                <a:srgbClr val="DCF10D"/>
              </a:highlight>
              <a:latin typeface="Arial"/>
              <a:ea typeface="Arial"/>
              <a:cs typeface="Arial"/>
              <a:sym typeface="Arial"/>
            </a:endParaRPr>
          </a:p>
        </p:txBody>
      </p:sp>
      <p:pic>
        <p:nvPicPr>
          <p:cNvPr id="140" name="Google Shape;140;g26f55e7bfc3_0_56"/>
          <p:cNvPicPr preferRelativeResize="0"/>
          <p:nvPr/>
        </p:nvPicPr>
        <p:blipFill>
          <a:blip r:embed="rId4">
            <a:alphaModFix/>
          </a:blip>
          <a:stretch>
            <a:fillRect/>
          </a:stretch>
        </p:blipFill>
        <p:spPr>
          <a:xfrm>
            <a:off x="1457387" y="1017725"/>
            <a:ext cx="6229238" cy="349815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g26f55e7bfc3_0_7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solidFill>
                  <a:srgbClr val="424242"/>
                </a:solidFill>
                <a:latin typeface="Inter SemiBold"/>
                <a:ea typeface="Inter SemiBold"/>
                <a:cs typeface="Inter SemiBold"/>
                <a:sym typeface="Inter SemiBold"/>
              </a:rPr>
              <a:t>Postgres</a:t>
            </a:r>
            <a:endParaRPr>
              <a:solidFill>
                <a:srgbClr val="424242"/>
              </a:solidFill>
              <a:latin typeface="Inter SemiBold"/>
              <a:ea typeface="Inter SemiBold"/>
              <a:cs typeface="Inter SemiBold"/>
              <a:sym typeface="Inter SemiBold"/>
            </a:endParaRPr>
          </a:p>
          <a:p>
            <a:pPr indent="0" lvl="0" marL="0" rtl="0" algn="l">
              <a:lnSpc>
                <a:spcPct val="100000"/>
              </a:lnSpc>
              <a:spcBef>
                <a:spcPts val="0"/>
              </a:spcBef>
              <a:spcAft>
                <a:spcPts val="0"/>
              </a:spcAft>
              <a:buSzPct val="111111"/>
              <a:buNone/>
            </a:pPr>
            <a:r>
              <a:t/>
            </a:r>
            <a:endParaRPr/>
          </a:p>
        </p:txBody>
      </p:sp>
      <p:pic>
        <p:nvPicPr>
          <p:cNvPr id="146" name="Google Shape;146;g26f55e7bfc3_0_76"/>
          <p:cNvPicPr preferRelativeResize="0"/>
          <p:nvPr/>
        </p:nvPicPr>
        <p:blipFill rotWithShape="1">
          <a:blip r:embed="rId3">
            <a:alphaModFix/>
          </a:blip>
          <a:srcRect b="0" l="0" r="0" t="0"/>
          <a:stretch/>
        </p:blipFill>
        <p:spPr>
          <a:xfrm>
            <a:off x="458526" y="4459825"/>
            <a:ext cx="887050" cy="208450"/>
          </a:xfrm>
          <a:prstGeom prst="rect">
            <a:avLst/>
          </a:prstGeom>
          <a:noFill/>
          <a:ln>
            <a:noFill/>
          </a:ln>
        </p:spPr>
      </p:pic>
      <p:sp>
        <p:nvSpPr>
          <p:cNvPr id="147" name="Google Shape;147;g26f55e7bfc3_0_76"/>
          <p:cNvSpPr/>
          <p:nvPr/>
        </p:nvSpPr>
        <p:spPr>
          <a:xfrm>
            <a:off x="0" y="0"/>
            <a:ext cx="9144000" cy="295200"/>
          </a:xfrm>
          <a:prstGeom prst="rect">
            <a:avLst/>
          </a:prstGeom>
          <a:solidFill>
            <a:srgbClr val="DCF10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highlight>
                <a:srgbClr val="DCF10D"/>
              </a:highlight>
              <a:latin typeface="Arial"/>
              <a:ea typeface="Arial"/>
              <a:cs typeface="Arial"/>
              <a:sym typeface="Arial"/>
            </a:endParaRPr>
          </a:p>
        </p:txBody>
      </p:sp>
      <p:pic>
        <p:nvPicPr>
          <p:cNvPr id="148" name="Google Shape;148;g26f55e7bfc3_0_76"/>
          <p:cNvPicPr preferRelativeResize="0"/>
          <p:nvPr/>
        </p:nvPicPr>
        <p:blipFill>
          <a:blip r:embed="rId4">
            <a:alphaModFix/>
          </a:blip>
          <a:stretch>
            <a:fillRect/>
          </a:stretch>
        </p:blipFill>
        <p:spPr>
          <a:xfrm>
            <a:off x="1052514" y="1314450"/>
            <a:ext cx="7038975" cy="25146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solidFill>
                  <a:srgbClr val="424242"/>
                </a:solidFill>
                <a:latin typeface="Inter SemiBold"/>
                <a:ea typeface="Inter SemiBold"/>
                <a:cs typeface="Inter SemiBold"/>
                <a:sym typeface="Inter SemiBold"/>
              </a:rPr>
              <a:t>Postgres</a:t>
            </a:r>
            <a:endParaRPr>
              <a:solidFill>
                <a:srgbClr val="424242"/>
              </a:solidFill>
              <a:latin typeface="Inter SemiBold"/>
              <a:ea typeface="Inter SemiBold"/>
              <a:cs typeface="Inter SemiBold"/>
              <a:sym typeface="Inter SemiBold"/>
            </a:endParaRPr>
          </a:p>
          <a:p>
            <a:pPr indent="0" lvl="0" marL="0" rtl="0" algn="l">
              <a:lnSpc>
                <a:spcPct val="100000"/>
              </a:lnSpc>
              <a:spcBef>
                <a:spcPts val="0"/>
              </a:spcBef>
              <a:spcAft>
                <a:spcPts val="0"/>
              </a:spcAft>
              <a:buSzPct val="111111"/>
              <a:buNone/>
            </a:pPr>
            <a:r>
              <a:t/>
            </a:r>
            <a:endParaRPr/>
          </a:p>
        </p:txBody>
      </p:sp>
      <p:sp>
        <p:nvSpPr>
          <p:cNvPr id="154" name="Google Shape;154;p4"/>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800"/>
              <a:buNone/>
            </a:pPr>
            <a:r>
              <a:rPr lang="en" sz="1400">
                <a:solidFill>
                  <a:srgbClr val="424242"/>
                </a:solidFill>
                <a:latin typeface="Inter SemiBold"/>
                <a:ea typeface="Inter SemiBold"/>
                <a:cs typeface="Inter SemiBold"/>
                <a:sym typeface="Inter SemiBold"/>
              </a:rPr>
              <a:t>Short conclusion:</a:t>
            </a:r>
            <a:endParaRPr sz="1400">
              <a:solidFill>
                <a:srgbClr val="424242"/>
              </a:solidFill>
              <a:latin typeface="Inter"/>
              <a:ea typeface="Inter"/>
              <a:cs typeface="Inter"/>
              <a:sym typeface="Inter"/>
            </a:endParaRPr>
          </a:p>
          <a:p>
            <a:pPr indent="0" lvl="0" marL="0" rtl="0" algn="l">
              <a:lnSpc>
                <a:spcPct val="100000"/>
              </a:lnSpc>
              <a:spcBef>
                <a:spcPts val="0"/>
              </a:spcBef>
              <a:spcAft>
                <a:spcPts val="0"/>
              </a:spcAft>
              <a:buSzPts val="1800"/>
              <a:buNone/>
            </a:pPr>
            <a:r>
              <a:t/>
            </a:r>
            <a:endParaRPr sz="1400">
              <a:solidFill>
                <a:srgbClr val="424242"/>
              </a:solidFill>
              <a:latin typeface="Inter"/>
              <a:ea typeface="Inter"/>
              <a:cs typeface="Inter"/>
              <a:sym typeface="Inter"/>
            </a:endParaRPr>
          </a:p>
          <a:p>
            <a:pPr indent="-317500" lvl="0" marL="457200" rtl="0" algn="l">
              <a:lnSpc>
                <a:spcPct val="100000"/>
              </a:lnSpc>
              <a:spcBef>
                <a:spcPts val="0"/>
              </a:spcBef>
              <a:spcAft>
                <a:spcPts val="0"/>
              </a:spcAft>
              <a:buClr>
                <a:srgbClr val="424242"/>
              </a:buClr>
              <a:buSzPts val="1400"/>
              <a:buFont typeface="Inter"/>
              <a:buChar char="●"/>
            </a:pPr>
            <a:r>
              <a:rPr lang="en" sz="1400">
                <a:solidFill>
                  <a:srgbClr val="424242"/>
                </a:solidFill>
                <a:latin typeface="Inter"/>
                <a:ea typeface="Inter"/>
                <a:cs typeface="Inter"/>
                <a:sym typeface="Inter"/>
              </a:rPr>
              <a:t>Except for Pennsylvania, the states with the highest total health spending have the lowest average competitor profit.</a:t>
            </a:r>
            <a:endParaRPr sz="1400">
              <a:solidFill>
                <a:srgbClr val="424242"/>
              </a:solidFill>
              <a:latin typeface="Inter"/>
              <a:ea typeface="Inter"/>
              <a:cs typeface="Inter"/>
              <a:sym typeface="Inter"/>
            </a:endParaRPr>
          </a:p>
          <a:p>
            <a:pPr indent="-317500" lvl="0" marL="457200" rtl="0" algn="l">
              <a:lnSpc>
                <a:spcPct val="100000"/>
              </a:lnSpc>
              <a:spcBef>
                <a:spcPts val="0"/>
              </a:spcBef>
              <a:spcAft>
                <a:spcPts val="0"/>
              </a:spcAft>
              <a:buClr>
                <a:srgbClr val="424242"/>
              </a:buClr>
              <a:buSzPts val="1400"/>
              <a:buFont typeface="Inter"/>
              <a:buChar char="●"/>
            </a:pPr>
            <a:r>
              <a:rPr lang="en" sz="1400">
                <a:solidFill>
                  <a:srgbClr val="424242"/>
                </a:solidFill>
                <a:latin typeface="Inter"/>
                <a:ea typeface="Inter"/>
                <a:cs typeface="Inter"/>
                <a:sym typeface="Inter"/>
              </a:rPr>
              <a:t>The hypothesis: The </a:t>
            </a:r>
            <a:r>
              <a:rPr lang="en" sz="1400">
                <a:solidFill>
                  <a:srgbClr val="424242"/>
                </a:solidFill>
                <a:latin typeface="Inter"/>
                <a:ea typeface="Inter"/>
                <a:cs typeface="Inter"/>
                <a:sym typeface="Inter"/>
              </a:rPr>
              <a:t>greater the health spending per person, the less average profit per competitor.</a:t>
            </a:r>
            <a:endParaRPr sz="1400">
              <a:solidFill>
                <a:srgbClr val="424242"/>
              </a:solidFill>
              <a:latin typeface="Inter"/>
              <a:ea typeface="Inter"/>
              <a:cs typeface="Inter"/>
              <a:sym typeface="Inter"/>
            </a:endParaRPr>
          </a:p>
          <a:p>
            <a:pPr indent="0" lvl="0" marL="457200" rtl="0" algn="l">
              <a:lnSpc>
                <a:spcPct val="115000"/>
              </a:lnSpc>
              <a:spcBef>
                <a:spcPts val="0"/>
              </a:spcBef>
              <a:spcAft>
                <a:spcPts val="1200"/>
              </a:spcAft>
              <a:buSzPts val="1800"/>
              <a:buNone/>
            </a:pPr>
            <a:r>
              <a:t/>
            </a:r>
            <a:endParaRPr/>
          </a:p>
        </p:txBody>
      </p:sp>
      <p:pic>
        <p:nvPicPr>
          <p:cNvPr id="155" name="Google Shape;155;p4"/>
          <p:cNvPicPr preferRelativeResize="0"/>
          <p:nvPr/>
        </p:nvPicPr>
        <p:blipFill rotWithShape="1">
          <a:blip r:embed="rId3">
            <a:alphaModFix/>
          </a:blip>
          <a:srcRect b="0" l="0" r="0" t="0"/>
          <a:stretch/>
        </p:blipFill>
        <p:spPr>
          <a:xfrm>
            <a:off x="458526" y="4459825"/>
            <a:ext cx="887050" cy="208450"/>
          </a:xfrm>
          <a:prstGeom prst="rect">
            <a:avLst/>
          </a:prstGeom>
          <a:noFill/>
          <a:ln>
            <a:noFill/>
          </a:ln>
        </p:spPr>
      </p:pic>
      <p:sp>
        <p:nvSpPr>
          <p:cNvPr id="156" name="Google Shape;156;p4"/>
          <p:cNvSpPr/>
          <p:nvPr/>
        </p:nvSpPr>
        <p:spPr>
          <a:xfrm>
            <a:off x="0" y="0"/>
            <a:ext cx="9144000" cy="295200"/>
          </a:xfrm>
          <a:prstGeom prst="rect">
            <a:avLst/>
          </a:prstGeom>
          <a:solidFill>
            <a:srgbClr val="DCF10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highlight>
                <a:srgbClr val="DCF10D"/>
              </a:highlight>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solidFill>
                  <a:srgbClr val="424242"/>
                </a:solidFill>
                <a:latin typeface="Inter SemiBold"/>
                <a:ea typeface="Inter SemiBold"/>
                <a:cs typeface="Inter SemiBold"/>
                <a:sym typeface="Inter SemiBold"/>
              </a:rPr>
              <a:t>Excel</a:t>
            </a:r>
            <a:endParaRPr>
              <a:solidFill>
                <a:srgbClr val="424242"/>
              </a:solidFill>
              <a:latin typeface="Inter SemiBold"/>
              <a:ea typeface="Inter SemiBold"/>
              <a:cs typeface="Inter SemiBold"/>
              <a:sym typeface="Inter SemiBold"/>
            </a:endParaRPr>
          </a:p>
          <a:p>
            <a:pPr indent="0" lvl="0" marL="0" rtl="0" algn="l">
              <a:lnSpc>
                <a:spcPct val="100000"/>
              </a:lnSpc>
              <a:spcBef>
                <a:spcPts val="0"/>
              </a:spcBef>
              <a:spcAft>
                <a:spcPts val="0"/>
              </a:spcAft>
              <a:buSzPct val="111111"/>
              <a:buNone/>
            </a:pPr>
            <a:r>
              <a:t/>
            </a:r>
            <a:endParaRPr/>
          </a:p>
        </p:txBody>
      </p:sp>
      <p:pic>
        <p:nvPicPr>
          <p:cNvPr id="162" name="Google Shape;162;p5"/>
          <p:cNvPicPr preferRelativeResize="0"/>
          <p:nvPr/>
        </p:nvPicPr>
        <p:blipFill rotWithShape="1">
          <a:blip r:embed="rId3">
            <a:alphaModFix/>
          </a:blip>
          <a:srcRect b="0" l="0" r="0" t="0"/>
          <a:stretch/>
        </p:blipFill>
        <p:spPr>
          <a:xfrm>
            <a:off x="458526" y="4459825"/>
            <a:ext cx="887050" cy="208450"/>
          </a:xfrm>
          <a:prstGeom prst="rect">
            <a:avLst/>
          </a:prstGeom>
          <a:noFill/>
          <a:ln>
            <a:noFill/>
          </a:ln>
        </p:spPr>
      </p:pic>
      <p:sp>
        <p:nvSpPr>
          <p:cNvPr id="163" name="Google Shape;163;p5"/>
          <p:cNvSpPr/>
          <p:nvPr/>
        </p:nvSpPr>
        <p:spPr>
          <a:xfrm>
            <a:off x="0" y="0"/>
            <a:ext cx="9144000" cy="295200"/>
          </a:xfrm>
          <a:prstGeom prst="rect">
            <a:avLst/>
          </a:prstGeom>
          <a:solidFill>
            <a:srgbClr val="DCF10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highlight>
                <a:srgbClr val="DCF10D"/>
              </a:highlight>
              <a:latin typeface="Arial"/>
              <a:ea typeface="Arial"/>
              <a:cs typeface="Arial"/>
              <a:sym typeface="Arial"/>
            </a:endParaRPr>
          </a:p>
        </p:txBody>
      </p:sp>
      <p:pic>
        <p:nvPicPr>
          <p:cNvPr id="164" name="Google Shape;164;p5"/>
          <p:cNvPicPr preferRelativeResize="0"/>
          <p:nvPr/>
        </p:nvPicPr>
        <p:blipFill>
          <a:blip r:embed="rId4">
            <a:alphaModFix/>
          </a:blip>
          <a:stretch>
            <a:fillRect/>
          </a:stretch>
        </p:blipFill>
        <p:spPr>
          <a:xfrm>
            <a:off x="2496550" y="424302"/>
            <a:ext cx="1990325" cy="4294900"/>
          </a:xfrm>
          <a:prstGeom prst="rect">
            <a:avLst/>
          </a:prstGeom>
          <a:noFill/>
          <a:ln>
            <a:noFill/>
          </a:ln>
        </p:spPr>
      </p:pic>
      <p:pic>
        <p:nvPicPr>
          <p:cNvPr id="165" name="Google Shape;165;p5"/>
          <p:cNvPicPr preferRelativeResize="0"/>
          <p:nvPr/>
        </p:nvPicPr>
        <p:blipFill>
          <a:blip r:embed="rId5">
            <a:alphaModFix/>
          </a:blip>
          <a:stretch>
            <a:fillRect/>
          </a:stretch>
        </p:blipFill>
        <p:spPr>
          <a:xfrm>
            <a:off x="4572000" y="655913"/>
            <a:ext cx="3128200" cy="383167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g26f55e7bfc3_0_9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solidFill>
                  <a:srgbClr val="424242"/>
                </a:solidFill>
                <a:latin typeface="Inter SemiBold"/>
                <a:ea typeface="Inter SemiBold"/>
                <a:cs typeface="Inter SemiBold"/>
                <a:sym typeface="Inter SemiBold"/>
              </a:rPr>
              <a:t>Excel</a:t>
            </a:r>
            <a:endParaRPr>
              <a:solidFill>
                <a:srgbClr val="424242"/>
              </a:solidFill>
              <a:latin typeface="Inter SemiBold"/>
              <a:ea typeface="Inter SemiBold"/>
              <a:cs typeface="Inter SemiBold"/>
              <a:sym typeface="Inter SemiBold"/>
            </a:endParaRPr>
          </a:p>
          <a:p>
            <a:pPr indent="0" lvl="0" marL="0" rtl="0" algn="l">
              <a:lnSpc>
                <a:spcPct val="100000"/>
              </a:lnSpc>
              <a:spcBef>
                <a:spcPts val="0"/>
              </a:spcBef>
              <a:spcAft>
                <a:spcPts val="0"/>
              </a:spcAft>
              <a:buSzPct val="111111"/>
              <a:buNone/>
            </a:pPr>
            <a:r>
              <a:t/>
            </a:r>
            <a:endParaRPr/>
          </a:p>
        </p:txBody>
      </p:sp>
      <p:pic>
        <p:nvPicPr>
          <p:cNvPr id="171" name="Google Shape;171;g26f55e7bfc3_0_96"/>
          <p:cNvPicPr preferRelativeResize="0"/>
          <p:nvPr/>
        </p:nvPicPr>
        <p:blipFill rotWithShape="1">
          <a:blip r:embed="rId3">
            <a:alphaModFix/>
          </a:blip>
          <a:srcRect b="0" l="0" r="0" t="0"/>
          <a:stretch/>
        </p:blipFill>
        <p:spPr>
          <a:xfrm>
            <a:off x="458526" y="4459825"/>
            <a:ext cx="887050" cy="208450"/>
          </a:xfrm>
          <a:prstGeom prst="rect">
            <a:avLst/>
          </a:prstGeom>
          <a:noFill/>
          <a:ln>
            <a:noFill/>
          </a:ln>
        </p:spPr>
      </p:pic>
      <p:sp>
        <p:nvSpPr>
          <p:cNvPr id="172" name="Google Shape;172;g26f55e7bfc3_0_96"/>
          <p:cNvSpPr/>
          <p:nvPr/>
        </p:nvSpPr>
        <p:spPr>
          <a:xfrm>
            <a:off x="0" y="0"/>
            <a:ext cx="9144000" cy="295200"/>
          </a:xfrm>
          <a:prstGeom prst="rect">
            <a:avLst/>
          </a:prstGeom>
          <a:solidFill>
            <a:srgbClr val="DCF10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highlight>
                <a:srgbClr val="DCF10D"/>
              </a:highlight>
              <a:latin typeface="Arial"/>
              <a:ea typeface="Arial"/>
              <a:cs typeface="Arial"/>
              <a:sym typeface="Arial"/>
            </a:endParaRPr>
          </a:p>
        </p:txBody>
      </p:sp>
      <p:pic>
        <p:nvPicPr>
          <p:cNvPr id="173" name="Google Shape;173;g26f55e7bfc3_0_96"/>
          <p:cNvPicPr preferRelativeResize="0"/>
          <p:nvPr/>
        </p:nvPicPr>
        <p:blipFill>
          <a:blip r:embed="rId4">
            <a:alphaModFix/>
          </a:blip>
          <a:stretch>
            <a:fillRect/>
          </a:stretch>
        </p:blipFill>
        <p:spPr>
          <a:xfrm>
            <a:off x="1485901" y="985838"/>
            <a:ext cx="6172200" cy="317182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g26f55e7bfc3_0_10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solidFill>
                  <a:srgbClr val="424242"/>
                </a:solidFill>
                <a:latin typeface="Inter SemiBold"/>
                <a:ea typeface="Inter SemiBold"/>
                <a:cs typeface="Inter SemiBold"/>
                <a:sym typeface="Inter SemiBold"/>
              </a:rPr>
              <a:t>Excel</a:t>
            </a:r>
            <a:endParaRPr>
              <a:solidFill>
                <a:srgbClr val="424242"/>
              </a:solidFill>
              <a:latin typeface="Inter SemiBold"/>
              <a:ea typeface="Inter SemiBold"/>
              <a:cs typeface="Inter SemiBold"/>
              <a:sym typeface="Inter SemiBold"/>
            </a:endParaRPr>
          </a:p>
          <a:p>
            <a:pPr indent="0" lvl="0" marL="0" rtl="0" algn="l">
              <a:lnSpc>
                <a:spcPct val="100000"/>
              </a:lnSpc>
              <a:spcBef>
                <a:spcPts val="0"/>
              </a:spcBef>
              <a:spcAft>
                <a:spcPts val="0"/>
              </a:spcAft>
              <a:buSzPct val="111111"/>
              <a:buNone/>
            </a:pPr>
            <a:r>
              <a:t/>
            </a:r>
            <a:endParaRPr/>
          </a:p>
        </p:txBody>
      </p:sp>
      <p:pic>
        <p:nvPicPr>
          <p:cNvPr id="179" name="Google Shape;179;g26f55e7bfc3_0_105"/>
          <p:cNvPicPr preferRelativeResize="0"/>
          <p:nvPr/>
        </p:nvPicPr>
        <p:blipFill rotWithShape="1">
          <a:blip r:embed="rId3">
            <a:alphaModFix/>
          </a:blip>
          <a:srcRect b="0" l="0" r="0" t="0"/>
          <a:stretch/>
        </p:blipFill>
        <p:spPr>
          <a:xfrm>
            <a:off x="458526" y="4459825"/>
            <a:ext cx="887050" cy="208450"/>
          </a:xfrm>
          <a:prstGeom prst="rect">
            <a:avLst/>
          </a:prstGeom>
          <a:noFill/>
          <a:ln>
            <a:noFill/>
          </a:ln>
        </p:spPr>
      </p:pic>
      <p:sp>
        <p:nvSpPr>
          <p:cNvPr id="180" name="Google Shape;180;g26f55e7bfc3_0_105"/>
          <p:cNvSpPr/>
          <p:nvPr/>
        </p:nvSpPr>
        <p:spPr>
          <a:xfrm>
            <a:off x="0" y="0"/>
            <a:ext cx="9144000" cy="295200"/>
          </a:xfrm>
          <a:prstGeom prst="rect">
            <a:avLst/>
          </a:prstGeom>
          <a:solidFill>
            <a:srgbClr val="DCF10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highlight>
                <a:srgbClr val="DCF10D"/>
              </a:highlight>
              <a:latin typeface="Arial"/>
              <a:ea typeface="Arial"/>
              <a:cs typeface="Arial"/>
              <a:sym typeface="Arial"/>
            </a:endParaRPr>
          </a:p>
        </p:txBody>
      </p:sp>
      <p:pic>
        <p:nvPicPr>
          <p:cNvPr id="181" name="Google Shape;181;g26f55e7bfc3_0_105"/>
          <p:cNvPicPr preferRelativeResize="0"/>
          <p:nvPr/>
        </p:nvPicPr>
        <p:blipFill>
          <a:blip r:embed="rId4">
            <a:alphaModFix/>
          </a:blip>
          <a:stretch>
            <a:fillRect/>
          </a:stretch>
        </p:blipFill>
        <p:spPr>
          <a:xfrm>
            <a:off x="152400" y="1067975"/>
            <a:ext cx="8839200" cy="3007562"/>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g26f55e7bfc3_0_11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solidFill>
                  <a:srgbClr val="424242"/>
                </a:solidFill>
                <a:latin typeface="Inter SemiBold"/>
                <a:ea typeface="Inter SemiBold"/>
                <a:cs typeface="Inter SemiBold"/>
                <a:sym typeface="Inter SemiBold"/>
              </a:rPr>
              <a:t>Excel</a:t>
            </a:r>
            <a:endParaRPr>
              <a:solidFill>
                <a:srgbClr val="424242"/>
              </a:solidFill>
              <a:latin typeface="Inter SemiBold"/>
              <a:ea typeface="Inter SemiBold"/>
              <a:cs typeface="Inter SemiBold"/>
              <a:sym typeface="Inter SemiBold"/>
            </a:endParaRPr>
          </a:p>
          <a:p>
            <a:pPr indent="0" lvl="0" marL="0" rtl="0" algn="l">
              <a:lnSpc>
                <a:spcPct val="100000"/>
              </a:lnSpc>
              <a:spcBef>
                <a:spcPts val="0"/>
              </a:spcBef>
              <a:spcAft>
                <a:spcPts val="0"/>
              </a:spcAft>
              <a:buSzPct val="111111"/>
              <a:buNone/>
            </a:pPr>
            <a:r>
              <a:t/>
            </a:r>
            <a:endParaRPr/>
          </a:p>
        </p:txBody>
      </p:sp>
      <p:pic>
        <p:nvPicPr>
          <p:cNvPr id="187" name="Google Shape;187;g26f55e7bfc3_0_113"/>
          <p:cNvPicPr preferRelativeResize="0"/>
          <p:nvPr/>
        </p:nvPicPr>
        <p:blipFill rotWithShape="1">
          <a:blip r:embed="rId3">
            <a:alphaModFix/>
          </a:blip>
          <a:srcRect b="0" l="0" r="0" t="0"/>
          <a:stretch/>
        </p:blipFill>
        <p:spPr>
          <a:xfrm>
            <a:off x="458526" y="4459825"/>
            <a:ext cx="887050" cy="208450"/>
          </a:xfrm>
          <a:prstGeom prst="rect">
            <a:avLst/>
          </a:prstGeom>
          <a:noFill/>
          <a:ln>
            <a:noFill/>
          </a:ln>
        </p:spPr>
      </p:pic>
      <p:sp>
        <p:nvSpPr>
          <p:cNvPr id="188" name="Google Shape;188;g26f55e7bfc3_0_113"/>
          <p:cNvSpPr/>
          <p:nvPr/>
        </p:nvSpPr>
        <p:spPr>
          <a:xfrm>
            <a:off x="0" y="0"/>
            <a:ext cx="9144000" cy="295200"/>
          </a:xfrm>
          <a:prstGeom prst="rect">
            <a:avLst/>
          </a:prstGeom>
          <a:solidFill>
            <a:srgbClr val="DCF10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highlight>
                <a:srgbClr val="DCF10D"/>
              </a:highlight>
              <a:latin typeface="Arial"/>
              <a:ea typeface="Arial"/>
              <a:cs typeface="Arial"/>
              <a:sym typeface="Arial"/>
            </a:endParaRPr>
          </a:p>
        </p:txBody>
      </p:sp>
      <p:pic>
        <p:nvPicPr>
          <p:cNvPr id="189" name="Google Shape;189;g26f55e7bfc3_0_113"/>
          <p:cNvPicPr preferRelativeResize="0"/>
          <p:nvPr/>
        </p:nvPicPr>
        <p:blipFill>
          <a:blip r:embed="rId4">
            <a:alphaModFix/>
          </a:blip>
          <a:stretch>
            <a:fillRect/>
          </a:stretch>
        </p:blipFill>
        <p:spPr>
          <a:xfrm>
            <a:off x="461963" y="1681163"/>
            <a:ext cx="8220075" cy="1781175"/>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g2cfee9e1d5c_0_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solidFill>
                  <a:srgbClr val="424242"/>
                </a:solidFill>
                <a:latin typeface="Inter SemiBold"/>
                <a:ea typeface="Inter SemiBold"/>
                <a:cs typeface="Inter SemiBold"/>
                <a:sym typeface="Inter SemiBold"/>
              </a:rPr>
              <a:t>Excel</a:t>
            </a:r>
            <a:endParaRPr>
              <a:solidFill>
                <a:srgbClr val="424242"/>
              </a:solidFill>
              <a:latin typeface="Inter SemiBold"/>
              <a:ea typeface="Inter SemiBold"/>
              <a:cs typeface="Inter SemiBold"/>
              <a:sym typeface="Inter SemiBold"/>
            </a:endParaRPr>
          </a:p>
          <a:p>
            <a:pPr indent="0" lvl="0" marL="0" rtl="0" algn="l">
              <a:lnSpc>
                <a:spcPct val="100000"/>
              </a:lnSpc>
              <a:spcBef>
                <a:spcPts val="0"/>
              </a:spcBef>
              <a:spcAft>
                <a:spcPts val="0"/>
              </a:spcAft>
              <a:buSzPct val="111111"/>
              <a:buNone/>
            </a:pPr>
            <a:r>
              <a:t/>
            </a:r>
            <a:endParaRPr/>
          </a:p>
        </p:txBody>
      </p:sp>
      <p:pic>
        <p:nvPicPr>
          <p:cNvPr id="195" name="Google Shape;195;g2cfee9e1d5c_0_1"/>
          <p:cNvPicPr preferRelativeResize="0"/>
          <p:nvPr/>
        </p:nvPicPr>
        <p:blipFill rotWithShape="1">
          <a:blip r:embed="rId3">
            <a:alphaModFix/>
          </a:blip>
          <a:srcRect b="0" l="0" r="0" t="0"/>
          <a:stretch/>
        </p:blipFill>
        <p:spPr>
          <a:xfrm>
            <a:off x="458526" y="4459825"/>
            <a:ext cx="887050" cy="208450"/>
          </a:xfrm>
          <a:prstGeom prst="rect">
            <a:avLst/>
          </a:prstGeom>
          <a:noFill/>
          <a:ln>
            <a:noFill/>
          </a:ln>
        </p:spPr>
      </p:pic>
      <p:sp>
        <p:nvSpPr>
          <p:cNvPr id="196" name="Google Shape;196;g2cfee9e1d5c_0_1"/>
          <p:cNvSpPr/>
          <p:nvPr/>
        </p:nvSpPr>
        <p:spPr>
          <a:xfrm>
            <a:off x="0" y="0"/>
            <a:ext cx="9144000" cy="295200"/>
          </a:xfrm>
          <a:prstGeom prst="rect">
            <a:avLst/>
          </a:prstGeom>
          <a:solidFill>
            <a:srgbClr val="DCF10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highlight>
                <a:srgbClr val="DCF10D"/>
              </a:highlight>
              <a:latin typeface="Arial"/>
              <a:ea typeface="Arial"/>
              <a:cs typeface="Arial"/>
              <a:sym typeface="Arial"/>
            </a:endParaRPr>
          </a:p>
        </p:txBody>
      </p:sp>
      <p:pic>
        <p:nvPicPr>
          <p:cNvPr id="197" name="Google Shape;197;g2cfee9e1d5c_0_1"/>
          <p:cNvPicPr preferRelativeResize="0"/>
          <p:nvPr/>
        </p:nvPicPr>
        <p:blipFill>
          <a:blip r:embed="rId4">
            <a:alphaModFix/>
          </a:blip>
          <a:stretch>
            <a:fillRect/>
          </a:stretch>
        </p:blipFill>
        <p:spPr>
          <a:xfrm>
            <a:off x="452438" y="1671638"/>
            <a:ext cx="8239125" cy="1800225"/>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g2cfee9e1d5c_0_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solidFill>
                  <a:srgbClr val="424242"/>
                </a:solidFill>
                <a:latin typeface="Inter SemiBold"/>
                <a:ea typeface="Inter SemiBold"/>
                <a:cs typeface="Inter SemiBold"/>
                <a:sym typeface="Inter SemiBold"/>
              </a:rPr>
              <a:t>Excel</a:t>
            </a:r>
            <a:endParaRPr>
              <a:solidFill>
                <a:srgbClr val="424242"/>
              </a:solidFill>
              <a:latin typeface="Inter SemiBold"/>
              <a:ea typeface="Inter SemiBold"/>
              <a:cs typeface="Inter SemiBold"/>
              <a:sym typeface="Inter SemiBold"/>
            </a:endParaRPr>
          </a:p>
          <a:p>
            <a:pPr indent="0" lvl="0" marL="0" rtl="0" algn="l">
              <a:lnSpc>
                <a:spcPct val="100000"/>
              </a:lnSpc>
              <a:spcBef>
                <a:spcPts val="0"/>
              </a:spcBef>
              <a:spcAft>
                <a:spcPts val="0"/>
              </a:spcAft>
              <a:buSzPct val="111111"/>
              <a:buNone/>
            </a:pPr>
            <a:r>
              <a:t/>
            </a:r>
            <a:endParaRPr/>
          </a:p>
        </p:txBody>
      </p:sp>
      <p:pic>
        <p:nvPicPr>
          <p:cNvPr id="203" name="Google Shape;203;g2cfee9e1d5c_0_9"/>
          <p:cNvPicPr preferRelativeResize="0"/>
          <p:nvPr/>
        </p:nvPicPr>
        <p:blipFill rotWithShape="1">
          <a:blip r:embed="rId3">
            <a:alphaModFix/>
          </a:blip>
          <a:srcRect b="0" l="0" r="0" t="0"/>
          <a:stretch/>
        </p:blipFill>
        <p:spPr>
          <a:xfrm>
            <a:off x="458526" y="4459825"/>
            <a:ext cx="887050" cy="208450"/>
          </a:xfrm>
          <a:prstGeom prst="rect">
            <a:avLst/>
          </a:prstGeom>
          <a:noFill/>
          <a:ln>
            <a:noFill/>
          </a:ln>
        </p:spPr>
      </p:pic>
      <p:sp>
        <p:nvSpPr>
          <p:cNvPr id="204" name="Google Shape;204;g2cfee9e1d5c_0_9"/>
          <p:cNvSpPr/>
          <p:nvPr/>
        </p:nvSpPr>
        <p:spPr>
          <a:xfrm>
            <a:off x="0" y="0"/>
            <a:ext cx="9144000" cy="295200"/>
          </a:xfrm>
          <a:prstGeom prst="rect">
            <a:avLst/>
          </a:prstGeom>
          <a:solidFill>
            <a:srgbClr val="DCF10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highlight>
                <a:srgbClr val="DCF10D"/>
              </a:highlight>
              <a:latin typeface="Arial"/>
              <a:ea typeface="Arial"/>
              <a:cs typeface="Arial"/>
              <a:sym typeface="Arial"/>
            </a:endParaRPr>
          </a:p>
        </p:txBody>
      </p:sp>
      <p:pic>
        <p:nvPicPr>
          <p:cNvPr id="205" name="Google Shape;205;g2cfee9e1d5c_0_9"/>
          <p:cNvPicPr preferRelativeResize="0"/>
          <p:nvPr/>
        </p:nvPicPr>
        <p:blipFill>
          <a:blip r:embed="rId4">
            <a:alphaModFix/>
          </a:blip>
          <a:stretch>
            <a:fillRect/>
          </a:stretch>
        </p:blipFill>
        <p:spPr>
          <a:xfrm>
            <a:off x="466725" y="1685925"/>
            <a:ext cx="8210550" cy="177165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sp>
        <p:nvSpPr>
          <p:cNvPr id="210" name="Google Shape;210;g26f55e7bfc3_0_8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solidFill>
                  <a:srgbClr val="424242"/>
                </a:solidFill>
                <a:latin typeface="Inter SemiBold"/>
                <a:ea typeface="Inter SemiBold"/>
                <a:cs typeface="Inter SemiBold"/>
                <a:sym typeface="Inter SemiBold"/>
              </a:rPr>
              <a:t>Excel</a:t>
            </a:r>
            <a:endParaRPr>
              <a:solidFill>
                <a:srgbClr val="424242"/>
              </a:solidFill>
              <a:latin typeface="Inter SemiBold"/>
              <a:ea typeface="Inter SemiBold"/>
              <a:cs typeface="Inter SemiBold"/>
              <a:sym typeface="Inter SemiBold"/>
            </a:endParaRPr>
          </a:p>
          <a:p>
            <a:pPr indent="0" lvl="0" marL="0" rtl="0" algn="l">
              <a:lnSpc>
                <a:spcPct val="100000"/>
              </a:lnSpc>
              <a:spcBef>
                <a:spcPts val="0"/>
              </a:spcBef>
              <a:spcAft>
                <a:spcPts val="0"/>
              </a:spcAft>
              <a:buSzPct val="111111"/>
              <a:buNone/>
            </a:pPr>
            <a:r>
              <a:t/>
            </a:r>
            <a:endParaRPr/>
          </a:p>
        </p:txBody>
      </p:sp>
      <p:sp>
        <p:nvSpPr>
          <p:cNvPr id="211" name="Google Shape;211;g26f55e7bfc3_0_84"/>
          <p:cNvSpPr txBox="1"/>
          <p:nvPr>
            <p:ph idx="1" type="body"/>
          </p:nvPr>
        </p:nvSpPr>
        <p:spPr>
          <a:xfrm>
            <a:off x="311700" y="1152475"/>
            <a:ext cx="8520600" cy="33075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800"/>
              <a:buNone/>
            </a:pPr>
            <a:r>
              <a:rPr lang="en" sz="1400">
                <a:solidFill>
                  <a:srgbClr val="424242"/>
                </a:solidFill>
                <a:latin typeface="Inter SemiBold"/>
                <a:ea typeface="Inter SemiBold"/>
                <a:cs typeface="Inter SemiBold"/>
                <a:sym typeface="Inter SemiBold"/>
              </a:rPr>
              <a:t>Short conclusion:</a:t>
            </a:r>
            <a:endParaRPr sz="1400">
              <a:solidFill>
                <a:srgbClr val="424242"/>
              </a:solidFill>
              <a:latin typeface="Inter SemiBold"/>
              <a:ea typeface="Inter SemiBold"/>
              <a:cs typeface="Inter SemiBold"/>
              <a:sym typeface="Inter SemiBold"/>
            </a:endParaRPr>
          </a:p>
          <a:p>
            <a:pPr indent="0" lvl="0" marL="0" rtl="0" algn="l">
              <a:lnSpc>
                <a:spcPct val="100000"/>
              </a:lnSpc>
              <a:spcBef>
                <a:spcPts val="0"/>
              </a:spcBef>
              <a:spcAft>
                <a:spcPts val="0"/>
              </a:spcAft>
              <a:buSzPts val="1800"/>
              <a:buNone/>
            </a:pPr>
            <a:r>
              <a:t/>
            </a:r>
            <a:endParaRPr sz="1400">
              <a:solidFill>
                <a:srgbClr val="424242"/>
              </a:solidFill>
              <a:latin typeface="Inter"/>
              <a:ea typeface="Inter"/>
              <a:cs typeface="Inter"/>
              <a:sym typeface="Inter"/>
            </a:endParaRPr>
          </a:p>
          <a:p>
            <a:pPr indent="-317500" lvl="0" marL="457200" rtl="0" algn="l">
              <a:lnSpc>
                <a:spcPct val="100000"/>
              </a:lnSpc>
              <a:spcBef>
                <a:spcPts val="0"/>
              </a:spcBef>
              <a:spcAft>
                <a:spcPts val="0"/>
              </a:spcAft>
              <a:buClr>
                <a:srgbClr val="424242"/>
              </a:buClr>
              <a:buSzPts val="1400"/>
              <a:buFont typeface="Inter"/>
              <a:buChar char="●"/>
            </a:pPr>
            <a:r>
              <a:rPr lang="en" sz="1400">
                <a:solidFill>
                  <a:srgbClr val="424242"/>
                </a:solidFill>
                <a:latin typeface="Inter"/>
                <a:ea typeface="Inter"/>
                <a:cs typeface="Inter"/>
                <a:sym typeface="Inter"/>
              </a:rPr>
              <a:t>Property Prices, most especially Max Property Prices, are negatively correlated with Average Competitor Profit.</a:t>
            </a:r>
            <a:endParaRPr sz="1400">
              <a:solidFill>
                <a:srgbClr val="424242"/>
              </a:solidFill>
              <a:latin typeface="Inter"/>
              <a:ea typeface="Inter"/>
              <a:cs typeface="Inter"/>
              <a:sym typeface="Inter"/>
            </a:endParaRPr>
          </a:p>
          <a:p>
            <a:pPr indent="-317500" lvl="0" marL="457200" rtl="0" algn="l">
              <a:lnSpc>
                <a:spcPct val="100000"/>
              </a:lnSpc>
              <a:spcBef>
                <a:spcPts val="0"/>
              </a:spcBef>
              <a:spcAft>
                <a:spcPts val="0"/>
              </a:spcAft>
              <a:buClr>
                <a:srgbClr val="424242"/>
              </a:buClr>
              <a:buSzPts val="1400"/>
              <a:buFont typeface="Inter"/>
              <a:buChar char="●"/>
            </a:pPr>
            <a:r>
              <a:rPr lang="en" sz="1400">
                <a:solidFill>
                  <a:srgbClr val="424242"/>
                </a:solidFill>
                <a:latin typeface="Inter"/>
                <a:ea typeface="Inter"/>
                <a:cs typeface="Inter"/>
                <a:sym typeface="Inter"/>
              </a:rPr>
              <a:t>Health Spending per Person is positively correlated with Income.</a:t>
            </a:r>
            <a:endParaRPr sz="1400">
              <a:solidFill>
                <a:srgbClr val="424242"/>
              </a:solidFill>
              <a:latin typeface="Inter"/>
              <a:ea typeface="Inter"/>
              <a:cs typeface="Inter"/>
              <a:sym typeface="Inter"/>
            </a:endParaRPr>
          </a:p>
          <a:p>
            <a:pPr indent="0" lvl="0" marL="457200" rtl="0" algn="l">
              <a:lnSpc>
                <a:spcPct val="115000"/>
              </a:lnSpc>
              <a:spcBef>
                <a:spcPts val="0"/>
              </a:spcBef>
              <a:spcAft>
                <a:spcPts val="1200"/>
              </a:spcAft>
              <a:buSzPts val="1800"/>
              <a:buNone/>
            </a:pPr>
            <a:r>
              <a:t/>
            </a:r>
            <a:endParaRPr/>
          </a:p>
        </p:txBody>
      </p:sp>
      <p:pic>
        <p:nvPicPr>
          <p:cNvPr id="212" name="Google Shape;212;g26f55e7bfc3_0_84"/>
          <p:cNvPicPr preferRelativeResize="0"/>
          <p:nvPr/>
        </p:nvPicPr>
        <p:blipFill rotWithShape="1">
          <a:blip r:embed="rId3">
            <a:alphaModFix/>
          </a:blip>
          <a:srcRect b="0" l="0" r="0" t="0"/>
          <a:stretch/>
        </p:blipFill>
        <p:spPr>
          <a:xfrm>
            <a:off x="458526" y="4459825"/>
            <a:ext cx="887050" cy="208450"/>
          </a:xfrm>
          <a:prstGeom prst="rect">
            <a:avLst/>
          </a:prstGeom>
          <a:noFill/>
          <a:ln>
            <a:noFill/>
          </a:ln>
        </p:spPr>
      </p:pic>
      <p:sp>
        <p:nvSpPr>
          <p:cNvPr id="213" name="Google Shape;213;g26f55e7bfc3_0_84"/>
          <p:cNvSpPr/>
          <p:nvPr/>
        </p:nvSpPr>
        <p:spPr>
          <a:xfrm>
            <a:off x="0" y="0"/>
            <a:ext cx="9144000" cy="295200"/>
          </a:xfrm>
          <a:prstGeom prst="rect">
            <a:avLst/>
          </a:prstGeom>
          <a:solidFill>
            <a:srgbClr val="DCF10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highlight>
                <a:srgbClr val="DCF10D"/>
              </a:highlight>
              <a:latin typeface="Arial"/>
              <a:ea typeface="Arial"/>
              <a:cs typeface="Arial"/>
              <a:sym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solidFill>
                  <a:srgbClr val="424242"/>
                </a:solidFill>
                <a:latin typeface="Inter SemiBold"/>
                <a:ea typeface="Inter SemiBold"/>
                <a:cs typeface="Inter SemiBold"/>
                <a:sym typeface="Inter SemiBold"/>
              </a:rPr>
              <a:t>Power BI</a:t>
            </a:r>
            <a:endParaRPr>
              <a:solidFill>
                <a:srgbClr val="424242"/>
              </a:solidFill>
              <a:latin typeface="Inter SemiBold"/>
              <a:ea typeface="Inter SemiBold"/>
              <a:cs typeface="Inter SemiBold"/>
              <a:sym typeface="Inter SemiBold"/>
            </a:endParaRPr>
          </a:p>
          <a:p>
            <a:pPr indent="0" lvl="0" marL="0" rtl="0" algn="l">
              <a:lnSpc>
                <a:spcPct val="100000"/>
              </a:lnSpc>
              <a:spcBef>
                <a:spcPts val="0"/>
              </a:spcBef>
              <a:spcAft>
                <a:spcPts val="0"/>
              </a:spcAft>
              <a:buSzPct val="111111"/>
              <a:buNone/>
            </a:pPr>
            <a:r>
              <a:t/>
            </a:r>
            <a:endParaRPr/>
          </a:p>
        </p:txBody>
      </p:sp>
      <p:pic>
        <p:nvPicPr>
          <p:cNvPr id="219" name="Google Shape;219;p6"/>
          <p:cNvPicPr preferRelativeResize="0"/>
          <p:nvPr/>
        </p:nvPicPr>
        <p:blipFill rotWithShape="1">
          <a:blip r:embed="rId3">
            <a:alphaModFix/>
          </a:blip>
          <a:srcRect b="0" l="0" r="0" t="0"/>
          <a:stretch/>
        </p:blipFill>
        <p:spPr>
          <a:xfrm>
            <a:off x="458526" y="4459825"/>
            <a:ext cx="887050" cy="208450"/>
          </a:xfrm>
          <a:prstGeom prst="rect">
            <a:avLst/>
          </a:prstGeom>
          <a:noFill/>
          <a:ln>
            <a:noFill/>
          </a:ln>
        </p:spPr>
      </p:pic>
      <p:sp>
        <p:nvSpPr>
          <p:cNvPr id="220" name="Google Shape;220;p6"/>
          <p:cNvSpPr/>
          <p:nvPr/>
        </p:nvSpPr>
        <p:spPr>
          <a:xfrm>
            <a:off x="0" y="0"/>
            <a:ext cx="9144000" cy="295200"/>
          </a:xfrm>
          <a:prstGeom prst="rect">
            <a:avLst/>
          </a:prstGeom>
          <a:solidFill>
            <a:srgbClr val="DCF10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highlight>
                <a:srgbClr val="DCF10D"/>
              </a:highlight>
              <a:latin typeface="Arial"/>
              <a:ea typeface="Arial"/>
              <a:cs typeface="Arial"/>
              <a:sym typeface="Arial"/>
            </a:endParaRPr>
          </a:p>
        </p:txBody>
      </p:sp>
      <p:pic>
        <p:nvPicPr>
          <p:cNvPr id="221" name="Google Shape;221;p6" title="Screenshot 2024-04-30 215305.png"/>
          <p:cNvPicPr preferRelativeResize="0"/>
          <p:nvPr/>
        </p:nvPicPr>
        <p:blipFill>
          <a:blip r:embed="rId4">
            <a:alphaModFix/>
          </a:blip>
          <a:stretch>
            <a:fillRect/>
          </a:stretch>
        </p:blipFill>
        <p:spPr>
          <a:xfrm>
            <a:off x="1501585" y="1017725"/>
            <a:ext cx="6140840" cy="3442100"/>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 name="Shape 225"/>
        <p:cNvGrpSpPr/>
        <p:nvPr/>
      </p:nvGrpSpPr>
      <p:grpSpPr>
        <a:xfrm>
          <a:off x="0" y="0"/>
          <a:ext cx="0" cy="0"/>
          <a:chOff x="0" y="0"/>
          <a:chExt cx="0" cy="0"/>
        </a:xfrm>
      </p:grpSpPr>
      <p:sp>
        <p:nvSpPr>
          <p:cNvPr id="226" name="Google Shape;226;g26f55e7bfc3_0_14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solidFill>
                  <a:srgbClr val="424242"/>
                </a:solidFill>
                <a:latin typeface="Inter SemiBold"/>
                <a:ea typeface="Inter SemiBold"/>
                <a:cs typeface="Inter SemiBold"/>
                <a:sym typeface="Inter SemiBold"/>
              </a:rPr>
              <a:t>Power BI</a:t>
            </a:r>
            <a:endParaRPr>
              <a:solidFill>
                <a:srgbClr val="424242"/>
              </a:solidFill>
              <a:latin typeface="Inter SemiBold"/>
              <a:ea typeface="Inter SemiBold"/>
              <a:cs typeface="Inter SemiBold"/>
              <a:sym typeface="Inter SemiBold"/>
            </a:endParaRPr>
          </a:p>
          <a:p>
            <a:pPr indent="0" lvl="0" marL="0" rtl="0" algn="l">
              <a:lnSpc>
                <a:spcPct val="100000"/>
              </a:lnSpc>
              <a:spcBef>
                <a:spcPts val="0"/>
              </a:spcBef>
              <a:spcAft>
                <a:spcPts val="0"/>
              </a:spcAft>
              <a:buSzPct val="111111"/>
              <a:buNone/>
            </a:pPr>
            <a:r>
              <a:t/>
            </a:r>
            <a:endParaRPr/>
          </a:p>
        </p:txBody>
      </p:sp>
      <p:pic>
        <p:nvPicPr>
          <p:cNvPr id="227" name="Google Shape;227;g26f55e7bfc3_0_147"/>
          <p:cNvPicPr preferRelativeResize="0"/>
          <p:nvPr/>
        </p:nvPicPr>
        <p:blipFill rotWithShape="1">
          <a:blip r:embed="rId3">
            <a:alphaModFix/>
          </a:blip>
          <a:srcRect b="0" l="0" r="0" t="0"/>
          <a:stretch/>
        </p:blipFill>
        <p:spPr>
          <a:xfrm>
            <a:off x="458526" y="4459825"/>
            <a:ext cx="887050" cy="208450"/>
          </a:xfrm>
          <a:prstGeom prst="rect">
            <a:avLst/>
          </a:prstGeom>
          <a:noFill/>
          <a:ln>
            <a:noFill/>
          </a:ln>
        </p:spPr>
      </p:pic>
      <p:sp>
        <p:nvSpPr>
          <p:cNvPr id="228" name="Google Shape;228;g26f55e7bfc3_0_147"/>
          <p:cNvSpPr/>
          <p:nvPr/>
        </p:nvSpPr>
        <p:spPr>
          <a:xfrm>
            <a:off x="0" y="0"/>
            <a:ext cx="9144000" cy="295200"/>
          </a:xfrm>
          <a:prstGeom prst="rect">
            <a:avLst/>
          </a:prstGeom>
          <a:solidFill>
            <a:srgbClr val="DCF10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highlight>
                <a:srgbClr val="DCF10D"/>
              </a:highlight>
              <a:latin typeface="Arial"/>
              <a:ea typeface="Arial"/>
              <a:cs typeface="Arial"/>
              <a:sym typeface="Arial"/>
            </a:endParaRPr>
          </a:p>
        </p:txBody>
      </p:sp>
      <p:pic>
        <p:nvPicPr>
          <p:cNvPr id="229" name="Google Shape;229;g26f55e7bfc3_0_147"/>
          <p:cNvPicPr preferRelativeResize="0"/>
          <p:nvPr/>
        </p:nvPicPr>
        <p:blipFill>
          <a:blip r:embed="rId4">
            <a:alphaModFix/>
          </a:blip>
          <a:stretch>
            <a:fillRect/>
          </a:stretch>
        </p:blipFill>
        <p:spPr>
          <a:xfrm>
            <a:off x="1645337" y="1017725"/>
            <a:ext cx="5853325" cy="327665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 name="Shape 233"/>
        <p:cNvGrpSpPr/>
        <p:nvPr/>
      </p:nvGrpSpPr>
      <p:grpSpPr>
        <a:xfrm>
          <a:off x="0" y="0"/>
          <a:ext cx="0" cy="0"/>
          <a:chOff x="0" y="0"/>
          <a:chExt cx="0" cy="0"/>
        </a:xfrm>
      </p:grpSpPr>
      <p:sp>
        <p:nvSpPr>
          <p:cNvPr id="234" name="Google Shape;234;g26f55e7bfc3_0_15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solidFill>
                  <a:srgbClr val="424242"/>
                </a:solidFill>
                <a:latin typeface="Inter SemiBold"/>
                <a:ea typeface="Inter SemiBold"/>
                <a:cs typeface="Inter SemiBold"/>
                <a:sym typeface="Inter SemiBold"/>
              </a:rPr>
              <a:t>Power BI</a:t>
            </a:r>
            <a:endParaRPr>
              <a:solidFill>
                <a:srgbClr val="424242"/>
              </a:solidFill>
              <a:latin typeface="Inter SemiBold"/>
              <a:ea typeface="Inter SemiBold"/>
              <a:cs typeface="Inter SemiBold"/>
              <a:sym typeface="Inter SemiBold"/>
            </a:endParaRPr>
          </a:p>
          <a:p>
            <a:pPr indent="0" lvl="0" marL="0" rtl="0" algn="l">
              <a:lnSpc>
                <a:spcPct val="100000"/>
              </a:lnSpc>
              <a:spcBef>
                <a:spcPts val="0"/>
              </a:spcBef>
              <a:spcAft>
                <a:spcPts val="0"/>
              </a:spcAft>
              <a:buSzPct val="111111"/>
              <a:buNone/>
            </a:pPr>
            <a:r>
              <a:t/>
            </a:r>
            <a:endParaRPr/>
          </a:p>
        </p:txBody>
      </p:sp>
      <p:pic>
        <p:nvPicPr>
          <p:cNvPr id="235" name="Google Shape;235;g26f55e7bfc3_0_155"/>
          <p:cNvPicPr preferRelativeResize="0"/>
          <p:nvPr/>
        </p:nvPicPr>
        <p:blipFill rotWithShape="1">
          <a:blip r:embed="rId3">
            <a:alphaModFix/>
          </a:blip>
          <a:srcRect b="0" l="0" r="0" t="0"/>
          <a:stretch/>
        </p:blipFill>
        <p:spPr>
          <a:xfrm>
            <a:off x="458526" y="4459825"/>
            <a:ext cx="887050" cy="208450"/>
          </a:xfrm>
          <a:prstGeom prst="rect">
            <a:avLst/>
          </a:prstGeom>
          <a:noFill/>
          <a:ln>
            <a:noFill/>
          </a:ln>
        </p:spPr>
      </p:pic>
      <p:sp>
        <p:nvSpPr>
          <p:cNvPr id="236" name="Google Shape;236;g26f55e7bfc3_0_155"/>
          <p:cNvSpPr/>
          <p:nvPr/>
        </p:nvSpPr>
        <p:spPr>
          <a:xfrm>
            <a:off x="0" y="0"/>
            <a:ext cx="9144000" cy="295200"/>
          </a:xfrm>
          <a:prstGeom prst="rect">
            <a:avLst/>
          </a:prstGeom>
          <a:solidFill>
            <a:srgbClr val="DCF10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highlight>
                <a:srgbClr val="DCF10D"/>
              </a:highlight>
              <a:latin typeface="Arial"/>
              <a:ea typeface="Arial"/>
              <a:cs typeface="Arial"/>
              <a:sym typeface="Arial"/>
            </a:endParaRPr>
          </a:p>
        </p:txBody>
      </p:sp>
      <p:pic>
        <p:nvPicPr>
          <p:cNvPr id="237" name="Google Shape;237;g26f55e7bfc3_0_155"/>
          <p:cNvPicPr preferRelativeResize="0"/>
          <p:nvPr/>
        </p:nvPicPr>
        <p:blipFill>
          <a:blip r:embed="rId4">
            <a:alphaModFix/>
          </a:blip>
          <a:stretch>
            <a:fillRect/>
          </a:stretch>
        </p:blipFill>
        <p:spPr>
          <a:xfrm>
            <a:off x="739712" y="1870938"/>
            <a:ext cx="7664582" cy="1401625"/>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sp>
        <p:nvSpPr>
          <p:cNvPr id="242" name="Google Shape;242;g26f55e7bfc3_0_16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solidFill>
                  <a:srgbClr val="424242"/>
                </a:solidFill>
                <a:latin typeface="Inter SemiBold"/>
                <a:ea typeface="Inter SemiBold"/>
                <a:cs typeface="Inter SemiBold"/>
                <a:sym typeface="Inter SemiBold"/>
              </a:rPr>
              <a:t>Power BI</a:t>
            </a:r>
            <a:endParaRPr>
              <a:solidFill>
                <a:srgbClr val="424242"/>
              </a:solidFill>
              <a:latin typeface="Inter SemiBold"/>
              <a:ea typeface="Inter SemiBold"/>
              <a:cs typeface="Inter SemiBold"/>
              <a:sym typeface="Inter SemiBold"/>
            </a:endParaRPr>
          </a:p>
          <a:p>
            <a:pPr indent="0" lvl="0" marL="0" rtl="0" algn="l">
              <a:lnSpc>
                <a:spcPct val="100000"/>
              </a:lnSpc>
              <a:spcBef>
                <a:spcPts val="0"/>
              </a:spcBef>
              <a:spcAft>
                <a:spcPts val="0"/>
              </a:spcAft>
              <a:buSzPct val="111111"/>
              <a:buNone/>
            </a:pPr>
            <a:r>
              <a:t/>
            </a:r>
            <a:endParaRPr/>
          </a:p>
        </p:txBody>
      </p:sp>
      <p:pic>
        <p:nvPicPr>
          <p:cNvPr id="243" name="Google Shape;243;g26f55e7bfc3_0_163"/>
          <p:cNvPicPr preferRelativeResize="0"/>
          <p:nvPr/>
        </p:nvPicPr>
        <p:blipFill rotWithShape="1">
          <a:blip r:embed="rId3">
            <a:alphaModFix/>
          </a:blip>
          <a:srcRect b="0" l="0" r="0" t="0"/>
          <a:stretch/>
        </p:blipFill>
        <p:spPr>
          <a:xfrm>
            <a:off x="458526" y="4459825"/>
            <a:ext cx="887050" cy="208450"/>
          </a:xfrm>
          <a:prstGeom prst="rect">
            <a:avLst/>
          </a:prstGeom>
          <a:noFill/>
          <a:ln>
            <a:noFill/>
          </a:ln>
        </p:spPr>
      </p:pic>
      <p:sp>
        <p:nvSpPr>
          <p:cNvPr id="244" name="Google Shape;244;g26f55e7bfc3_0_163"/>
          <p:cNvSpPr/>
          <p:nvPr/>
        </p:nvSpPr>
        <p:spPr>
          <a:xfrm>
            <a:off x="0" y="0"/>
            <a:ext cx="9144000" cy="295200"/>
          </a:xfrm>
          <a:prstGeom prst="rect">
            <a:avLst/>
          </a:prstGeom>
          <a:solidFill>
            <a:srgbClr val="DCF10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highlight>
                <a:srgbClr val="DCF10D"/>
              </a:highlight>
              <a:latin typeface="Arial"/>
              <a:ea typeface="Arial"/>
              <a:cs typeface="Arial"/>
              <a:sym typeface="Arial"/>
            </a:endParaRPr>
          </a:p>
        </p:txBody>
      </p:sp>
      <p:pic>
        <p:nvPicPr>
          <p:cNvPr id="245" name="Google Shape;245;g26f55e7bfc3_0_163"/>
          <p:cNvPicPr preferRelativeResize="0"/>
          <p:nvPr/>
        </p:nvPicPr>
        <p:blipFill>
          <a:blip r:embed="rId4">
            <a:alphaModFix/>
          </a:blip>
          <a:stretch>
            <a:fillRect/>
          </a:stretch>
        </p:blipFill>
        <p:spPr>
          <a:xfrm>
            <a:off x="947739" y="1167150"/>
            <a:ext cx="7248525" cy="3143250"/>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9" name="Shape 249"/>
        <p:cNvGrpSpPr/>
        <p:nvPr/>
      </p:nvGrpSpPr>
      <p:grpSpPr>
        <a:xfrm>
          <a:off x="0" y="0"/>
          <a:ext cx="0" cy="0"/>
          <a:chOff x="0" y="0"/>
          <a:chExt cx="0" cy="0"/>
        </a:xfrm>
      </p:grpSpPr>
      <p:sp>
        <p:nvSpPr>
          <p:cNvPr id="250" name="Google Shape;250;g26f55e7bfc3_0_17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solidFill>
                  <a:srgbClr val="424242"/>
                </a:solidFill>
                <a:latin typeface="Inter SemiBold"/>
                <a:ea typeface="Inter SemiBold"/>
                <a:cs typeface="Inter SemiBold"/>
                <a:sym typeface="Inter SemiBold"/>
              </a:rPr>
              <a:t>Power BI</a:t>
            </a:r>
            <a:endParaRPr>
              <a:solidFill>
                <a:srgbClr val="424242"/>
              </a:solidFill>
              <a:latin typeface="Inter SemiBold"/>
              <a:ea typeface="Inter SemiBold"/>
              <a:cs typeface="Inter SemiBold"/>
              <a:sym typeface="Inter SemiBold"/>
            </a:endParaRPr>
          </a:p>
          <a:p>
            <a:pPr indent="0" lvl="0" marL="0" rtl="0" algn="l">
              <a:lnSpc>
                <a:spcPct val="100000"/>
              </a:lnSpc>
              <a:spcBef>
                <a:spcPts val="0"/>
              </a:spcBef>
              <a:spcAft>
                <a:spcPts val="0"/>
              </a:spcAft>
              <a:buSzPct val="111111"/>
              <a:buNone/>
            </a:pPr>
            <a:r>
              <a:t/>
            </a:r>
            <a:endParaRPr/>
          </a:p>
        </p:txBody>
      </p:sp>
      <p:pic>
        <p:nvPicPr>
          <p:cNvPr id="251" name="Google Shape;251;g26f55e7bfc3_0_171"/>
          <p:cNvPicPr preferRelativeResize="0"/>
          <p:nvPr/>
        </p:nvPicPr>
        <p:blipFill rotWithShape="1">
          <a:blip r:embed="rId3">
            <a:alphaModFix/>
          </a:blip>
          <a:srcRect b="0" l="0" r="0" t="0"/>
          <a:stretch/>
        </p:blipFill>
        <p:spPr>
          <a:xfrm>
            <a:off x="458526" y="4459825"/>
            <a:ext cx="887050" cy="208450"/>
          </a:xfrm>
          <a:prstGeom prst="rect">
            <a:avLst/>
          </a:prstGeom>
          <a:noFill/>
          <a:ln>
            <a:noFill/>
          </a:ln>
        </p:spPr>
      </p:pic>
      <p:sp>
        <p:nvSpPr>
          <p:cNvPr id="252" name="Google Shape;252;g26f55e7bfc3_0_171"/>
          <p:cNvSpPr/>
          <p:nvPr/>
        </p:nvSpPr>
        <p:spPr>
          <a:xfrm>
            <a:off x="0" y="0"/>
            <a:ext cx="9144000" cy="295200"/>
          </a:xfrm>
          <a:prstGeom prst="rect">
            <a:avLst/>
          </a:prstGeom>
          <a:solidFill>
            <a:srgbClr val="DCF10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highlight>
                <a:srgbClr val="DCF10D"/>
              </a:highlight>
              <a:latin typeface="Arial"/>
              <a:ea typeface="Arial"/>
              <a:cs typeface="Arial"/>
              <a:sym typeface="Arial"/>
            </a:endParaRPr>
          </a:p>
        </p:txBody>
      </p:sp>
      <p:pic>
        <p:nvPicPr>
          <p:cNvPr id="253" name="Google Shape;253;g26f55e7bfc3_0_171"/>
          <p:cNvPicPr preferRelativeResize="0"/>
          <p:nvPr/>
        </p:nvPicPr>
        <p:blipFill>
          <a:blip r:embed="rId4">
            <a:alphaModFix/>
          </a:blip>
          <a:stretch>
            <a:fillRect/>
          </a:stretch>
        </p:blipFill>
        <p:spPr>
          <a:xfrm>
            <a:off x="942976" y="1171913"/>
            <a:ext cx="7258050" cy="3133725"/>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g26f55e7bfc3_0_12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solidFill>
                  <a:srgbClr val="424242"/>
                </a:solidFill>
                <a:latin typeface="Inter SemiBold"/>
                <a:ea typeface="Inter SemiBold"/>
                <a:cs typeface="Inter SemiBold"/>
                <a:sym typeface="Inter SemiBold"/>
              </a:rPr>
              <a:t>Power BI</a:t>
            </a:r>
            <a:endParaRPr>
              <a:solidFill>
                <a:srgbClr val="424242"/>
              </a:solidFill>
              <a:latin typeface="Inter SemiBold"/>
              <a:ea typeface="Inter SemiBold"/>
              <a:cs typeface="Inter SemiBold"/>
              <a:sym typeface="Inter SemiBold"/>
            </a:endParaRPr>
          </a:p>
          <a:p>
            <a:pPr indent="0" lvl="0" marL="0" rtl="0" algn="l">
              <a:lnSpc>
                <a:spcPct val="100000"/>
              </a:lnSpc>
              <a:spcBef>
                <a:spcPts val="0"/>
              </a:spcBef>
              <a:spcAft>
                <a:spcPts val="0"/>
              </a:spcAft>
              <a:buSzPct val="111111"/>
              <a:buNone/>
            </a:pPr>
            <a:r>
              <a:t/>
            </a:r>
            <a:endParaRPr/>
          </a:p>
        </p:txBody>
      </p:sp>
      <p:sp>
        <p:nvSpPr>
          <p:cNvPr id="259" name="Google Shape;259;g26f55e7bfc3_0_129"/>
          <p:cNvSpPr txBox="1"/>
          <p:nvPr>
            <p:ph idx="1" type="body"/>
          </p:nvPr>
        </p:nvSpPr>
        <p:spPr>
          <a:xfrm>
            <a:off x="311700" y="1152475"/>
            <a:ext cx="8520600" cy="33075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800"/>
              <a:buNone/>
            </a:pPr>
            <a:r>
              <a:rPr lang="en" sz="1400">
                <a:solidFill>
                  <a:srgbClr val="424242"/>
                </a:solidFill>
                <a:latin typeface="Inter SemiBold"/>
                <a:ea typeface="Inter SemiBold"/>
                <a:cs typeface="Inter SemiBold"/>
                <a:sym typeface="Inter SemiBold"/>
              </a:rPr>
              <a:t>Short conclusion:</a:t>
            </a:r>
            <a:endParaRPr sz="1400">
              <a:solidFill>
                <a:srgbClr val="424242"/>
              </a:solidFill>
              <a:latin typeface="Inter SemiBold"/>
              <a:ea typeface="Inter SemiBold"/>
              <a:cs typeface="Inter SemiBold"/>
              <a:sym typeface="Inter SemiBold"/>
            </a:endParaRPr>
          </a:p>
          <a:p>
            <a:pPr indent="0" lvl="0" marL="0" rtl="0" algn="l">
              <a:lnSpc>
                <a:spcPct val="115000"/>
              </a:lnSpc>
              <a:spcBef>
                <a:spcPts val="0"/>
              </a:spcBef>
              <a:spcAft>
                <a:spcPts val="0"/>
              </a:spcAft>
              <a:buSzPts val="1800"/>
              <a:buNone/>
            </a:pPr>
            <a:r>
              <a:t/>
            </a:r>
            <a:endParaRPr sz="1400">
              <a:solidFill>
                <a:srgbClr val="424242"/>
              </a:solidFill>
              <a:latin typeface="Inter SemiBold"/>
              <a:ea typeface="Inter SemiBold"/>
              <a:cs typeface="Inter SemiBold"/>
              <a:sym typeface="Inter SemiBold"/>
            </a:endParaRPr>
          </a:p>
          <a:p>
            <a:pPr indent="-317500" lvl="0" marL="457200" rtl="0" algn="l">
              <a:lnSpc>
                <a:spcPct val="100000"/>
              </a:lnSpc>
              <a:spcBef>
                <a:spcPts val="0"/>
              </a:spcBef>
              <a:spcAft>
                <a:spcPts val="0"/>
              </a:spcAft>
              <a:buClr>
                <a:srgbClr val="424242"/>
              </a:buClr>
              <a:buSzPts val="1400"/>
              <a:buFont typeface="Inter"/>
              <a:buChar char="●"/>
            </a:pPr>
            <a:r>
              <a:rPr lang="en" sz="1400">
                <a:solidFill>
                  <a:srgbClr val="424242"/>
                </a:solidFill>
                <a:latin typeface="Inter"/>
                <a:ea typeface="Inter"/>
                <a:cs typeface="Inter"/>
                <a:sym typeface="Inter"/>
              </a:rPr>
              <a:t>In general, most of the states with the highest health spending per person, regardless whether it’s average, min, or max, are in the Northeast Region of the United States (except Alaska and Hawaii).</a:t>
            </a:r>
            <a:endParaRPr sz="1400">
              <a:solidFill>
                <a:srgbClr val="424242"/>
              </a:solidFill>
              <a:latin typeface="Inter"/>
              <a:ea typeface="Inter"/>
              <a:cs typeface="Inter"/>
              <a:sym typeface="Inter"/>
            </a:endParaRPr>
          </a:p>
          <a:p>
            <a:pPr indent="-317500" lvl="0" marL="457200" rtl="0" algn="l">
              <a:lnSpc>
                <a:spcPct val="100000"/>
              </a:lnSpc>
              <a:spcBef>
                <a:spcPts val="0"/>
              </a:spcBef>
              <a:spcAft>
                <a:spcPts val="0"/>
              </a:spcAft>
              <a:buClr>
                <a:srgbClr val="424242"/>
              </a:buClr>
              <a:buSzPts val="1400"/>
              <a:buFont typeface="Inter"/>
              <a:buChar char="●"/>
            </a:pPr>
            <a:r>
              <a:rPr lang="en" sz="1400">
                <a:solidFill>
                  <a:srgbClr val="424242"/>
                </a:solidFill>
                <a:latin typeface="Inter"/>
                <a:ea typeface="Inter"/>
                <a:cs typeface="Inter"/>
                <a:sym typeface="Inter"/>
              </a:rPr>
              <a:t>Property Price is negatively correlated with Average Competitor Profit.</a:t>
            </a:r>
            <a:endParaRPr sz="1400">
              <a:solidFill>
                <a:srgbClr val="424242"/>
              </a:solidFill>
              <a:latin typeface="Inter"/>
              <a:ea typeface="Inter"/>
              <a:cs typeface="Inter"/>
              <a:sym typeface="Inter"/>
            </a:endParaRPr>
          </a:p>
          <a:p>
            <a:pPr indent="-317500" lvl="0" marL="457200" rtl="0" algn="l">
              <a:lnSpc>
                <a:spcPct val="100000"/>
              </a:lnSpc>
              <a:spcBef>
                <a:spcPts val="0"/>
              </a:spcBef>
              <a:spcAft>
                <a:spcPts val="0"/>
              </a:spcAft>
              <a:buClr>
                <a:srgbClr val="424242"/>
              </a:buClr>
              <a:buSzPts val="1400"/>
              <a:buFont typeface="Inter"/>
              <a:buChar char="●"/>
            </a:pPr>
            <a:r>
              <a:rPr lang="en" sz="1400">
                <a:solidFill>
                  <a:srgbClr val="424242"/>
                </a:solidFill>
                <a:latin typeface="Inter"/>
                <a:ea typeface="Inter"/>
                <a:cs typeface="Inter"/>
                <a:sym typeface="Inter"/>
              </a:rPr>
              <a:t>Except for New York and Florida, most of the Average Competitor Cost is for Research and Development. In the case of New York and Florida, much of it is for Marketing.</a:t>
            </a:r>
            <a:endParaRPr sz="1400">
              <a:solidFill>
                <a:srgbClr val="424242"/>
              </a:solidFill>
              <a:latin typeface="Inter"/>
              <a:ea typeface="Inter"/>
              <a:cs typeface="Inter"/>
              <a:sym typeface="Inter"/>
            </a:endParaRPr>
          </a:p>
          <a:p>
            <a:pPr indent="0" lvl="0" marL="457200" rtl="0" algn="l">
              <a:lnSpc>
                <a:spcPct val="115000"/>
              </a:lnSpc>
              <a:spcBef>
                <a:spcPts val="0"/>
              </a:spcBef>
              <a:spcAft>
                <a:spcPts val="1200"/>
              </a:spcAft>
              <a:buSzPts val="1800"/>
              <a:buNone/>
            </a:pPr>
            <a:r>
              <a:t/>
            </a:r>
            <a:endParaRPr/>
          </a:p>
        </p:txBody>
      </p:sp>
      <p:pic>
        <p:nvPicPr>
          <p:cNvPr id="260" name="Google Shape;260;g26f55e7bfc3_0_129"/>
          <p:cNvPicPr preferRelativeResize="0"/>
          <p:nvPr/>
        </p:nvPicPr>
        <p:blipFill rotWithShape="1">
          <a:blip r:embed="rId3">
            <a:alphaModFix/>
          </a:blip>
          <a:srcRect b="0" l="0" r="0" t="0"/>
          <a:stretch/>
        </p:blipFill>
        <p:spPr>
          <a:xfrm>
            <a:off x="458526" y="4459825"/>
            <a:ext cx="887050" cy="208450"/>
          </a:xfrm>
          <a:prstGeom prst="rect">
            <a:avLst/>
          </a:prstGeom>
          <a:noFill/>
          <a:ln>
            <a:noFill/>
          </a:ln>
        </p:spPr>
      </p:pic>
      <p:sp>
        <p:nvSpPr>
          <p:cNvPr id="261" name="Google Shape;261;g26f55e7bfc3_0_129"/>
          <p:cNvSpPr/>
          <p:nvPr/>
        </p:nvSpPr>
        <p:spPr>
          <a:xfrm>
            <a:off x="0" y="0"/>
            <a:ext cx="9144000" cy="295200"/>
          </a:xfrm>
          <a:prstGeom prst="rect">
            <a:avLst/>
          </a:prstGeom>
          <a:solidFill>
            <a:srgbClr val="DCF10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highlight>
                <a:srgbClr val="DCF10D"/>
              </a:highlight>
              <a:latin typeface="Arial"/>
              <a:ea typeface="Arial"/>
              <a:cs typeface="Arial"/>
              <a:sym typeface="Arial"/>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5" name="Shape 265"/>
        <p:cNvGrpSpPr/>
        <p:nvPr/>
      </p:nvGrpSpPr>
      <p:grpSpPr>
        <a:xfrm>
          <a:off x="0" y="0"/>
          <a:ext cx="0" cy="0"/>
          <a:chOff x="0" y="0"/>
          <a:chExt cx="0" cy="0"/>
        </a:xfrm>
      </p:grpSpPr>
      <p:sp>
        <p:nvSpPr>
          <p:cNvPr id="266" name="Google Shape;266;p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solidFill>
                  <a:srgbClr val="424242"/>
                </a:solidFill>
                <a:latin typeface="Inter SemiBold"/>
                <a:ea typeface="Inter SemiBold"/>
                <a:cs typeface="Inter SemiBold"/>
                <a:sym typeface="Inter SemiBold"/>
              </a:rPr>
              <a:t>Python</a:t>
            </a:r>
            <a:endParaRPr>
              <a:solidFill>
                <a:srgbClr val="424242"/>
              </a:solidFill>
              <a:latin typeface="Inter SemiBold"/>
              <a:ea typeface="Inter SemiBold"/>
              <a:cs typeface="Inter SemiBold"/>
              <a:sym typeface="Inter SemiBold"/>
            </a:endParaRPr>
          </a:p>
          <a:p>
            <a:pPr indent="0" lvl="0" marL="0" rtl="0" algn="l">
              <a:lnSpc>
                <a:spcPct val="100000"/>
              </a:lnSpc>
              <a:spcBef>
                <a:spcPts val="0"/>
              </a:spcBef>
              <a:spcAft>
                <a:spcPts val="0"/>
              </a:spcAft>
              <a:buSzPct val="111111"/>
              <a:buNone/>
            </a:pPr>
            <a:r>
              <a:t/>
            </a:r>
            <a:endParaRPr/>
          </a:p>
        </p:txBody>
      </p:sp>
      <p:pic>
        <p:nvPicPr>
          <p:cNvPr id="267" name="Google Shape;267;p7"/>
          <p:cNvPicPr preferRelativeResize="0"/>
          <p:nvPr/>
        </p:nvPicPr>
        <p:blipFill rotWithShape="1">
          <a:blip r:embed="rId3">
            <a:alphaModFix/>
          </a:blip>
          <a:srcRect b="0" l="0" r="0" t="0"/>
          <a:stretch/>
        </p:blipFill>
        <p:spPr>
          <a:xfrm>
            <a:off x="458526" y="4459825"/>
            <a:ext cx="887050" cy="208450"/>
          </a:xfrm>
          <a:prstGeom prst="rect">
            <a:avLst/>
          </a:prstGeom>
          <a:noFill/>
          <a:ln>
            <a:noFill/>
          </a:ln>
        </p:spPr>
      </p:pic>
      <p:sp>
        <p:nvSpPr>
          <p:cNvPr id="268" name="Google Shape;268;p7"/>
          <p:cNvSpPr/>
          <p:nvPr/>
        </p:nvSpPr>
        <p:spPr>
          <a:xfrm>
            <a:off x="0" y="0"/>
            <a:ext cx="9144000" cy="295200"/>
          </a:xfrm>
          <a:prstGeom prst="rect">
            <a:avLst/>
          </a:prstGeom>
          <a:solidFill>
            <a:srgbClr val="DCF10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highlight>
                <a:srgbClr val="DCF10D"/>
              </a:highlight>
              <a:latin typeface="Arial"/>
              <a:ea typeface="Arial"/>
              <a:cs typeface="Arial"/>
              <a:sym typeface="Arial"/>
            </a:endParaRPr>
          </a:p>
        </p:txBody>
      </p:sp>
      <p:pic>
        <p:nvPicPr>
          <p:cNvPr id="269" name="Google Shape;269;p7" title="Screenshot 2024-04-30 110113.png"/>
          <p:cNvPicPr preferRelativeResize="0"/>
          <p:nvPr/>
        </p:nvPicPr>
        <p:blipFill>
          <a:blip r:embed="rId4">
            <a:alphaModFix/>
          </a:blip>
          <a:stretch>
            <a:fillRect/>
          </a:stretch>
        </p:blipFill>
        <p:spPr>
          <a:xfrm>
            <a:off x="3173112" y="1713025"/>
            <a:ext cx="2797775" cy="1717450"/>
          </a:xfrm>
          <a:prstGeom prst="rect">
            <a:avLst/>
          </a:prstGeom>
          <a:noFill/>
          <a:ln>
            <a:noFill/>
          </a:ln>
        </p:spPr>
      </p:pic>
      <p:pic>
        <p:nvPicPr>
          <p:cNvPr id="270" name="Google Shape;270;p7" title="Screenshot 2024-04-30 110137.png"/>
          <p:cNvPicPr preferRelativeResize="0"/>
          <p:nvPr/>
        </p:nvPicPr>
        <p:blipFill>
          <a:blip r:embed="rId5">
            <a:alphaModFix/>
          </a:blip>
          <a:stretch>
            <a:fillRect/>
          </a:stretch>
        </p:blipFill>
        <p:spPr>
          <a:xfrm>
            <a:off x="6034525" y="1718425"/>
            <a:ext cx="2797775" cy="1706643"/>
          </a:xfrm>
          <a:prstGeom prst="rect">
            <a:avLst/>
          </a:prstGeom>
          <a:noFill/>
          <a:ln>
            <a:noFill/>
          </a:ln>
        </p:spPr>
      </p:pic>
      <p:pic>
        <p:nvPicPr>
          <p:cNvPr id="271" name="Google Shape;271;p7" title="Screenshot 2024-04-30 110157.png"/>
          <p:cNvPicPr preferRelativeResize="0"/>
          <p:nvPr/>
        </p:nvPicPr>
        <p:blipFill>
          <a:blip r:embed="rId6">
            <a:alphaModFix/>
          </a:blip>
          <a:stretch>
            <a:fillRect/>
          </a:stretch>
        </p:blipFill>
        <p:spPr>
          <a:xfrm>
            <a:off x="311675" y="1233100"/>
            <a:ext cx="2797775" cy="2677296"/>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5" name="Shape 275"/>
        <p:cNvGrpSpPr/>
        <p:nvPr/>
      </p:nvGrpSpPr>
      <p:grpSpPr>
        <a:xfrm>
          <a:off x="0" y="0"/>
          <a:ext cx="0" cy="0"/>
          <a:chOff x="0" y="0"/>
          <a:chExt cx="0" cy="0"/>
        </a:xfrm>
      </p:grpSpPr>
      <p:sp>
        <p:nvSpPr>
          <p:cNvPr id="276" name="Google Shape;276;g26f76466bc4_0_1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solidFill>
                  <a:srgbClr val="424242"/>
                </a:solidFill>
                <a:latin typeface="Inter SemiBold"/>
                <a:ea typeface="Inter SemiBold"/>
                <a:cs typeface="Inter SemiBold"/>
                <a:sym typeface="Inter SemiBold"/>
              </a:rPr>
              <a:t>Python</a:t>
            </a:r>
            <a:endParaRPr>
              <a:solidFill>
                <a:srgbClr val="424242"/>
              </a:solidFill>
              <a:latin typeface="Inter SemiBold"/>
              <a:ea typeface="Inter SemiBold"/>
              <a:cs typeface="Inter SemiBold"/>
              <a:sym typeface="Inter SemiBold"/>
            </a:endParaRPr>
          </a:p>
          <a:p>
            <a:pPr indent="0" lvl="0" marL="0" rtl="0" algn="l">
              <a:lnSpc>
                <a:spcPct val="100000"/>
              </a:lnSpc>
              <a:spcBef>
                <a:spcPts val="0"/>
              </a:spcBef>
              <a:spcAft>
                <a:spcPts val="0"/>
              </a:spcAft>
              <a:buSzPct val="111111"/>
              <a:buNone/>
            </a:pPr>
            <a:r>
              <a:t/>
            </a:r>
            <a:endParaRPr/>
          </a:p>
        </p:txBody>
      </p:sp>
      <p:pic>
        <p:nvPicPr>
          <p:cNvPr id="277" name="Google Shape;277;g26f76466bc4_0_13"/>
          <p:cNvPicPr preferRelativeResize="0"/>
          <p:nvPr/>
        </p:nvPicPr>
        <p:blipFill rotWithShape="1">
          <a:blip r:embed="rId3">
            <a:alphaModFix/>
          </a:blip>
          <a:srcRect b="0" l="0" r="0" t="0"/>
          <a:stretch/>
        </p:blipFill>
        <p:spPr>
          <a:xfrm>
            <a:off x="458526" y="4459825"/>
            <a:ext cx="887050" cy="208450"/>
          </a:xfrm>
          <a:prstGeom prst="rect">
            <a:avLst/>
          </a:prstGeom>
          <a:noFill/>
          <a:ln>
            <a:noFill/>
          </a:ln>
        </p:spPr>
      </p:pic>
      <p:sp>
        <p:nvSpPr>
          <p:cNvPr id="278" name="Google Shape;278;g26f76466bc4_0_13"/>
          <p:cNvSpPr/>
          <p:nvPr/>
        </p:nvSpPr>
        <p:spPr>
          <a:xfrm>
            <a:off x="0" y="0"/>
            <a:ext cx="9144000" cy="295200"/>
          </a:xfrm>
          <a:prstGeom prst="rect">
            <a:avLst/>
          </a:prstGeom>
          <a:solidFill>
            <a:srgbClr val="DCF10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highlight>
                <a:srgbClr val="DCF10D"/>
              </a:highlight>
              <a:latin typeface="Arial"/>
              <a:ea typeface="Arial"/>
              <a:cs typeface="Arial"/>
              <a:sym typeface="Arial"/>
            </a:endParaRPr>
          </a:p>
        </p:txBody>
      </p:sp>
      <p:pic>
        <p:nvPicPr>
          <p:cNvPr id="279" name="Google Shape;279;g26f76466bc4_0_13" title="Health Spending per State.png"/>
          <p:cNvPicPr preferRelativeResize="0"/>
          <p:nvPr/>
        </p:nvPicPr>
        <p:blipFill>
          <a:blip r:embed="rId4">
            <a:alphaModFix/>
          </a:blip>
          <a:stretch>
            <a:fillRect/>
          </a:stretch>
        </p:blipFill>
        <p:spPr>
          <a:xfrm>
            <a:off x="3336137" y="445025"/>
            <a:ext cx="2471726" cy="4411524"/>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3" name="Shape 283"/>
        <p:cNvGrpSpPr/>
        <p:nvPr/>
      </p:nvGrpSpPr>
      <p:grpSpPr>
        <a:xfrm>
          <a:off x="0" y="0"/>
          <a:ext cx="0" cy="0"/>
          <a:chOff x="0" y="0"/>
          <a:chExt cx="0" cy="0"/>
        </a:xfrm>
      </p:grpSpPr>
      <p:sp>
        <p:nvSpPr>
          <p:cNvPr id="284" name="Google Shape;284;g26f76466bc4_0_2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solidFill>
                  <a:srgbClr val="424242"/>
                </a:solidFill>
                <a:latin typeface="Inter SemiBold"/>
                <a:ea typeface="Inter SemiBold"/>
                <a:cs typeface="Inter SemiBold"/>
                <a:sym typeface="Inter SemiBold"/>
              </a:rPr>
              <a:t>Python</a:t>
            </a:r>
            <a:endParaRPr>
              <a:solidFill>
                <a:srgbClr val="424242"/>
              </a:solidFill>
              <a:latin typeface="Inter SemiBold"/>
              <a:ea typeface="Inter SemiBold"/>
              <a:cs typeface="Inter SemiBold"/>
              <a:sym typeface="Inter SemiBold"/>
            </a:endParaRPr>
          </a:p>
          <a:p>
            <a:pPr indent="0" lvl="0" marL="0" rtl="0" algn="l">
              <a:lnSpc>
                <a:spcPct val="100000"/>
              </a:lnSpc>
              <a:spcBef>
                <a:spcPts val="0"/>
              </a:spcBef>
              <a:spcAft>
                <a:spcPts val="0"/>
              </a:spcAft>
              <a:buSzPct val="111111"/>
              <a:buNone/>
            </a:pPr>
            <a:r>
              <a:t/>
            </a:r>
            <a:endParaRPr/>
          </a:p>
        </p:txBody>
      </p:sp>
      <p:pic>
        <p:nvPicPr>
          <p:cNvPr id="285" name="Google Shape;285;g26f76466bc4_0_23"/>
          <p:cNvPicPr preferRelativeResize="0"/>
          <p:nvPr/>
        </p:nvPicPr>
        <p:blipFill rotWithShape="1">
          <a:blip r:embed="rId3">
            <a:alphaModFix/>
          </a:blip>
          <a:srcRect b="0" l="0" r="0" t="0"/>
          <a:stretch/>
        </p:blipFill>
        <p:spPr>
          <a:xfrm>
            <a:off x="458526" y="4459825"/>
            <a:ext cx="887050" cy="208450"/>
          </a:xfrm>
          <a:prstGeom prst="rect">
            <a:avLst/>
          </a:prstGeom>
          <a:noFill/>
          <a:ln>
            <a:noFill/>
          </a:ln>
        </p:spPr>
      </p:pic>
      <p:sp>
        <p:nvSpPr>
          <p:cNvPr id="286" name="Google Shape;286;g26f76466bc4_0_23"/>
          <p:cNvSpPr/>
          <p:nvPr/>
        </p:nvSpPr>
        <p:spPr>
          <a:xfrm>
            <a:off x="0" y="0"/>
            <a:ext cx="9144000" cy="295200"/>
          </a:xfrm>
          <a:prstGeom prst="rect">
            <a:avLst/>
          </a:prstGeom>
          <a:solidFill>
            <a:srgbClr val="DCF10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highlight>
                <a:srgbClr val="DCF10D"/>
              </a:highlight>
              <a:latin typeface="Arial"/>
              <a:ea typeface="Arial"/>
              <a:cs typeface="Arial"/>
              <a:sym typeface="Arial"/>
            </a:endParaRPr>
          </a:p>
        </p:txBody>
      </p:sp>
      <p:pic>
        <p:nvPicPr>
          <p:cNvPr id="287" name="Google Shape;287;g26f76466bc4_0_23"/>
          <p:cNvPicPr preferRelativeResize="0"/>
          <p:nvPr/>
        </p:nvPicPr>
        <p:blipFill>
          <a:blip r:embed="rId4">
            <a:alphaModFix/>
          </a:blip>
          <a:stretch>
            <a:fillRect/>
          </a:stretch>
        </p:blipFill>
        <p:spPr>
          <a:xfrm>
            <a:off x="152400" y="1695400"/>
            <a:ext cx="8839201" cy="1752693"/>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1" name="Shape 291"/>
        <p:cNvGrpSpPr/>
        <p:nvPr/>
      </p:nvGrpSpPr>
      <p:grpSpPr>
        <a:xfrm>
          <a:off x="0" y="0"/>
          <a:ext cx="0" cy="0"/>
          <a:chOff x="0" y="0"/>
          <a:chExt cx="0" cy="0"/>
        </a:xfrm>
      </p:grpSpPr>
      <p:sp>
        <p:nvSpPr>
          <p:cNvPr id="292" name="Google Shape;292;g26f76466bc4_0_3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solidFill>
                  <a:srgbClr val="424242"/>
                </a:solidFill>
                <a:latin typeface="Inter SemiBold"/>
                <a:ea typeface="Inter SemiBold"/>
                <a:cs typeface="Inter SemiBold"/>
                <a:sym typeface="Inter SemiBold"/>
              </a:rPr>
              <a:t>Python</a:t>
            </a:r>
            <a:endParaRPr>
              <a:solidFill>
                <a:srgbClr val="424242"/>
              </a:solidFill>
              <a:latin typeface="Inter SemiBold"/>
              <a:ea typeface="Inter SemiBold"/>
              <a:cs typeface="Inter SemiBold"/>
              <a:sym typeface="Inter SemiBold"/>
            </a:endParaRPr>
          </a:p>
          <a:p>
            <a:pPr indent="0" lvl="0" marL="0" rtl="0" algn="l">
              <a:lnSpc>
                <a:spcPct val="100000"/>
              </a:lnSpc>
              <a:spcBef>
                <a:spcPts val="0"/>
              </a:spcBef>
              <a:spcAft>
                <a:spcPts val="0"/>
              </a:spcAft>
              <a:buSzPct val="111111"/>
              <a:buNone/>
            </a:pPr>
            <a:r>
              <a:t/>
            </a:r>
            <a:endParaRPr/>
          </a:p>
        </p:txBody>
      </p:sp>
      <p:pic>
        <p:nvPicPr>
          <p:cNvPr id="293" name="Google Shape;293;g26f76466bc4_0_31"/>
          <p:cNvPicPr preferRelativeResize="0"/>
          <p:nvPr/>
        </p:nvPicPr>
        <p:blipFill rotWithShape="1">
          <a:blip r:embed="rId3">
            <a:alphaModFix/>
          </a:blip>
          <a:srcRect b="0" l="0" r="0" t="0"/>
          <a:stretch/>
        </p:blipFill>
        <p:spPr>
          <a:xfrm>
            <a:off x="458526" y="4459825"/>
            <a:ext cx="887050" cy="208450"/>
          </a:xfrm>
          <a:prstGeom prst="rect">
            <a:avLst/>
          </a:prstGeom>
          <a:noFill/>
          <a:ln>
            <a:noFill/>
          </a:ln>
        </p:spPr>
      </p:pic>
      <p:sp>
        <p:nvSpPr>
          <p:cNvPr id="294" name="Google Shape;294;g26f76466bc4_0_31"/>
          <p:cNvSpPr/>
          <p:nvPr/>
        </p:nvSpPr>
        <p:spPr>
          <a:xfrm>
            <a:off x="0" y="0"/>
            <a:ext cx="9144000" cy="295200"/>
          </a:xfrm>
          <a:prstGeom prst="rect">
            <a:avLst/>
          </a:prstGeom>
          <a:solidFill>
            <a:srgbClr val="DCF10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highlight>
                <a:srgbClr val="DCF10D"/>
              </a:highlight>
              <a:latin typeface="Arial"/>
              <a:ea typeface="Arial"/>
              <a:cs typeface="Arial"/>
              <a:sym typeface="Arial"/>
            </a:endParaRPr>
          </a:p>
        </p:txBody>
      </p:sp>
      <p:pic>
        <p:nvPicPr>
          <p:cNvPr id="295" name="Google Shape;295;g26f76466bc4_0_31"/>
          <p:cNvPicPr preferRelativeResize="0"/>
          <p:nvPr/>
        </p:nvPicPr>
        <p:blipFill>
          <a:blip r:embed="rId4">
            <a:alphaModFix/>
          </a:blip>
          <a:stretch>
            <a:fillRect/>
          </a:stretch>
        </p:blipFill>
        <p:spPr>
          <a:xfrm>
            <a:off x="1678963" y="1017725"/>
            <a:ext cx="5786072" cy="3289700"/>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9" name="Shape 299"/>
        <p:cNvGrpSpPr/>
        <p:nvPr/>
      </p:nvGrpSpPr>
      <p:grpSpPr>
        <a:xfrm>
          <a:off x="0" y="0"/>
          <a:ext cx="0" cy="0"/>
          <a:chOff x="0" y="0"/>
          <a:chExt cx="0" cy="0"/>
        </a:xfrm>
      </p:grpSpPr>
      <p:sp>
        <p:nvSpPr>
          <p:cNvPr id="300" name="Google Shape;300;g2cfb6489d96_0_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solidFill>
                  <a:srgbClr val="424242"/>
                </a:solidFill>
                <a:latin typeface="Inter SemiBold"/>
                <a:ea typeface="Inter SemiBold"/>
                <a:cs typeface="Inter SemiBold"/>
                <a:sym typeface="Inter SemiBold"/>
              </a:rPr>
              <a:t>Python</a:t>
            </a:r>
            <a:endParaRPr>
              <a:solidFill>
                <a:srgbClr val="424242"/>
              </a:solidFill>
              <a:latin typeface="Inter SemiBold"/>
              <a:ea typeface="Inter SemiBold"/>
              <a:cs typeface="Inter SemiBold"/>
              <a:sym typeface="Inter SemiBold"/>
            </a:endParaRPr>
          </a:p>
          <a:p>
            <a:pPr indent="0" lvl="0" marL="0" rtl="0" algn="l">
              <a:lnSpc>
                <a:spcPct val="100000"/>
              </a:lnSpc>
              <a:spcBef>
                <a:spcPts val="0"/>
              </a:spcBef>
              <a:spcAft>
                <a:spcPts val="0"/>
              </a:spcAft>
              <a:buSzPct val="111111"/>
              <a:buNone/>
            </a:pPr>
            <a:r>
              <a:t/>
            </a:r>
            <a:endParaRPr/>
          </a:p>
        </p:txBody>
      </p:sp>
      <p:pic>
        <p:nvPicPr>
          <p:cNvPr id="301" name="Google Shape;301;g2cfb6489d96_0_0"/>
          <p:cNvPicPr preferRelativeResize="0"/>
          <p:nvPr/>
        </p:nvPicPr>
        <p:blipFill rotWithShape="1">
          <a:blip r:embed="rId3">
            <a:alphaModFix/>
          </a:blip>
          <a:srcRect b="0" l="0" r="0" t="0"/>
          <a:stretch/>
        </p:blipFill>
        <p:spPr>
          <a:xfrm>
            <a:off x="458526" y="4459825"/>
            <a:ext cx="887050" cy="208450"/>
          </a:xfrm>
          <a:prstGeom prst="rect">
            <a:avLst/>
          </a:prstGeom>
          <a:noFill/>
          <a:ln>
            <a:noFill/>
          </a:ln>
        </p:spPr>
      </p:pic>
      <p:sp>
        <p:nvSpPr>
          <p:cNvPr id="302" name="Google Shape;302;g2cfb6489d96_0_0"/>
          <p:cNvSpPr/>
          <p:nvPr/>
        </p:nvSpPr>
        <p:spPr>
          <a:xfrm>
            <a:off x="0" y="0"/>
            <a:ext cx="9144000" cy="295200"/>
          </a:xfrm>
          <a:prstGeom prst="rect">
            <a:avLst/>
          </a:prstGeom>
          <a:solidFill>
            <a:srgbClr val="DCF10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highlight>
                <a:srgbClr val="DCF10D"/>
              </a:highlight>
              <a:latin typeface="Arial"/>
              <a:ea typeface="Arial"/>
              <a:cs typeface="Arial"/>
              <a:sym typeface="Arial"/>
            </a:endParaRPr>
          </a:p>
        </p:txBody>
      </p:sp>
      <p:pic>
        <p:nvPicPr>
          <p:cNvPr id="303" name="Google Shape;303;g2cfb6489d96_0_0"/>
          <p:cNvPicPr preferRelativeResize="0"/>
          <p:nvPr/>
        </p:nvPicPr>
        <p:blipFill>
          <a:blip r:embed="rId4">
            <a:alphaModFix/>
          </a:blip>
          <a:stretch>
            <a:fillRect/>
          </a:stretch>
        </p:blipFill>
        <p:spPr>
          <a:xfrm>
            <a:off x="2037660" y="926925"/>
            <a:ext cx="2534339" cy="1843150"/>
          </a:xfrm>
          <a:prstGeom prst="rect">
            <a:avLst/>
          </a:prstGeom>
          <a:noFill/>
          <a:ln>
            <a:noFill/>
          </a:ln>
        </p:spPr>
      </p:pic>
      <p:pic>
        <p:nvPicPr>
          <p:cNvPr id="304" name="Google Shape;304;g2cfb6489d96_0_0"/>
          <p:cNvPicPr preferRelativeResize="0"/>
          <p:nvPr/>
        </p:nvPicPr>
        <p:blipFill>
          <a:blip r:embed="rId5">
            <a:alphaModFix/>
          </a:blip>
          <a:stretch>
            <a:fillRect/>
          </a:stretch>
        </p:blipFill>
        <p:spPr>
          <a:xfrm>
            <a:off x="4572000" y="935377"/>
            <a:ext cx="2534350" cy="1826235"/>
          </a:xfrm>
          <a:prstGeom prst="rect">
            <a:avLst/>
          </a:prstGeom>
          <a:noFill/>
          <a:ln>
            <a:noFill/>
          </a:ln>
        </p:spPr>
      </p:pic>
      <p:pic>
        <p:nvPicPr>
          <p:cNvPr id="305" name="Google Shape;305;g2cfb6489d96_0_0"/>
          <p:cNvPicPr preferRelativeResize="0"/>
          <p:nvPr/>
        </p:nvPicPr>
        <p:blipFill>
          <a:blip r:embed="rId6">
            <a:alphaModFix/>
          </a:blip>
          <a:stretch>
            <a:fillRect/>
          </a:stretch>
        </p:blipFill>
        <p:spPr>
          <a:xfrm>
            <a:off x="3293079" y="2825125"/>
            <a:ext cx="2557846" cy="1843150"/>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9" name="Shape 309"/>
        <p:cNvGrpSpPr/>
        <p:nvPr/>
      </p:nvGrpSpPr>
      <p:grpSpPr>
        <a:xfrm>
          <a:off x="0" y="0"/>
          <a:ext cx="0" cy="0"/>
          <a:chOff x="0" y="0"/>
          <a:chExt cx="0" cy="0"/>
        </a:xfrm>
      </p:grpSpPr>
      <p:sp>
        <p:nvSpPr>
          <p:cNvPr id="310" name="Google Shape;310;g2cfb6489d96_0_1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solidFill>
                  <a:srgbClr val="424242"/>
                </a:solidFill>
                <a:latin typeface="Inter SemiBold"/>
                <a:ea typeface="Inter SemiBold"/>
                <a:cs typeface="Inter SemiBold"/>
                <a:sym typeface="Inter SemiBold"/>
              </a:rPr>
              <a:t>Python</a:t>
            </a:r>
            <a:endParaRPr>
              <a:solidFill>
                <a:srgbClr val="424242"/>
              </a:solidFill>
              <a:latin typeface="Inter SemiBold"/>
              <a:ea typeface="Inter SemiBold"/>
              <a:cs typeface="Inter SemiBold"/>
              <a:sym typeface="Inter SemiBold"/>
            </a:endParaRPr>
          </a:p>
          <a:p>
            <a:pPr indent="0" lvl="0" marL="0" rtl="0" algn="l">
              <a:lnSpc>
                <a:spcPct val="100000"/>
              </a:lnSpc>
              <a:spcBef>
                <a:spcPts val="0"/>
              </a:spcBef>
              <a:spcAft>
                <a:spcPts val="0"/>
              </a:spcAft>
              <a:buSzPct val="111111"/>
              <a:buNone/>
            </a:pPr>
            <a:r>
              <a:t/>
            </a:r>
            <a:endParaRPr/>
          </a:p>
        </p:txBody>
      </p:sp>
      <p:pic>
        <p:nvPicPr>
          <p:cNvPr id="311" name="Google Shape;311;g2cfb6489d96_0_10"/>
          <p:cNvPicPr preferRelativeResize="0"/>
          <p:nvPr/>
        </p:nvPicPr>
        <p:blipFill rotWithShape="1">
          <a:blip r:embed="rId3">
            <a:alphaModFix/>
          </a:blip>
          <a:srcRect b="0" l="0" r="0" t="0"/>
          <a:stretch/>
        </p:blipFill>
        <p:spPr>
          <a:xfrm>
            <a:off x="458526" y="4459825"/>
            <a:ext cx="887050" cy="208450"/>
          </a:xfrm>
          <a:prstGeom prst="rect">
            <a:avLst/>
          </a:prstGeom>
          <a:noFill/>
          <a:ln>
            <a:noFill/>
          </a:ln>
        </p:spPr>
      </p:pic>
      <p:sp>
        <p:nvSpPr>
          <p:cNvPr id="312" name="Google Shape;312;g2cfb6489d96_0_10"/>
          <p:cNvSpPr/>
          <p:nvPr/>
        </p:nvSpPr>
        <p:spPr>
          <a:xfrm>
            <a:off x="0" y="0"/>
            <a:ext cx="9144000" cy="295200"/>
          </a:xfrm>
          <a:prstGeom prst="rect">
            <a:avLst/>
          </a:prstGeom>
          <a:solidFill>
            <a:srgbClr val="DCF10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highlight>
                <a:srgbClr val="DCF10D"/>
              </a:highlight>
              <a:latin typeface="Arial"/>
              <a:ea typeface="Arial"/>
              <a:cs typeface="Arial"/>
              <a:sym typeface="Arial"/>
            </a:endParaRPr>
          </a:p>
        </p:txBody>
      </p:sp>
      <p:pic>
        <p:nvPicPr>
          <p:cNvPr id="313" name="Google Shape;313;g2cfb6489d96_0_10"/>
          <p:cNvPicPr preferRelativeResize="0"/>
          <p:nvPr/>
        </p:nvPicPr>
        <p:blipFill>
          <a:blip r:embed="rId4">
            <a:alphaModFix/>
          </a:blip>
          <a:stretch>
            <a:fillRect/>
          </a:stretch>
        </p:blipFill>
        <p:spPr>
          <a:xfrm>
            <a:off x="867351" y="1023688"/>
            <a:ext cx="2036425" cy="3096125"/>
          </a:xfrm>
          <a:prstGeom prst="rect">
            <a:avLst/>
          </a:prstGeom>
          <a:noFill/>
          <a:ln>
            <a:noFill/>
          </a:ln>
        </p:spPr>
      </p:pic>
      <p:pic>
        <p:nvPicPr>
          <p:cNvPr id="314" name="Google Shape;314;g2cfb6489d96_0_10"/>
          <p:cNvPicPr preferRelativeResize="0"/>
          <p:nvPr/>
        </p:nvPicPr>
        <p:blipFill>
          <a:blip r:embed="rId5">
            <a:alphaModFix/>
          </a:blip>
          <a:stretch>
            <a:fillRect/>
          </a:stretch>
        </p:blipFill>
        <p:spPr>
          <a:xfrm>
            <a:off x="5995583" y="1012088"/>
            <a:ext cx="2392792" cy="3096100"/>
          </a:xfrm>
          <a:prstGeom prst="rect">
            <a:avLst/>
          </a:prstGeom>
          <a:noFill/>
          <a:ln>
            <a:noFill/>
          </a:ln>
        </p:spPr>
      </p:pic>
      <p:pic>
        <p:nvPicPr>
          <p:cNvPr id="315" name="Google Shape;315;g2cfb6489d96_0_10"/>
          <p:cNvPicPr preferRelativeResize="0"/>
          <p:nvPr/>
        </p:nvPicPr>
        <p:blipFill>
          <a:blip r:embed="rId6">
            <a:alphaModFix/>
          </a:blip>
          <a:stretch>
            <a:fillRect/>
          </a:stretch>
        </p:blipFill>
        <p:spPr>
          <a:xfrm>
            <a:off x="3155488" y="907500"/>
            <a:ext cx="2588375" cy="3305299"/>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9" name="Shape 319"/>
        <p:cNvGrpSpPr/>
        <p:nvPr/>
      </p:nvGrpSpPr>
      <p:grpSpPr>
        <a:xfrm>
          <a:off x="0" y="0"/>
          <a:ext cx="0" cy="0"/>
          <a:chOff x="0" y="0"/>
          <a:chExt cx="0" cy="0"/>
        </a:xfrm>
      </p:grpSpPr>
      <p:sp>
        <p:nvSpPr>
          <p:cNvPr id="320" name="Google Shape;320;g2cfb6489d96_0_3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solidFill>
                  <a:srgbClr val="424242"/>
                </a:solidFill>
                <a:latin typeface="Inter SemiBold"/>
                <a:ea typeface="Inter SemiBold"/>
                <a:cs typeface="Inter SemiBold"/>
                <a:sym typeface="Inter SemiBold"/>
              </a:rPr>
              <a:t>Python</a:t>
            </a:r>
            <a:endParaRPr>
              <a:solidFill>
                <a:srgbClr val="424242"/>
              </a:solidFill>
              <a:latin typeface="Inter SemiBold"/>
              <a:ea typeface="Inter SemiBold"/>
              <a:cs typeface="Inter SemiBold"/>
              <a:sym typeface="Inter SemiBold"/>
            </a:endParaRPr>
          </a:p>
          <a:p>
            <a:pPr indent="0" lvl="0" marL="0" rtl="0" algn="l">
              <a:lnSpc>
                <a:spcPct val="100000"/>
              </a:lnSpc>
              <a:spcBef>
                <a:spcPts val="0"/>
              </a:spcBef>
              <a:spcAft>
                <a:spcPts val="0"/>
              </a:spcAft>
              <a:buSzPct val="111111"/>
              <a:buNone/>
            </a:pPr>
            <a:r>
              <a:t/>
            </a:r>
            <a:endParaRPr/>
          </a:p>
        </p:txBody>
      </p:sp>
      <p:pic>
        <p:nvPicPr>
          <p:cNvPr id="321" name="Google Shape;321;g2cfb6489d96_0_36"/>
          <p:cNvPicPr preferRelativeResize="0"/>
          <p:nvPr/>
        </p:nvPicPr>
        <p:blipFill rotWithShape="1">
          <a:blip r:embed="rId3">
            <a:alphaModFix/>
          </a:blip>
          <a:srcRect b="0" l="0" r="0" t="0"/>
          <a:stretch/>
        </p:blipFill>
        <p:spPr>
          <a:xfrm>
            <a:off x="458526" y="4459825"/>
            <a:ext cx="887050" cy="208450"/>
          </a:xfrm>
          <a:prstGeom prst="rect">
            <a:avLst/>
          </a:prstGeom>
          <a:noFill/>
          <a:ln>
            <a:noFill/>
          </a:ln>
        </p:spPr>
      </p:pic>
      <p:sp>
        <p:nvSpPr>
          <p:cNvPr id="322" name="Google Shape;322;g2cfb6489d96_0_36"/>
          <p:cNvSpPr/>
          <p:nvPr/>
        </p:nvSpPr>
        <p:spPr>
          <a:xfrm>
            <a:off x="0" y="0"/>
            <a:ext cx="9144000" cy="295200"/>
          </a:xfrm>
          <a:prstGeom prst="rect">
            <a:avLst/>
          </a:prstGeom>
          <a:solidFill>
            <a:srgbClr val="DCF10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highlight>
                <a:srgbClr val="DCF10D"/>
              </a:highlight>
              <a:latin typeface="Arial"/>
              <a:ea typeface="Arial"/>
              <a:cs typeface="Arial"/>
              <a:sym typeface="Arial"/>
            </a:endParaRPr>
          </a:p>
        </p:txBody>
      </p:sp>
      <p:pic>
        <p:nvPicPr>
          <p:cNvPr id="323" name="Google Shape;323;g2cfb6489d96_0_36"/>
          <p:cNvPicPr preferRelativeResize="0"/>
          <p:nvPr/>
        </p:nvPicPr>
        <p:blipFill rotWithShape="1">
          <a:blip r:embed="rId4">
            <a:alphaModFix/>
          </a:blip>
          <a:srcRect b="52378" l="0" r="0" t="0"/>
          <a:stretch/>
        </p:blipFill>
        <p:spPr>
          <a:xfrm>
            <a:off x="1711100" y="641750"/>
            <a:ext cx="2588975" cy="1825914"/>
          </a:xfrm>
          <a:prstGeom prst="rect">
            <a:avLst/>
          </a:prstGeom>
          <a:noFill/>
          <a:ln>
            <a:noFill/>
          </a:ln>
        </p:spPr>
      </p:pic>
      <p:pic>
        <p:nvPicPr>
          <p:cNvPr id="324" name="Google Shape;324;g2cfb6489d96_0_36"/>
          <p:cNvPicPr preferRelativeResize="0"/>
          <p:nvPr/>
        </p:nvPicPr>
        <p:blipFill>
          <a:blip r:embed="rId5">
            <a:alphaModFix/>
          </a:blip>
          <a:stretch>
            <a:fillRect/>
          </a:stretch>
        </p:blipFill>
        <p:spPr>
          <a:xfrm>
            <a:off x="3180250" y="3421172"/>
            <a:ext cx="2783500" cy="1154567"/>
          </a:xfrm>
          <a:prstGeom prst="rect">
            <a:avLst/>
          </a:prstGeom>
          <a:noFill/>
          <a:ln>
            <a:noFill/>
          </a:ln>
        </p:spPr>
      </p:pic>
      <p:pic>
        <p:nvPicPr>
          <p:cNvPr id="325" name="Google Shape;325;g2cfb6489d96_0_36"/>
          <p:cNvPicPr preferRelativeResize="0"/>
          <p:nvPr/>
        </p:nvPicPr>
        <p:blipFill rotWithShape="1">
          <a:blip r:embed="rId4">
            <a:alphaModFix/>
          </a:blip>
          <a:srcRect b="13521" l="0" r="0" t="47646"/>
          <a:stretch/>
        </p:blipFill>
        <p:spPr>
          <a:xfrm>
            <a:off x="4377466" y="764525"/>
            <a:ext cx="2783509" cy="1600775"/>
          </a:xfrm>
          <a:prstGeom prst="rect">
            <a:avLst/>
          </a:prstGeom>
          <a:noFill/>
          <a:ln>
            <a:noFill/>
          </a:ln>
        </p:spPr>
      </p:pic>
      <p:pic>
        <p:nvPicPr>
          <p:cNvPr id="326" name="Google Shape;326;g2cfb6489d96_0_36"/>
          <p:cNvPicPr preferRelativeResize="0"/>
          <p:nvPr/>
        </p:nvPicPr>
        <p:blipFill rotWithShape="1">
          <a:blip r:embed="rId4">
            <a:alphaModFix/>
          </a:blip>
          <a:srcRect b="0" l="0" r="0" t="86813"/>
          <a:stretch/>
        </p:blipFill>
        <p:spPr>
          <a:xfrm>
            <a:off x="3180251" y="2751386"/>
            <a:ext cx="2783500" cy="543589"/>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0" name="Shape 330"/>
        <p:cNvGrpSpPr/>
        <p:nvPr/>
      </p:nvGrpSpPr>
      <p:grpSpPr>
        <a:xfrm>
          <a:off x="0" y="0"/>
          <a:ext cx="0" cy="0"/>
          <a:chOff x="0" y="0"/>
          <a:chExt cx="0" cy="0"/>
        </a:xfrm>
      </p:grpSpPr>
      <p:sp>
        <p:nvSpPr>
          <p:cNvPr id="331" name="Google Shape;331;g2cfb6489d96_0_22"/>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solidFill>
                  <a:srgbClr val="424242"/>
                </a:solidFill>
                <a:latin typeface="Inter SemiBold"/>
                <a:ea typeface="Inter SemiBold"/>
                <a:cs typeface="Inter SemiBold"/>
                <a:sym typeface="Inter SemiBold"/>
              </a:rPr>
              <a:t>Python</a:t>
            </a:r>
            <a:endParaRPr>
              <a:solidFill>
                <a:srgbClr val="424242"/>
              </a:solidFill>
              <a:latin typeface="Inter SemiBold"/>
              <a:ea typeface="Inter SemiBold"/>
              <a:cs typeface="Inter SemiBold"/>
              <a:sym typeface="Inter SemiBold"/>
            </a:endParaRPr>
          </a:p>
          <a:p>
            <a:pPr indent="0" lvl="0" marL="0" rtl="0" algn="l">
              <a:lnSpc>
                <a:spcPct val="100000"/>
              </a:lnSpc>
              <a:spcBef>
                <a:spcPts val="0"/>
              </a:spcBef>
              <a:spcAft>
                <a:spcPts val="0"/>
              </a:spcAft>
              <a:buSzPct val="111111"/>
              <a:buNone/>
            </a:pPr>
            <a:r>
              <a:t/>
            </a:r>
            <a:endParaRPr/>
          </a:p>
        </p:txBody>
      </p:sp>
      <p:pic>
        <p:nvPicPr>
          <p:cNvPr id="332" name="Google Shape;332;g2cfb6489d96_0_22"/>
          <p:cNvPicPr preferRelativeResize="0"/>
          <p:nvPr/>
        </p:nvPicPr>
        <p:blipFill rotWithShape="1">
          <a:blip r:embed="rId3">
            <a:alphaModFix/>
          </a:blip>
          <a:srcRect b="0" l="0" r="0" t="0"/>
          <a:stretch/>
        </p:blipFill>
        <p:spPr>
          <a:xfrm>
            <a:off x="458526" y="4459825"/>
            <a:ext cx="887050" cy="208450"/>
          </a:xfrm>
          <a:prstGeom prst="rect">
            <a:avLst/>
          </a:prstGeom>
          <a:noFill/>
          <a:ln>
            <a:noFill/>
          </a:ln>
        </p:spPr>
      </p:pic>
      <p:sp>
        <p:nvSpPr>
          <p:cNvPr id="333" name="Google Shape;333;g2cfb6489d96_0_22"/>
          <p:cNvSpPr/>
          <p:nvPr/>
        </p:nvSpPr>
        <p:spPr>
          <a:xfrm>
            <a:off x="0" y="0"/>
            <a:ext cx="9144000" cy="295200"/>
          </a:xfrm>
          <a:prstGeom prst="rect">
            <a:avLst/>
          </a:prstGeom>
          <a:solidFill>
            <a:srgbClr val="DCF10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highlight>
                <a:srgbClr val="DCF10D"/>
              </a:highlight>
              <a:latin typeface="Arial"/>
              <a:ea typeface="Arial"/>
              <a:cs typeface="Arial"/>
              <a:sym typeface="Arial"/>
            </a:endParaRPr>
          </a:p>
        </p:txBody>
      </p:sp>
      <p:pic>
        <p:nvPicPr>
          <p:cNvPr id="334" name="Google Shape;334;g2cfb6489d96_0_22"/>
          <p:cNvPicPr preferRelativeResize="0"/>
          <p:nvPr/>
        </p:nvPicPr>
        <p:blipFill>
          <a:blip r:embed="rId4">
            <a:alphaModFix/>
          </a:blip>
          <a:stretch>
            <a:fillRect/>
          </a:stretch>
        </p:blipFill>
        <p:spPr>
          <a:xfrm>
            <a:off x="1753651" y="847300"/>
            <a:ext cx="2639489" cy="3820974"/>
          </a:xfrm>
          <a:prstGeom prst="rect">
            <a:avLst/>
          </a:prstGeom>
          <a:noFill/>
          <a:ln>
            <a:noFill/>
          </a:ln>
        </p:spPr>
      </p:pic>
      <p:pic>
        <p:nvPicPr>
          <p:cNvPr id="335" name="Google Shape;335;g2cfb6489d96_0_22"/>
          <p:cNvPicPr preferRelativeResize="0"/>
          <p:nvPr/>
        </p:nvPicPr>
        <p:blipFill>
          <a:blip r:embed="rId5">
            <a:alphaModFix/>
          </a:blip>
          <a:stretch>
            <a:fillRect/>
          </a:stretch>
        </p:blipFill>
        <p:spPr>
          <a:xfrm>
            <a:off x="4571990" y="1440850"/>
            <a:ext cx="2981325" cy="2124075"/>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9" name="Shape 339"/>
        <p:cNvGrpSpPr/>
        <p:nvPr/>
      </p:nvGrpSpPr>
      <p:grpSpPr>
        <a:xfrm>
          <a:off x="0" y="0"/>
          <a:ext cx="0" cy="0"/>
          <a:chOff x="0" y="0"/>
          <a:chExt cx="0" cy="0"/>
        </a:xfrm>
      </p:grpSpPr>
      <p:sp>
        <p:nvSpPr>
          <p:cNvPr id="340" name="Google Shape;340;g2cfb6489d96_0_4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solidFill>
                  <a:srgbClr val="424242"/>
                </a:solidFill>
                <a:latin typeface="Inter SemiBold"/>
                <a:ea typeface="Inter SemiBold"/>
                <a:cs typeface="Inter SemiBold"/>
                <a:sym typeface="Inter SemiBold"/>
              </a:rPr>
              <a:t>Python</a:t>
            </a:r>
            <a:endParaRPr>
              <a:solidFill>
                <a:srgbClr val="424242"/>
              </a:solidFill>
              <a:latin typeface="Inter SemiBold"/>
              <a:ea typeface="Inter SemiBold"/>
              <a:cs typeface="Inter SemiBold"/>
              <a:sym typeface="Inter SemiBold"/>
            </a:endParaRPr>
          </a:p>
          <a:p>
            <a:pPr indent="0" lvl="0" marL="0" rtl="0" algn="l">
              <a:lnSpc>
                <a:spcPct val="100000"/>
              </a:lnSpc>
              <a:spcBef>
                <a:spcPts val="0"/>
              </a:spcBef>
              <a:spcAft>
                <a:spcPts val="0"/>
              </a:spcAft>
              <a:buSzPct val="111111"/>
              <a:buNone/>
            </a:pPr>
            <a:r>
              <a:t/>
            </a:r>
            <a:endParaRPr/>
          </a:p>
        </p:txBody>
      </p:sp>
      <p:pic>
        <p:nvPicPr>
          <p:cNvPr id="341" name="Google Shape;341;g2cfb6489d96_0_48"/>
          <p:cNvPicPr preferRelativeResize="0"/>
          <p:nvPr/>
        </p:nvPicPr>
        <p:blipFill rotWithShape="1">
          <a:blip r:embed="rId3">
            <a:alphaModFix/>
          </a:blip>
          <a:srcRect b="0" l="0" r="0" t="0"/>
          <a:stretch/>
        </p:blipFill>
        <p:spPr>
          <a:xfrm>
            <a:off x="458526" y="4459825"/>
            <a:ext cx="887050" cy="208450"/>
          </a:xfrm>
          <a:prstGeom prst="rect">
            <a:avLst/>
          </a:prstGeom>
          <a:noFill/>
          <a:ln>
            <a:noFill/>
          </a:ln>
        </p:spPr>
      </p:pic>
      <p:sp>
        <p:nvSpPr>
          <p:cNvPr id="342" name="Google Shape;342;g2cfb6489d96_0_48"/>
          <p:cNvSpPr/>
          <p:nvPr/>
        </p:nvSpPr>
        <p:spPr>
          <a:xfrm>
            <a:off x="0" y="0"/>
            <a:ext cx="9144000" cy="295200"/>
          </a:xfrm>
          <a:prstGeom prst="rect">
            <a:avLst/>
          </a:prstGeom>
          <a:solidFill>
            <a:srgbClr val="DCF10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highlight>
                <a:srgbClr val="DCF10D"/>
              </a:highlight>
              <a:latin typeface="Arial"/>
              <a:ea typeface="Arial"/>
              <a:cs typeface="Arial"/>
              <a:sym typeface="Arial"/>
            </a:endParaRPr>
          </a:p>
        </p:txBody>
      </p:sp>
      <p:pic>
        <p:nvPicPr>
          <p:cNvPr id="343" name="Google Shape;343;g2cfb6489d96_0_48"/>
          <p:cNvPicPr preferRelativeResize="0"/>
          <p:nvPr/>
        </p:nvPicPr>
        <p:blipFill>
          <a:blip r:embed="rId4">
            <a:alphaModFix/>
          </a:blip>
          <a:stretch>
            <a:fillRect/>
          </a:stretch>
        </p:blipFill>
        <p:spPr>
          <a:xfrm>
            <a:off x="2294276" y="847300"/>
            <a:ext cx="4555452" cy="3820973"/>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7" name="Shape 347"/>
        <p:cNvGrpSpPr/>
        <p:nvPr/>
      </p:nvGrpSpPr>
      <p:grpSpPr>
        <a:xfrm>
          <a:off x="0" y="0"/>
          <a:ext cx="0" cy="0"/>
          <a:chOff x="0" y="0"/>
          <a:chExt cx="0" cy="0"/>
        </a:xfrm>
      </p:grpSpPr>
      <p:sp>
        <p:nvSpPr>
          <p:cNvPr id="348" name="Google Shape;348;g26f76466bc4_0_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solidFill>
                  <a:srgbClr val="424242"/>
                </a:solidFill>
                <a:latin typeface="Inter SemiBold"/>
                <a:ea typeface="Inter SemiBold"/>
                <a:cs typeface="Inter SemiBold"/>
                <a:sym typeface="Inter SemiBold"/>
              </a:rPr>
              <a:t>Python</a:t>
            </a:r>
            <a:endParaRPr>
              <a:solidFill>
                <a:srgbClr val="424242"/>
              </a:solidFill>
              <a:latin typeface="Inter SemiBold"/>
              <a:ea typeface="Inter SemiBold"/>
              <a:cs typeface="Inter SemiBold"/>
              <a:sym typeface="Inter SemiBold"/>
            </a:endParaRPr>
          </a:p>
          <a:p>
            <a:pPr indent="0" lvl="0" marL="0" rtl="0" algn="l">
              <a:lnSpc>
                <a:spcPct val="100000"/>
              </a:lnSpc>
              <a:spcBef>
                <a:spcPts val="0"/>
              </a:spcBef>
              <a:spcAft>
                <a:spcPts val="0"/>
              </a:spcAft>
              <a:buSzPct val="111111"/>
              <a:buNone/>
            </a:pPr>
            <a:r>
              <a:t/>
            </a:r>
            <a:endParaRPr/>
          </a:p>
        </p:txBody>
      </p:sp>
      <p:sp>
        <p:nvSpPr>
          <p:cNvPr id="349" name="Google Shape;349;g26f76466bc4_0_0"/>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800"/>
              <a:buNone/>
            </a:pPr>
            <a:r>
              <a:rPr lang="en" sz="1400">
                <a:solidFill>
                  <a:srgbClr val="424242"/>
                </a:solidFill>
                <a:latin typeface="Inter SemiBold"/>
                <a:ea typeface="Inter SemiBold"/>
                <a:cs typeface="Inter SemiBold"/>
                <a:sym typeface="Inter SemiBold"/>
              </a:rPr>
              <a:t>Short conclusion:</a:t>
            </a:r>
            <a:endParaRPr sz="1400">
              <a:solidFill>
                <a:srgbClr val="424242"/>
              </a:solidFill>
              <a:latin typeface="Inter SemiBold"/>
              <a:ea typeface="Inter SemiBold"/>
              <a:cs typeface="Inter SemiBold"/>
              <a:sym typeface="Inter SemiBold"/>
            </a:endParaRPr>
          </a:p>
          <a:p>
            <a:pPr indent="0" lvl="0" marL="0" rtl="0" algn="l">
              <a:lnSpc>
                <a:spcPct val="100000"/>
              </a:lnSpc>
              <a:spcBef>
                <a:spcPts val="0"/>
              </a:spcBef>
              <a:spcAft>
                <a:spcPts val="0"/>
              </a:spcAft>
              <a:buSzPts val="1800"/>
              <a:buNone/>
            </a:pPr>
            <a:r>
              <a:t/>
            </a:r>
            <a:endParaRPr sz="1400">
              <a:solidFill>
                <a:srgbClr val="424242"/>
              </a:solidFill>
              <a:latin typeface="Inter"/>
              <a:ea typeface="Inter"/>
              <a:cs typeface="Inter"/>
              <a:sym typeface="Inter"/>
            </a:endParaRPr>
          </a:p>
          <a:p>
            <a:pPr indent="-317500" lvl="0" marL="457200" rtl="0" algn="l">
              <a:lnSpc>
                <a:spcPct val="100000"/>
              </a:lnSpc>
              <a:spcBef>
                <a:spcPts val="0"/>
              </a:spcBef>
              <a:spcAft>
                <a:spcPts val="0"/>
              </a:spcAft>
              <a:buClr>
                <a:srgbClr val="424242"/>
              </a:buClr>
              <a:buSzPts val="1400"/>
              <a:buFont typeface="Inter"/>
              <a:buChar char="●"/>
            </a:pPr>
            <a:r>
              <a:rPr lang="en" sz="1400">
                <a:solidFill>
                  <a:srgbClr val="424242"/>
                </a:solidFill>
                <a:latin typeface="Inter"/>
                <a:ea typeface="Inter"/>
                <a:cs typeface="Inter"/>
                <a:sym typeface="Inter"/>
              </a:rPr>
              <a:t>Income and Property Price are </a:t>
            </a:r>
            <a:r>
              <a:rPr lang="en" sz="1400">
                <a:solidFill>
                  <a:srgbClr val="424242"/>
                </a:solidFill>
                <a:latin typeface="Inter"/>
                <a:ea typeface="Inter"/>
                <a:cs typeface="Inter"/>
                <a:sym typeface="Inter"/>
              </a:rPr>
              <a:t>positively correlated.</a:t>
            </a:r>
            <a:endParaRPr sz="1400">
              <a:solidFill>
                <a:srgbClr val="424242"/>
              </a:solidFill>
              <a:latin typeface="Inter"/>
              <a:ea typeface="Inter"/>
              <a:cs typeface="Inter"/>
              <a:sym typeface="Inter"/>
            </a:endParaRPr>
          </a:p>
          <a:p>
            <a:pPr indent="-317500" lvl="0" marL="457200" rtl="0" algn="l">
              <a:lnSpc>
                <a:spcPct val="100000"/>
              </a:lnSpc>
              <a:spcBef>
                <a:spcPts val="0"/>
              </a:spcBef>
              <a:spcAft>
                <a:spcPts val="0"/>
              </a:spcAft>
              <a:buClr>
                <a:srgbClr val="424242"/>
              </a:buClr>
              <a:buSzPts val="1400"/>
              <a:buFont typeface="Inter"/>
              <a:buChar char="●"/>
            </a:pPr>
            <a:r>
              <a:rPr lang="en" sz="1400">
                <a:solidFill>
                  <a:srgbClr val="424242"/>
                </a:solidFill>
                <a:latin typeface="Inter"/>
                <a:ea typeface="Inter"/>
                <a:cs typeface="Inter"/>
                <a:sym typeface="Inter"/>
              </a:rPr>
              <a:t>Iowa, North Dakota, and South Dakota are the best states in terms of costs of living (health spendings and property price) and corruption rates, but North Dakota and South Dakota don’t have any competitor information while Iowa is among the states with the highest competitor cost (and hence low net profit margin).</a:t>
            </a:r>
            <a:endParaRPr sz="1400">
              <a:solidFill>
                <a:srgbClr val="424242"/>
              </a:solidFill>
              <a:latin typeface="Inter"/>
              <a:ea typeface="Inter"/>
              <a:cs typeface="Inter"/>
              <a:sym typeface="Inter"/>
            </a:endParaRPr>
          </a:p>
          <a:p>
            <a:pPr indent="-317500" lvl="0" marL="457200" rtl="0" algn="l">
              <a:lnSpc>
                <a:spcPct val="100000"/>
              </a:lnSpc>
              <a:spcBef>
                <a:spcPts val="0"/>
              </a:spcBef>
              <a:spcAft>
                <a:spcPts val="0"/>
              </a:spcAft>
              <a:buClr>
                <a:srgbClr val="424242"/>
              </a:buClr>
              <a:buSzPts val="1400"/>
              <a:buFont typeface="Inter"/>
              <a:buChar char="●"/>
            </a:pPr>
            <a:r>
              <a:rPr lang="en" sz="1400">
                <a:solidFill>
                  <a:srgbClr val="424242"/>
                </a:solidFill>
                <a:latin typeface="Inter"/>
                <a:ea typeface="Inter"/>
                <a:cs typeface="Inter"/>
                <a:sym typeface="Inter"/>
              </a:rPr>
              <a:t>In general, the worse the corruption rate, the higher the percentage of states that have high costs of living.</a:t>
            </a:r>
            <a:endParaRPr sz="1400">
              <a:solidFill>
                <a:srgbClr val="424242"/>
              </a:solidFill>
              <a:latin typeface="Inter"/>
              <a:ea typeface="Inter"/>
              <a:cs typeface="Inter"/>
              <a:sym typeface="Inter"/>
            </a:endParaRPr>
          </a:p>
          <a:p>
            <a:pPr indent="0" lvl="0" marL="457200" rtl="0" algn="l">
              <a:lnSpc>
                <a:spcPct val="115000"/>
              </a:lnSpc>
              <a:spcBef>
                <a:spcPts val="0"/>
              </a:spcBef>
              <a:spcAft>
                <a:spcPts val="1200"/>
              </a:spcAft>
              <a:buSzPts val="1800"/>
              <a:buNone/>
            </a:pPr>
            <a:r>
              <a:t/>
            </a:r>
            <a:endParaRPr/>
          </a:p>
        </p:txBody>
      </p:sp>
      <p:pic>
        <p:nvPicPr>
          <p:cNvPr id="350" name="Google Shape;350;g26f76466bc4_0_0"/>
          <p:cNvPicPr preferRelativeResize="0"/>
          <p:nvPr/>
        </p:nvPicPr>
        <p:blipFill rotWithShape="1">
          <a:blip r:embed="rId3">
            <a:alphaModFix/>
          </a:blip>
          <a:srcRect b="0" l="0" r="0" t="0"/>
          <a:stretch/>
        </p:blipFill>
        <p:spPr>
          <a:xfrm>
            <a:off x="458526" y="4459825"/>
            <a:ext cx="887050" cy="208450"/>
          </a:xfrm>
          <a:prstGeom prst="rect">
            <a:avLst/>
          </a:prstGeom>
          <a:noFill/>
          <a:ln>
            <a:noFill/>
          </a:ln>
        </p:spPr>
      </p:pic>
      <p:sp>
        <p:nvSpPr>
          <p:cNvPr id="351" name="Google Shape;351;g26f76466bc4_0_0"/>
          <p:cNvSpPr/>
          <p:nvPr/>
        </p:nvSpPr>
        <p:spPr>
          <a:xfrm>
            <a:off x="0" y="0"/>
            <a:ext cx="9144000" cy="295200"/>
          </a:xfrm>
          <a:prstGeom prst="rect">
            <a:avLst/>
          </a:prstGeom>
          <a:solidFill>
            <a:srgbClr val="DCF10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highlight>
                <a:srgbClr val="DCF10D"/>
              </a:highlight>
              <a:latin typeface="Arial"/>
              <a:ea typeface="Arial"/>
              <a:cs typeface="Arial"/>
              <a:sym typeface="Arial"/>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5" name="Shape 355"/>
        <p:cNvGrpSpPr/>
        <p:nvPr/>
      </p:nvGrpSpPr>
      <p:grpSpPr>
        <a:xfrm>
          <a:off x="0" y="0"/>
          <a:ext cx="0" cy="0"/>
          <a:chOff x="0" y="0"/>
          <a:chExt cx="0" cy="0"/>
        </a:xfrm>
      </p:grpSpPr>
      <p:sp>
        <p:nvSpPr>
          <p:cNvPr id="356" name="Google Shape;356;p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solidFill>
                  <a:srgbClr val="424242"/>
                </a:solidFill>
                <a:latin typeface="Inter SemiBold"/>
                <a:ea typeface="Inter SemiBold"/>
                <a:cs typeface="Inter SemiBold"/>
                <a:sym typeface="Inter SemiBold"/>
              </a:rPr>
              <a:t>Conclusion</a:t>
            </a:r>
            <a:endParaRPr>
              <a:solidFill>
                <a:srgbClr val="424242"/>
              </a:solidFill>
              <a:latin typeface="Inter SemiBold"/>
              <a:ea typeface="Inter SemiBold"/>
              <a:cs typeface="Inter SemiBold"/>
              <a:sym typeface="Inter SemiBold"/>
            </a:endParaRPr>
          </a:p>
          <a:p>
            <a:pPr indent="0" lvl="0" marL="0" rtl="0" algn="l">
              <a:lnSpc>
                <a:spcPct val="100000"/>
              </a:lnSpc>
              <a:spcBef>
                <a:spcPts val="0"/>
              </a:spcBef>
              <a:spcAft>
                <a:spcPts val="0"/>
              </a:spcAft>
              <a:buSzPct val="111111"/>
              <a:buNone/>
            </a:pPr>
            <a:r>
              <a:t/>
            </a:r>
            <a:endParaRPr/>
          </a:p>
        </p:txBody>
      </p:sp>
      <p:sp>
        <p:nvSpPr>
          <p:cNvPr id="357" name="Google Shape;357;p8"/>
          <p:cNvSpPr txBox="1"/>
          <p:nvPr>
            <p:ph idx="1" type="body"/>
          </p:nvPr>
        </p:nvSpPr>
        <p:spPr>
          <a:xfrm>
            <a:off x="311700" y="1152475"/>
            <a:ext cx="8520600" cy="3943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sz="1400">
                <a:solidFill>
                  <a:schemeClr val="dk1"/>
                </a:solidFill>
                <a:latin typeface="Inter SemiBold"/>
                <a:ea typeface="Inter SemiBold"/>
                <a:cs typeface="Inter SemiBold"/>
                <a:sym typeface="Inter SemiBold"/>
              </a:rPr>
              <a:t>Summary of Findings</a:t>
            </a:r>
            <a:endParaRPr i="1" sz="1400">
              <a:solidFill>
                <a:schemeClr val="dk1"/>
              </a:solidFill>
              <a:latin typeface="Inter"/>
              <a:ea typeface="Inter"/>
              <a:cs typeface="Inter"/>
              <a:sym typeface="Inter"/>
            </a:endParaRPr>
          </a:p>
          <a:p>
            <a:pPr indent="0" lvl="0" marL="0" rtl="0" algn="l">
              <a:lnSpc>
                <a:spcPct val="115000"/>
              </a:lnSpc>
              <a:spcBef>
                <a:spcPts val="1200"/>
              </a:spcBef>
              <a:spcAft>
                <a:spcPts val="0"/>
              </a:spcAft>
              <a:buClr>
                <a:schemeClr val="dk1"/>
              </a:buClr>
              <a:buSzPts val="1100"/>
              <a:buFont typeface="Arial"/>
              <a:buNone/>
            </a:pPr>
            <a:r>
              <a:rPr lang="en" sz="1400">
                <a:solidFill>
                  <a:schemeClr val="dk1"/>
                </a:solidFill>
                <a:latin typeface="Inter"/>
                <a:ea typeface="Inter"/>
                <a:cs typeface="Inter"/>
                <a:sym typeface="Inter"/>
              </a:rPr>
              <a:t>The main finding in this study is that Property Prices are negatively correlated with Average Competitor Profit, Health Spending is positively correlated with Income, and Property Prices are positively correlated with Income.</a:t>
            </a:r>
            <a:endParaRPr sz="1400">
              <a:solidFill>
                <a:schemeClr val="dk1"/>
              </a:solidFill>
              <a:latin typeface="Inter"/>
              <a:ea typeface="Inter"/>
              <a:cs typeface="Inter"/>
              <a:sym typeface="Inter"/>
            </a:endParaRPr>
          </a:p>
          <a:p>
            <a:pPr indent="0" lvl="0" marL="0" rtl="0" algn="l">
              <a:lnSpc>
                <a:spcPct val="115000"/>
              </a:lnSpc>
              <a:spcBef>
                <a:spcPts val="1200"/>
              </a:spcBef>
              <a:spcAft>
                <a:spcPts val="0"/>
              </a:spcAft>
              <a:buClr>
                <a:schemeClr val="dk1"/>
              </a:buClr>
              <a:buSzPts val="1100"/>
              <a:buFont typeface="Arial"/>
              <a:buNone/>
            </a:pPr>
            <a:r>
              <a:rPr lang="en" sz="1400">
                <a:solidFill>
                  <a:schemeClr val="dk1"/>
                </a:solidFill>
                <a:latin typeface="Inter"/>
                <a:ea typeface="Inter"/>
                <a:cs typeface="Inter"/>
                <a:sym typeface="Inter"/>
              </a:rPr>
              <a:t>=&gt; Health Spending is positively correlated with Property Prices and negatively correlated with Average Competitor Profit.</a:t>
            </a:r>
            <a:endParaRPr sz="1400">
              <a:solidFill>
                <a:schemeClr val="dk1"/>
              </a:solidFill>
              <a:latin typeface="Inter"/>
              <a:ea typeface="Inter"/>
              <a:cs typeface="Inter"/>
              <a:sym typeface="Inter"/>
            </a:endParaRPr>
          </a:p>
          <a:p>
            <a:pPr indent="0" lvl="0" marL="0" rtl="0" algn="l">
              <a:lnSpc>
                <a:spcPct val="100000"/>
              </a:lnSpc>
              <a:spcBef>
                <a:spcPts val="1200"/>
              </a:spcBef>
              <a:spcAft>
                <a:spcPts val="0"/>
              </a:spcAft>
              <a:buClr>
                <a:schemeClr val="dk1"/>
              </a:buClr>
              <a:buSzPts val="1100"/>
              <a:buFont typeface="Arial"/>
              <a:buNone/>
            </a:pPr>
            <a:r>
              <a:t/>
            </a:r>
            <a:endParaRPr sz="1400">
              <a:solidFill>
                <a:srgbClr val="374151"/>
              </a:solidFill>
              <a:highlight>
                <a:schemeClr val="lt1"/>
              </a:highlight>
              <a:latin typeface="Inter"/>
              <a:ea typeface="Inter"/>
              <a:cs typeface="Inter"/>
              <a:sym typeface="Inter"/>
            </a:endParaRPr>
          </a:p>
          <a:p>
            <a:pPr indent="0" lvl="0" marL="0" rtl="0" algn="l">
              <a:lnSpc>
                <a:spcPct val="100000"/>
              </a:lnSpc>
              <a:spcBef>
                <a:spcPts val="1200"/>
              </a:spcBef>
              <a:spcAft>
                <a:spcPts val="0"/>
              </a:spcAft>
              <a:buSzPts val="1800"/>
              <a:buNone/>
            </a:pPr>
            <a:r>
              <a:t/>
            </a:r>
            <a:endParaRPr sz="1400">
              <a:solidFill>
                <a:srgbClr val="424242"/>
              </a:solidFill>
              <a:highlight>
                <a:schemeClr val="lt1"/>
              </a:highlight>
              <a:latin typeface="Inter"/>
              <a:ea typeface="Inter"/>
              <a:cs typeface="Inter"/>
              <a:sym typeface="Inter"/>
            </a:endParaRPr>
          </a:p>
          <a:p>
            <a:pPr indent="0" lvl="0" marL="457200" rtl="0" algn="l">
              <a:lnSpc>
                <a:spcPct val="100000"/>
              </a:lnSpc>
              <a:spcBef>
                <a:spcPts val="0"/>
              </a:spcBef>
              <a:spcAft>
                <a:spcPts val="1200"/>
              </a:spcAft>
              <a:buSzPts val="1800"/>
              <a:buNone/>
            </a:pPr>
            <a:r>
              <a:t/>
            </a:r>
            <a:endParaRPr sz="1400">
              <a:highlight>
                <a:schemeClr val="lt1"/>
              </a:highlight>
              <a:latin typeface="Inter"/>
              <a:ea typeface="Inter"/>
              <a:cs typeface="Inter"/>
              <a:sym typeface="Inter"/>
            </a:endParaRPr>
          </a:p>
        </p:txBody>
      </p:sp>
      <p:pic>
        <p:nvPicPr>
          <p:cNvPr id="358" name="Google Shape;358;p8"/>
          <p:cNvPicPr preferRelativeResize="0"/>
          <p:nvPr/>
        </p:nvPicPr>
        <p:blipFill rotWithShape="1">
          <a:blip r:embed="rId3">
            <a:alphaModFix/>
          </a:blip>
          <a:srcRect b="0" l="0" r="0" t="0"/>
          <a:stretch/>
        </p:blipFill>
        <p:spPr>
          <a:xfrm>
            <a:off x="458526" y="4459825"/>
            <a:ext cx="887050" cy="208450"/>
          </a:xfrm>
          <a:prstGeom prst="rect">
            <a:avLst/>
          </a:prstGeom>
          <a:noFill/>
          <a:ln>
            <a:noFill/>
          </a:ln>
        </p:spPr>
      </p:pic>
      <p:sp>
        <p:nvSpPr>
          <p:cNvPr id="359" name="Google Shape;359;p8"/>
          <p:cNvSpPr/>
          <p:nvPr/>
        </p:nvSpPr>
        <p:spPr>
          <a:xfrm>
            <a:off x="0" y="0"/>
            <a:ext cx="9144000" cy="295200"/>
          </a:xfrm>
          <a:prstGeom prst="rect">
            <a:avLst/>
          </a:prstGeom>
          <a:solidFill>
            <a:srgbClr val="DCF10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highlight>
                <a:srgbClr val="DCF10D"/>
              </a:highlight>
              <a:latin typeface="Arial"/>
              <a:ea typeface="Arial"/>
              <a:cs typeface="Arial"/>
              <a:sym typeface="Arial"/>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3" name="Shape 363"/>
        <p:cNvGrpSpPr/>
        <p:nvPr/>
      </p:nvGrpSpPr>
      <p:grpSpPr>
        <a:xfrm>
          <a:off x="0" y="0"/>
          <a:ext cx="0" cy="0"/>
          <a:chOff x="0" y="0"/>
          <a:chExt cx="0" cy="0"/>
        </a:xfrm>
      </p:grpSpPr>
      <p:sp>
        <p:nvSpPr>
          <p:cNvPr id="364" name="Google Shape;364;p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solidFill>
                  <a:srgbClr val="424242"/>
                </a:solidFill>
                <a:latin typeface="Inter SemiBold"/>
                <a:ea typeface="Inter SemiBold"/>
                <a:cs typeface="Inter SemiBold"/>
                <a:sym typeface="Inter SemiBold"/>
              </a:rPr>
              <a:t>Conclusion</a:t>
            </a:r>
            <a:endParaRPr>
              <a:solidFill>
                <a:srgbClr val="424242"/>
              </a:solidFill>
              <a:latin typeface="Inter SemiBold"/>
              <a:ea typeface="Inter SemiBold"/>
              <a:cs typeface="Inter SemiBold"/>
              <a:sym typeface="Inter SemiBold"/>
            </a:endParaRPr>
          </a:p>
          <a:p>
            <a:pPr indent="0" lvl="0" marL="0" rtl="0" algn="l">
              <a:lnSpc>
                <a:spcPct val="100000"/>
              </a:lnSpc>
              <a:spcBef>
                <a:spcPts val="0"/>
              </a:spcBef>
              <a:spcAft>
                <a:spcPts val="0"/>
              </a:spcAft>
              <a:buSzPct val="111111"/>
              <a:buNone/>
            </a:pPr>
            <a:r>
              <a:t/>
            </a:r>
            <a:endParaRPr/>
          </a:p>
        </p:txBody>
      </p:sp>
      <p:sp>
        <p:nvSpPr>
          <p:cNvPr id="365" name="Google Shape;365;p9"/>
          <p:cNvSpPr txBox="1"/>
          <p:nvPr>
            <p:ph idx="1" type="body"/>
          </p:nvPr>
        </p:nvSpPr>
        <p:spPr>
          <a:xfrm>
            <a:off x="311700" y="1152475"/>
            <a:ext cx="8520600" cy="3943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sz="1400">
                <a:solidFill>
                  <a:schemeClr val="dk1"/>
                </a:solidFill>
                <a:latin typeface="Inter SemiBold"/>
                <a:ea typeface="Inter SemiBold"/>
                <a:cs typeface="Inter SemiBold"/>
                <a:sym typeface="Inter SemiBold"/>
              </a:rPr>
              <a:t>Insights</a:t>
            </a:r>
            <a:endParaRPr i="1" sz="1400">
              <a:solidFill>
                <a:schemeClr val="dk1"/>
              </a:solidFill>
              <a:latin typeface="Inter"/>
              <a:ea typeface="Inter"/>
              <a:cs typeface="Inter"/>
              <a:sym typeface="Inter"/>
            </a:endParaRPr>
          </a:p>
          <a:p>
            <a:pPr indent="0" lvl="0" marL="0" rtl="0" algn="l">
              <a:lnSpc>
                <a:spcPct val="115000"/>
              </a:lnSpc>
              <a:spcBef>
                <a:spcPts val="1200"/>
              </a:spcBef>
              <a:spcAft>
                <a:spcPts val="0"/>
              </a:spcAft>
              <a:buClr>
                <a:schemeClr val="dk1"/>
              </a:buClr>
              <a:buSzPts val="1100"/>
              <a:buFont typeface="Arial"/>
              <a:buNone/>
            </a:pPr>
            <a:r>
              <a:rPr lang="en" sz="1400">
                <a:solidFill>
                  <a:schemeClr val="dk1"/>
                </a:solidFill>
                <a:latin typeface="Inter"/>
                <a:ea typeface="Inter"/>
                <a:cs typeface="Inter"/>
                <a:sym typeface="Inter"/>
              </a:rPr>
              <a:t>One possible reason behind the negative correlation between health spending, property prices, and income with average competitor profit is that as that as income increases, the cost of living may also increase (possibly due to inflation, see </a:t>
            </a:r>
            <a:r>
              <a:rPr lang="en" sz="1400" u="sng">
                <a:solidFill>
                  <a:schemeClr val="hlink"/>
                </a:solidFill>
                <a:latin typeface="Inter"/>
                <a:ea typeface="Inter"/>
                <a:cs typeface="Inter"/>
                <a:sym typeface="Inter"/>
                <a:hlinkClick r:id="rId3"/>
              </a:rPr>
              <a:t>https://www.investopedia.com/ask/answers/111314/what-causes-inflation-and-does-anyone-gain-it.asp#:~:text=Higher%20wages%20also%20increase%20consumers,the%20other%20and%20vice%2Dversa</a:t>
            </a:r>
            <a:r>
              <a:rPr lang="en" sz="1400">
                <a:solidFill>
                  <a:schemeClr val="dk1"/>
                </a:solidFill>
                <a:latin typeface="Inter"/>
                <a:ea typeface="Inter"/>
                <a:cs typeface="Inter"/>
                <a:sym typeface="Inter"/>
              </a:rPr>
              <a:t>.), causing people to prioritize spendings related to basic needs like health and shelter (property) rather than smartwatches. Consequently, competitor profit may decrease.</a:t>
            </a:r>
            <a:endParaRPr sz="1700">
              <a:solidFill>
                <a:srgbClr val="374151"/>
              </a:solidFill>
              <a:highlight>
                <a:schemeClr val="lt1"/>
              </a:highlight>
              <a:latin typeface="Inter"/>
              <a:ea typeface="Inter"/>
              <a:cs typeface="Inter"/>
              <a:sym typeface="Inter"/>
            </a:endParaRPr>
          </a:p>
          <a:p>
            <a:pPr indent="0" lvl="0" marL="0" rtl="0" algn="l">
              <a:lnSpc>
                <a:spcPct val="100000"/>
              </a:lnSpc>
              <a:spcBef>
                <a:spcPts val="1200"/>
              </a:spcBef>
              <a:spcAft>
                <a:spcPts val="0"/>
              </a:spcAft>
              <a:buSzPts val="1800"/>
              <a:buNone/>
            </a:pPr>
            <a:r>
              <a:t/>
            </a:r>
            <a:endParaRPr sz="1400">
              <a:solidFill>
                <a:srgbClr val="424242"/>
              </a:solidFill>
              <a:highlight>
                <a:schemeClr val="lt1"/>
              </a:highlight>
              <a:latin typeface="Inter"/>
              <a:ea typeface="Inter"/>
              <a:cs typeface="Inter"/>
              <a:sym typeface="Inter"/>
            </a:endParaRPr>
          </a:p>
          <a:p>
            <a:pPr indent="0" lvl="0" marL="457200" rtl="0" algn="l">
              <a:lnSpc>
                <a:spcPct val="100000"/>
              </a:lnSpc>
              <a:spcBef>
                <a:spcPts val="0"/>
              </a:spcBef>
              <a:spcAft>
                <a:spcPts val="1200"/>
              </a:spcAft>
              <a:buSzPts val="1800"/>
              <a:buNone/>
            </a:pPr>
            <a:r>
              <a:t/>
            </a:r>
            <a:endParaRPr sz="1400">
              <a:highlight>
                <a:schemeClr val="lt1"/>
              </a:highlight>
              <a:latin typeface="Inter"/>
              <a:ea typeface="Inter"/>
              <a:cs typeface="Inter"/>
              <a:sym typeface="Inter"/>
            </a:endParaRPr>
          </a:p>
        </p:txBody>
      </p:sp>
      <p:pic>
        <p:nvPicPr>
          <p:cNvPr id="366" name="Google Shape;366;p9"/>
          <p:cNvPicPr preferRelativeResize="0"/>
          <p:nvPr/>
        </p:nvPicPr>
        <p:blipFill rotWithShape="1">
          <a:blip r:embed="rId4">
            <a:alphaModFix/>
          </a:blip>
          <a:srcRect b="0" l="0" r="0" t="0"/>
          <a:stretch/>
        </p:blipFill>
        <p:spPr>
          <a:xfrm>
            <a:off x="458526" y="4459825"/>
            <a:ext cx="887050" cy="208450"/>
          </a:xfrm>
          <a:prstGeom prst="rect">
            <a:avLst/>
          </a:prstGeom>
          <a:noFill/>
          <a:ln>
            <a:noFill/>
          </a:ln>
        </p:spPr>
      </p:pic>
      <p:sp>
        <p:nvSpPr>
          <p:cNvPr id="367" name="Google Shape;367;p9"/>
          <p:cNvSpPr/>
          <p:nvPr/>
        </p:nvSpPr>
        <p:spPr>
          <a:xfrm>
            <a:off x="0" y="0"/>
            <a:ext cx="9144000" cy="295200"/>
          </a:xfrm>
          <a:prstGeom prst="rect">
            <a:avLst/>
          </a:prstGeom>
          <a:solidFill>
            <a:srgbClr val="DCF10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highlight>
                <a:srgbClr val="DCF10D"/>
              </a:highlight>
              <a:latin typeface="Arial"/>
              <a:ea typeface="Arial"/>
              <a:cs typeface="Arial"/>
              <a:sym typeface="Arial"/>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1" name="Shape 371"/>
        <p:cNvGrpSpPr/>
        <p:nvPr/>
      </p:nvGrpSpPr>
      <p:grpSpPr>
        <a:xfrm>
          <a:off x="0" y="0"/>
          <a:ext cx="0" cy="0"/>
          <a:chOff x="0" y="0"/>
          <a:chExt cx="0" cy="0"/>
        </a:xfrm>
      </p:grpSpPr>
      <p:sp>
        <p:nvSpPr>
          <p:cNvPr id="372" name="Google Shape;372;p1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solidFill>
                  <a:srgbClr val="424242"/>
                </a:solidFill>
                <a:latin typeface="Inter SemiBold"/>
                <a:ea typeface="Inter SemiBold"/>
                <a:cs typeface="Inter SemiBold"/>
                <a:sym typeface="Inter SemiBold"/>
              </a:rPr>
              <a:t>Conclusion</a:t>
            </a:r>
            <a:endParaRPr>
              <a:solidFill>
                <a:srgbClr val="424242"/>
              </a:solidFill>
              <a:latin typeface="Inter SemiBold"/>
              <a:ea typeface="Inter SemiBold"/>
              <a:cs typeface="Inter SemiBold"/>
              <a:sym typeface="Inter SemiBold"/>
            </a:endParaRPr>
          </a:p>
          <a:p>
            <a:pPr indent="0" lvl="0" marL="0" rtl="0" algn="l">
              <a:lnSpc>
                <a:spcPct val="100000"/>
              </a:lnSpc>
              <a:spcBef>
                <a:spcPts val="0"/>
              </a:spcBef>
              <a:spcAft>
                <a:spcPts val="0"/>
              </a:spcAft>
              <a:buSzPct val="111111"/>
              <a:buNone/>
            </a:pPr>
            <a:r>
              <a:t/>
            </a:r>
            <a:endParaRPr/>
          </a:p>
        </p:txBody>
      </p:sp>
      <p:sp>
        <p:nvSpPr>
          <p:cNvPr id="373" name="Google Shape;373;p10"/>
          <p:cNvSpPr txBox="1"/>
          <p:nvPr>
            <p:ph idx="1" type="body"/>
          </p:nvPr>
        </p:nvSpPr>
        <p:spPr>
          <a:xfrm>
            <a:off x="311700" y="1152475"/>
            <a:ext cx="8520600" cy="3943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sz="1400">
                <a:solidFill>
                  <a:schemeClr val="dk1"/>
                </a:solidFill>
                <a:latin typeface="Inter SemiBold"/>
                <a:ea typeface="Inter SemiBold"/>
                <a:cs typeface="Inter SemiBold"/>
                <a:sym typeface="Inter SemiBold"/>
              </a:rPr>
              <a:t>Answers to Business Questions</a:t>
            </a:r>
            <a:endParaRPr i="1" sz="1400">
              <a:solidFill>
                <a:schemeClr val="dk1"/>
              </a:solidFill>
              <a:latin typeface="Inter"/>
              <a:ea typeface="Inter"/>
              <a:cs typeface="Inter"/>
              <a:sym typeface="Inter"/>
            </a:endParaRPr>
          </a:p>
          <a:p>
            <a:pPr indent="0" lvl="0" marL="0" rtl="0" algn="l">
              <a:lnSpc>
                <a:spcPct val="115000"/>
              </a:lnSpc>
              <a:spcBef>
                <a:spcPts val="1200"/>
              </a:spcBef>
              <a:spcAft>
                <a:spcPts val="0"/>
              </a:spcAft>
              <a:buSzPts val="1800"/>
              <a:buNone/>
            </a:pPr>
            <a:r>
              <a:rPr lang="en" sz="1400">
                <a:solidFill>
                  <a:schemeClr val="dk1"/>
                </a:solidFill>
                <a:latin typeface="Inter"/>
                <a:ea typeface="Inter"/>
                <a:cs typeface="Inter"/>
                <a:sym typeface="Inter"/>
              </a:rPr>
              <a:t>Aside from </a:t>
            </a:r>
            <a:r>
              <a:rPr lang="en" sz="1400">
                <a:solidFill>
                  <a:schemeClr val="dk1"/>
                </a:solidFill>
                <a:latin typeface="Inter"/>
                <a:ea typeface="Inter"/>
                <a:cs typeface="Inter"/>
                <a:sym typeface="Inter"/>
              </a:rPr>
              <a:t>the negative relationship between income and property, and ultimately health spending, we also found out that:</a:t>
            </a:r>
            <a:endParaRPr sz="1400">
              <a:solidFill>
                <a:schemeClr val="dk1"/>
              </a:solidFill>
              <a:latin typeface="Inter"/>
              <a:ea typeface="Inter"/>
              <a:cs typeface="Inter"/>
              <a:sym typeface="Inter"/>
            </a:endParaRPr>
          </a:p>
          <a:p>
            <a:pPr indent="-317500" lvl="0" marL="457200" rtl="0" algn="l">
              <a:lnSpc>
                <a:spcPct val="100000"/>
              </a:lnSpc>
              <a:spcBef>
                <a:spcPts val="1200"/>
              </a:spcBef>
              <a:spcAft>
                <a:spcPts val="0"/>
              </a:spcAft>
              <a:buClr>
                <a:schemeClr val="dk1"/>
              </a:buClr>
              <a:buSzPts val="1400"/>
              <a:buFont typeface="Inter"/>
              <a:buChar char="●"/>
            </a:pPr>
            <a:r>
              <a:rPr lang="en" sz="1400">
                <a:solidFill>
                  <a:schemeClr val="dk1"/>
                </a:solidFill>
                <a:latin typeface="Inter"/>
                <a:ea typeface="Inter"/>
                <a:cs typeface="Inter"/>
                <a:sym typeface="Inter"/>
              </a:rPr>
              <a:t>The states with the highest health spending per person are in the Northeastern US (New Jersey, Rhode Island, Massachusetts), Alaska, and Hawaii. </a:t>
            </a:r>
            <a:endParaRPr sz="1400">
              <a:solidFill>
                <a:schemeClr val="dk1"/>
              </a:solidFill>
              <a:latin typeface="Inter"/>
              <a:ea typeface="Inter"/>
              <a:cs typeface="Inter"/>
              <a:sym typeface="Inter"/>
            </a:endParaRPr>
          </a:p>
          <a:p>
            <a:pPr indent="-317500" lvl="0" marL="457200" rtl="0" algn="l">
              <a:lnSpc>
                <a:spcPct val="100000"/>
              </a:lnSpc>
              <a:spcBef>
                <a:spcPts val="0"/>
              </a:spcBef>
              <a:spcAft>
                <a:spcPts val="0"/>
              </a:spcAft>
              <a:buClr>
                <a:schemeClr val="dk1"/>
              </a:buClr>
              <a:buSzPts val="1400"/>
              <a:buFont typeface="Inter"/>
              <a:buChar char="●"/>
            </a:pPr>
            <a:r>
              <a:rPr lang="en" sz="1400">
                <a:solidFill>
                  <a:schemeClr val="dk1"/>
                </a:solidFill>
                <a:latin typeface="Inter"/>
                <a:ea typeface="Inter"/>
                <a:cs typeface="Inter"/>
                <a:sym typeface="Inter"/>
              </a:rPr>
              <a:t>The states with the lowest health spending per person are North Dakota, South Dakota, Idaho, Mississippi, Arizona, Montana, Wyoming, and Iowa.</a:t>
            </a:r>
            <a:endParaRPr sz="1400">
              <a:solidFill>
                <a:schemeClr val="dk1"/>
              </a:solidFill>
              <a:latin typeface="Inter"/>
              <a:ea typeface="Inter"/>
              <a:cs typeface="Inter"/>
              <a:sym typeface="Inter"/>
            </a:endParaRPr>
          </a:p>
          <a:p>
            <a:pPr indent="-317500" lvl="0" marL="457200" rtl="0" algn="l">
              <a:lnSpc>
                <a:spcPct val="100000"/>
              </a:lnSpc>
              <a:spcBef>
                <a:spcPts val="0"/>
              </a:spcBef>
              <a:spcAft>
                <a:spcPts val="0"/>
              </a:spcAft>
              <a:buClr>
                <a:schemeClr val="dk1"/>
              </a:buClr>
              <a:buSzPts val="1400"/>
              <a:buFont typeface="Inter"/>
              <a:buChar char="●"/>
            </a:pPr>
            <a:r>
              <a:rPr lang="en" sz="1400">
                <a:solidFill>
                  <a:schemeClr val="dk1"/>
                </a:solidFill>
                <a:latin typeface="Inter"/>
                <a:ea typeface="Inter"/>
                <a:cs typeface="Inter"/>
                <a:sym typeface="Inter"/>
              </a:rPr>
              <a:t>A higher percentage of states with high health spendings are noted for more corrupt states than for less corrupt states.</a:t>
            </a:r>
            <a:endParaRPr sz="1400">
              <a:solidFill>
                <a:schemeClr val="dk1"/>
              </a:solidFill>
              <a:latin typeface="Inter"/>
              <a:ea typeface="Inter"/>
              <a:cs typeface="Inter"/>
              <a:sym typeface="Inter"/>
            </a:endParaRPr>
          </a:p>
        </p:txBody>
      </p:sp>
      <p:pic>
        <p:nvPicPr>
          <p:cNvPr id="374" name="Google Shape;374;p10"/>
          <p:cNvPicPr preferRelativeResize="0"/>
          <p:nvPr/>
        </p:nvPicPr>
        <p:blipFill rotWithShape="1">
          <a:blip r:embed="rId3">
            <a:alphaModFix/>
          </a:blip>
          <a:srcRect b="0" l="0" r="0" t="0"/>
          <a:stretch/>
        </p:blipFill>
        <p:spPr>
          <a:xfrm>
            <a:off x="458526" y="4459825"/>
            <a:ext cx="887050" cy="208450"/>
          </a:xfrm>
          <a:prstGeom prst="rect">
            <a:avLst/>
          </a:prstGeom>
          <a:noFill/>
          <a:ln>
            <a:noFill/>
          </a:ln>
        </p:spPr>
      </p:pic>
      <p:sp>
        <p:nvSpPr>
          <p:cNvPr id="375" name="Google Shape;375;p10"/>
          <p:cNvSpPr/>
          <p:nvPr/>
        </p:nvSpPr>
        <p:spPr>
          <a:xfrm>
            <a:off x="0" y="0"/>
            <a:ext cx="9144000" cy="295200"/>
          </a:xfrm>
          <a:prstGeom prst="rect">
            <a:avLst/>
          </a:prstGeom>
          <a:solidFill>
            <a:srgbClr val="DCF10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highlight>
                <a:srgbClr val="DCF10D"/>
              </a:highlight>
              <a:latin typeface="Arial"/>
              <a:ea typeface="Arial"/>
              <a:cs typeface="Arial"/>
              <a:sym typeface="Arial"/>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9" name="Shape 379"/>
        <p:cNvGrpSpPr/>
        <p:nvPr/>
      </p:nvGrpSpPr>
      <p:grpSpPr>
        <a:xfrm>
          <a:off x="0" y="0"/>
          <a:ext cx="0" cy="0"/>
          <a:chOff x="0" y="0"/>
          <a:chExt cx="0" cy="0"/>
        </a:xfrm>
      </p:grpSpPr>
      <p:sp>
        <p:nvSpPr>
          <p:cNvPr id="380" name="Google Shape;380;p1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solidFill>
                  <a:srgbClr val="424242"/>
                </a:solidFill>
                <a:latin typeface="Inter SemiBold"/>
                <a:ea typeface="Inter SemiBold"/>
                <a:cs typeface="Inter SemiBold"/>
                <a:sym typeface="Inter SemiBold"/>
              </a:rPr>
              <a:t>Conclusion</a:t>
            </a:r>
            <a:endParaRPr>
              <a:solidFill>
                <a:srgbClr val="424242"/>
              </a:solidFill>
              <a:latin typeface="Inter SemiBold"/>
              <a:ea typeface="Inter SemiBold"/>
              <a:cs typeface="Inter SemiBold"/>
              <a:sym typeface="Inter SemiBold"/>
            </a:endParaRPr>
          </a:p>
          <a:p>
            <a:pPr indent="0" lvl="0" marL="0" rtl="0" algn="l">
              <a:lnSpc>
                <a:spcPct val="100000"/>
              </a:lnSpc>
              <a:spcBef>
                <a:spcPts val="0"/>
              </a:spcBef>
              <a:spcAft>
                <a:spcPts val="0"/>
              </a:spcAft>
              <a:buSzPct val="111111"/>
              <a:buNone/>
            </a:pPr>
            <a:r>
              <a:t/>
            </a:r>
            <a:endParaRPr/>
          </a:p>
        </p:txBody>
      </p:sp>
      <p:sp>
        <p:nvSpPr>
          <p:cNvPr id="381" name="Google Shape;381;p11"/>
          <p:cNvSpPr txBox="1"/>
          <p:nvPr>
            <p:ph idx="1" type="body"/>
          </p:nvPr>
        </p:nvSpPr>
        <p:spPr>
          <a:xfrm>
            <a:off x="311700" y="1152475"/>
            <a:ext cx="8520600" cy="3943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sz="1400">
                <a:solidFill>
                  <a:schemeClr val="dk1"/>
                </a:solidFill>
                <a:latin typeface="Inter SemiBold"/>
                <a:ea typeface="Inter SemiBold"/>
                <a:cs typeface="Inter SemiBold"/>
                <a:sym typeface="Inter SemiBold"/>
              </a:rPr>
              <a:t>Recommendations</a:t>
            </a:r>
            <a:endParaRPr i="1" sz="1400">
              <a:solidFill>
                <a:schemeClr val="dk1"/>
              </a:solidFill>
              <a:latin typeface="Inter"/>
              <a:ea typeface="Inter"/>
              <a:cs typeface="Inter"/>
              <a:sym typeface="Inter"/>
            </a:endParaRPr>
          </a:p>
          <a:p>
            <a:pPr indent="0" lvl="0" marL="0" rtl="0" algn="l">
              <a:lnSpc>
                <a:spcPct val="115000"/>
              </a:lnSpc>
              <a:spcBef>
                <a:spcPts val="1200"/>
              </a:spcBef>
              <a:spcAft>
                <a:spcPts val="0"/>
              </a:spcAft>
              <a:buSzPts val="1800"/>
              <a:buNone/>
            </a:pPr>
            <a:r>
              <a:rPr lang="en" sz="1400">
                <a:solidFill>
                  <a:schemeClr val="dk1"/>
                </a:solidFill>
                <a:latin typeface="Inter"/>
                <a:ea typeface="Inter"/>
                <a:cs typeface="Inter"/>
                <a:sym typeface="Inter"/>
              </a:rPr>
              <a:t>Based from the findings presented, the recommendation would be to prioritize states with low health spending per person, property price, and corruption for the expansion efforts of the smartwatch business.</a:t>
            </a:r>
            <a:endParaRPr sz="1400">
              <a:solidFill>
                <a:schemeClr val="dk1"/>
              </a:solidFill>
              <a:latin typeface="Inter"/>
              <a:ea typeface="Inter"/>
              <a:cs typeface="Inter"/>
              <a:sym typeface="Inter"/>
            </a:endParaRPr>
          </a:p>
          <a:p>
            <a:pPr indent="0" lvl="0" marL="0" rtl="0" algn="l">
              <a:lnSpc>
                <a:spcPct val="115000"/>
              </a:lnSpc>
              <a:spcBef>
                <a:spcPts val="1200"/>
              </a:spcBef>
              <a:spcAft>
                <a:spcPts val="0"/>
              </a:spcAft>
              <a:buSzPts val="1800"/>
              <a:buNone/>
            </a:pPr>
            <a:r>
              <a:rPr lang="en" sz="1400">
                <a:solidFill>
                  <a:schemeClr val="dk1"/>
                </a:solidFill>
                <a:latin typeface="Inter"/>
                <a:ea typeface="Inter"/>
                <a:cs typeface="Inter"/>
                <a:sym typeface="Inter"/>
              </a:rPr>
              <a:t>Since Iowa has high competitor costs, North Dakota and South Dakota fits this description very well, however…</a:t>
            </a:r>
            <a:endParaRPr sz="1400">
              <a:solidFill>
                <a:schemeClr val="dk1"/>
              </a:solidFill>
              <a:latin typeface="Inter"/>
              <a:ea typeface="Inter"/>
              <a:cs typeface="Inter"/>
              <a:sym typeface="Inter"/>
            </a:endParaRPr>
          </a:p>
          <a:p>
            <a:pPr indent="0" lvl="0" marL="0" rtl="0" algn="l">
              <a:lnSpc>
                <a:spcPct val="115000"/>
              </a:lnSpc>
              <a:spcBef>
                <a:spcPts val="1200"/>
              </a:spcBef>
              <a:spcAft>
                <a:spcPts val="1200"/>
              </a:spcAft>
              <a:buSzPts val="1800"/>
              <a:buNone/>
            </a:pPr>
            <a:r>
              <a:t/>
            </a:r>
            <a:endParaRPr sz="1400">
              <a:solidFill>
                <a:srgbClr val="374151"/>
              </a:solidFill>
              <a:highlight>
                <a:srgbClr val="FFFFFF"/>
              </a:highlight>
              <a:latin typeface="Inter SemiBold"/>
              <a:ea typeface="Inter SemiBold"/>
              <a:cs typeface="Inter SemiBold"/>
              <a:sym typeface="Inter SemiBold"/>
            </a:endParaRPr>
          </a:p>
        </p:txBody>
      </p:sp>
      <p:pic>
        <p:nvPicPr>
          <p:cNvPr id="382" name="Google Shape;382;p11"/>
          <p:cNvPicPr preferRelativeResize="0"/>
          <p:nvPr/>
        </p:nvPicPr>
        <p:blipFill rotWithShape="1">
          <a:blip r:embed="rId3">
            <a:alphaModFix/>
          </a:blip>
          <a:srcRect b="0" l="0" r="0" t="0"/>
          <a:stretch/>
        </p:blipFill>
        <p:spPr>
          <a:xfrm>
            <a:off x="458526" y="4459825"/>
            <a:ext cx="887050" cy="208450"/>
          </a:xfrm>
          <a:prstGeom prst="rect">
            <a:avLst/>
          </a:prstGeom>
          <a:noFill/>
          <a:ln>
            <a:noFill/>
          </a:ln>
        </p:spPr>
      </p:pic>
      <p:sp>
        <p:nvSpPr>
          <p:cNvPr id="383" name="Google Shape;383;p11"/>
          <p:cNvSpPr/>
          <p:nvPr/>
        </p:nvSpPr>
        <p:spPr>
          <a:xfrm>
            <a:off x="0" y="0"/>
            <a:ext cx="9144000" cy="295200"/>
          </a:xfrm>
          <a:prstGeom prst="rect">
            <a:avLst/>
          </a:prstGeom>
          <a:solidFill>
            <a:srgbClr val="DCF10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highlight>
                <a:srgbClr val="DCF10D"/>
              </a:highlight>
              <a:latin typeface="Arial"/>
              <a:ea typeface="Arial"/>
              <a:cs typeface="Arial"/>
              <a:sym typeface="Arial"/>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7" name="Shape 387"/>
        <p:cNvGrpSpPr/>
        <p:nvPr/>
      </p:nvGrpSpPr>
      <p:grpSpPr>
        <a:xfrm>
          <a:off x="0" y="0"/>
          <a:ext cx="0" cy="0"/>
          <a:chOff x="0" y="0"/>
          <a:chExt cx="0" cy="0"/>
        </a:xfrm>
      </p:grpSpPr>
      <p:sp>
        <p:nvSpPr>
          <p:cNvPr id="388" name="Google Shape;388;p12"/>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solidFill>
                  <a:srgbClr val="424242"/>
                </a:solidFill>
                <a:latin typeface="Inter SemiBold"/>
                <a:ea typeface="Inter SemiBold"/>
                <a:cs typeface="Inter SemiBold"/>
                <a:sym typeface="Inter SemiBold"/>
              </a:rPr>
              <a:t>Conclusion</a:t>
            </a:r>
            <a:endParaRPr>
              <a:solidFill>
                <a:srgbClr val="424242"/>
              </a:solidFill>
              <a:latin typeface="Inter SemiBold"/>
              <a:ea typeface="Inter SemiBold"/>
              <a:cs typeface="Inter SemiBold"/>
              <a:sym typeface="Inter SemiBold"/>
            </a:endParaRPr>
          </a:p>
          <a:p>
            <a:pPr indent="0" lvl="0" marL="0" rtl="0" algn="l">
              <a:lnSpc>
                <a:spcPct val="100000"/>
              </a:lnSpc>
              <a:spcBef>
                <a:spcPts val="0"/>
              </a:spcBef>
              <a:spcAft>
                <a:spcPts val="0"/>
              </a:spcAft>
              <a:buSzPct val="111111"/>
              <a:buNone/>
            </a:pPr>
            <a:r>
              <a:t/>
            </a:r>
            <a:endParaRPr/>
          </a:p>
        </p:txBody>
      </p:sp>
      <p:sp>
        <p:nvSpPr>
          <p:cNvPr id="389" name="Google Shape;389;p12"/>
          <p:cNvSpPr txBox="1"/>
          <p:nvPr>
            <p:ph idx="1" type="body"/>
          </p:nvPr>
        </p:nvSpPr>
        <p:spPr>
          <a:xfrm>
            <a:off x="311700" y="1152475"/>
            <a:ext cx="8520600" cy="3943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sz="1400">
                <a:solidFill>
                  <a:schemeClr val="dk1"/>
                </a:solidFill>
                <a:latin typeface="Inter SemiBold"/>
                <a:ea typeface="Inter SemiBold"/>
                <a:cs typeface="Inter SemiBold"/>
                <a:sym typeface="Inter SemiBold"/>
              </a:rPr>
              <a:t>Challenges Encountered During the Analysis</a:t>
            </a:r>
            <a:endParaRPr i="1" sz="1400">
              <a:solidFill>
                <a:schemeClr val="dk1"/>
              </a:solidFill>
              <a:latin typeface="Inter"/>
              <a:ea typeface="Inter"/>
              <a:cs typeface="Inter"/>
              <a:sym typeface="Inter"/>
            </a:endParaRPr>
          </a:p>
          <a:p>
            <a:pPr indent="0" lvl="0" marL="0" rtl="0" algn="l">
              <a:lnSpc>
                <a:spcPct val="115000"/>
              </a:lnSpc>
              <a:spcBef>
                <a:spcPts val="1200"/>
              </a:spcBef>
              <a:spcAft>
                <a:spcPts val="0"/>
              </a:spcAft>
              <a:buSzPts val="1800"/>
              <a:buNone/>
            </a:pPr>
            <a:r>
              <a:rPr lang="en" sz="1400">
                <a:solidFill>
                  <a:schemeClr val="dk1"/>
                </a:solidFill>
                <a:latin typeface="Inter"/>
                <a:ea typeface="Inter"/>
                <a:cs typeface="Inter"/>
                <a:sym typeface="Inter"/>
              </a:rPr>
              <a:t>North Dakota and South Dakota are among the states with no competitor cost and profit information available. While it may be logical to entirely remove those states in the analysis, that might also mean losing other vital information about these states.</a:t>
            </a:r>
            <a:endParaRPr sz="1400">
              <a:solidFill>
                <a:schemeClr val="dk1"/>
              </a:solidFill>
              <a:latin typeface="Inter"/>
              <a:ea typeface="Inter"/>
              <a:cs typeface="Inter"/>
              <a:sym typeface="Inter"/>
            </a:endParaRPr>
          </a:p>
          <a:p>
            <a:pPr indent="0" lvl="0" marL="0" rtl="0" algn="l">
              <a:lnSpc>
                <a:spcPct val="115000"/>
              </a:lnSpc>
              <a:spcBef>
                <a:spcPts val="1200"/>
              </a:spcBef>
              <a:spcAft>
                <a:spcPts val="0"/>
              </a:spcAft>
              <a:buSzPts val="1800"/>
              <a:buNone/>
            </a:pPr>
            <a:r>
              <a:rPr lang="en" sz="1400">
                <a:solidFill>
                  <a:schemeClr val="dk1"/>
                </a:solidFill>
                <a:latin typeface="Inter"/>
                <a:ea typeface="Inter"/>
                <a:cs typeface="Inter"/>
                <a:sym typeface="Inter"/>
              </a:rPr>
              <a:t>This could mean either two things:</a:t>
            </a:r>
            <a:endParaRPr sz="1400">
              <a:solidFill>
                <a:schemeClr val="dk1"/>
              </a:solidFill>
              <a:latin typeface="Inter"/>
              <a:ea typeface="Inter"/>
              <a:cs typeface="Inter"/>
              <a:sym typeface="Inter"/>
            </a:endParaRPr>
          </a:p>
          <a:p>
            <a:pPr indent="-317500" lvl="0" marL="457200" rtl="0" algn="l">
              <a:lnSpc>
                <a:spcPct val="115000"/>
              </a:lnSpc>
              <a:spcBef>
                <a:spcPts val="1200"/>
              </a:spcBef>
              <a:spcAft>
                <a:spcPts val="0"/>
              </a:spcAft>
              <a:buClr>
                <a:schemeClr val="dk1"/>
              </a:buClr>
              <a:buSzPts val="1400"/>
              <a:buFont typeface="Inter"/>
              <a:buChar char="●"/>
            </a:pPr>
            <a:r>
              <a:rPr lang="en" sz="1400">
                <a:solidFill>
                  <a:schemeClr val="dk1"/>
                </a:solidFill>
                <a:latin typeface="Inter"/>
                <a:ea typeface="Inter"/>
                <a:cs typeface="Inter"/>
                <a:sym typeface="Inter"/>
              </a:rPr>
              <a:t>The competitors have not expanded into those states. If this is the case, expanding into those states, given the right conditions, would potentially be profitable for the company.</a:t>
            </a:r>
            <a:endParaRPr sz="1400">
              <a:solidFill>
                <a:schemeClr val="dk1"/>
              </a:solidFill>
              <a:latin typeface="Inter"/>
              <a:ea typeface="Inter"/>
              <a:cs typeface="Inter"/>
              <a:sym typeface="Inter"/>
            </a:endParaRPr>
          </a:p>
          <a:p>
            <a:pPr indent="-317500" lvl="0" marL="457200" rtl="0" algn="l">
              <a:lnSpc>
                <a:spcPct val="115000"/>
              </a:lnSpc>
              <a:spcBef>
                <a:spcPts val="0"/>
              </a:spcBef>
              <a:spcAft>
                <a:spcPts val="0"/>
              </a:spcAft>
              <a:buClr>
                <a:schemeClr val="dk1"/>
              </a:buClr>
              <a:buSzPts val="1400"/>
              <a:buFont typeface="Inter"/>
              <a:buChar char="●"/>
            </a:pPr>
            <a:r>
              <a:rPr lang="en" sz="1400">
                <a:solidFill>
                  <a:schemeClr val="dk1"/>
                </a:solidFill>
                <a:latin typeface="Inter"/>
                <a:ea typeface="Inter"/>
                <a:cs typeface="Inter"/>
                <a:sym typeface="Inter"/>
              </a:rPr>
              <a:t>Competitors have expanded into those states, but information was not available. Efforts should be made in this case to obtain competitor information so as to get more accurate correlations and results.</a:t>
            </a:r>
            <a:endParaRPr sz="1400">
              <a:solidFill>
                <a:schemeClr val="dk1"/>
              </a:solidFill>
              <a:latin typeface="Inter"/>
              <a:ea typeface="Inter"/>
              <a:cs typeface="Inter"/>
              <a:sym typeface="Inter"/>
            </a:endParaRPr>
          </a:p>
        </p:txBody>
      </p:sp>
      <p:pic>
        <p:nvPicPr>
          <p:cNvPr id="390" name="Google Shape;390;p12"/>
          <p:cNvPicPr preferRelativeResize="0"/>
          <p:nvPr/>
        </p:nvPicPr>
        <p:blipFill rotWithShape="1">
          <a:blip r:embed="rId3">
            <a:alphaModFix/>
          </a:blip>
          <a:srcRect b="0" l="0" r="0" t="0"/>
          <a:stretch/>
        </p:blipFill>
        <p:spPr>
          <a:xfrm>
            <a:off x="458526" y="4459825"/>
            <a:ext cx="887050" cy="208450"/>
          </a:xfrm>
          <a:prstGeom prst="rect">
            <a:avLst/>
          </a:prstGeom>
          <a:noFill/>
          <a:ln>
            <a:noFill/>
          </a:ln>
        </p:spPr>
      </p:pic>
      <p:sp>
        <p:nvSpPr>
          <p:cNvPr id="391" name="Google Shape;391;p12"/>
          <p:cNvSpPr/>
          <p:nvPr/>
        </p:nvSpPr>
        <p:spPr>
          <a:xfrm>
            <a:off x="0" y="0"/>
            <a:ext cx="9144000" cy="295200"/>
          </a:xfrm>
          <a:prstGeom prst="rect">
            <a:avLst/>
          </a:prstGeom>
          <a:solidFill>
            <a:srgbClr val="DCF10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highlight>
                <a:srgbClr val="DCF10D"/>
              </a:highlight>
              <a:latin typeface="Arial"/>
              <a:ea typeface="Arial"/>
              <a:cs typeface="Arial"/>
              <a:sym typeface="Arial"/>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5" name="Shape 395"/>
        <p:cNvGrpSpPr/>
        <p:nvPr/>
      </p:nvGrpSpPr>
      <p:grpSpPr>
        <a:xfrm>
          <a:off x="0" y="0"/>
          <a:ext cx="0" cy="0"/>
          <a:chOff x="0" y="0"/>
          <a:chExt cx="0" cy="0"/>
        </a:xfrm>
      </p:grpSpPr>
      <p:sp>
        <p:nvSpPr>
          <p:cNvPr id="396" name="Google Shape;396;p1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solidFill>
                  <a:srgbClr val="424242"/>
                </a:solidFill>
                <a:latin typeface="Inter SemiBold"/>
                <a:ea typeface="Inter SemiBold"/>
                <a:cs typeface="Inter SemiBold"/>
                <a:sym typeface="Inter SemiBold"/>
              </a:rPr>
              <a:t>Conclusion</a:t>
            </a:r>
            <a:endParaRPr>
              <a:solidFill>
                <a:srgbClr val="424242"/>
              </a:solidFill>
              <a:latin typeface="Inter SemiBold"/>
              <a:ea typeface="Inter SemiBold"/>
              <a:cs typeface="Inter SemiBold"/>
              <a:sym typeface="Inter SemiBold"/>
            </a:endParaRPr>
          </a:p>
          <a:p>
            <a:pPr indent="0" lvl="0" marL="0" rtl="0" algn="l">
              <a:lnSpc>
                <a:spcPct val="100000"/>
              </a:lnSpc>
              <a:spcBef>
                <a:spcPts val="0"/>
              </a:spcBef>
              <a:spcAft>
                <a:spcPts val="0"/>
              </a:spcAft>
              <a:buSzPct val="111111"/>
              <a:buNone/>
            </a:pPr>
            <a:r>
              <a:t/>
            </a:r>
            <a:endParaRPr/>
          </a:p>
        </p:txBody>
      </p:sp>
      <p:sp>
        <p:nvSpPr>
          <p:cNvPr id="397" name="Google Shape;397;p13"/>
          <p:cNvSpPr txBox="1"/>
          <p:nvPr>
            <p:ph idx="1" type="body"/>
          </p:nvPr>
        </p:nvSpPr>
        <p:spPr>
          <a:xfrm>
            <a:off x="311700" y="1152475"/>
            <a:ext cx="8260800" cy="3943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sz="1400">
                <a:solidFill>
                  <a:schemeClr val="dk1"/>
                </a:solidFill>
                <a:latin typeface="Inter SemiBold"/>
                <a:ea typeface="Inter SemiBold"/>
                <a:cs typeface="Inter SemiBold"/>
                <a:sym typeface="Inter SemiBold"/>
              </a:rPr>
              <a:t>Recommendations for Future Research</a:t>
            </a:r>
            <a:endParaRPr i="1" sz="1400">
              <a:solidFill>
                <a:schemeClr val="dk1"/>
              </a:solidFill>
              <a:latin typeface="Inter"/>
              <a:ea typeface="Inter"/>
              <a:cs typeface="Inter"/>
              <a:sym typeface="Inter"/>
            </a:endParaRPr>
          </a:p>
          <a:p>
            <a:pPr indent="0" lvl="0" marL="0" rtl="0" algn="l">
              <a:lnSpc>
                <a:spcPct val="115000"/>
              </a:lnSpc>
              <a:spcBef>
                <a:spcPts val="1200"/>
              </a:spcBef>
              <a:spcAft>
                <a:spcPts val="0"/>
              </a:spcAft>
              <a:buClr>
                <a:schemeClr val="dk1"/>
              </a:buClr>
              <a:buSzPts val="1100"/>
              <a:buFont typeface="Arial"/>
              <a:buNone/>
            </a:pPr>
            <a:r>
              <a:rPr lang="en" sz="1400">
                <a:solidFill>
                  <a:schemeClr val="dk1"/>
                </a:solidFill>
                <a:latin typeface="Inter"/>
                <a:ea typeface="Inter"/>
                <a:cs typeface="Inter"/>
                <a:sym typeface="Inter"/>
              </a:rPr>
              <a:t>Future researches may focus on the following research questions:</a:t>
            </a:r>
            <a:endParaRPr sz="1400">
              <a:solidFill>
                <a:schemeClr val="dk1"/>
              </a:solidFill>
              <a:latin typeface="Inter"/>
              <a:ea typeface="Inter"/>
              <a:cs typeface="Inter"/>
              <a:sym typeface="Inter"/>
            </a:endParaRPr>
          </a:p>
          <a:p>
            <a:pPr indent="-317500" lvl="0" marL="457200" rtl="0" algn="l">
              <a:lnSpc>
                <a:spcPct val="115000"/>
              </a:lnSpc>
              <a:spcBef>
                <a:spcPts val="1200"/>
              </a:spcBef>
              <a:spcAft>
                <a:spcPts val="0"/>
              </a:spcAft>
              <a:buClr>
                <a:schemeClr val="dk1"/>
              </a:buClr>
              <a:buSzPts val="1400"/>
              <a:buFont typeface="Inter"/>
              <a:buChar char="●"/>
            </a:pPr>
            <a:r>
              <a:rPr lang="en" sz="1400">
                <a:solidFill>
                  <a:schemeClr val="dk1"/>
                </a:solidFill>
                <a:latin typeface="Inter"/>
                <a:ea typeface="Inter"/>
                <a:cs typeface="Inter"/>
                <a:sym typeface="Inter"/>
              </a:rPr>
              <a:t>How does the breakdown of healthcare spending by state and category vary across the country, and what are the implications for resource allocation?</a:t>
            </a:r>
            <a:endParaRPr sz="1400">
              <a:solidFill>
                <a:schemeClr val="dk1"/>
              </a:solidFill>
              <a:latin typeface="Inter"/>
              <a:ea typeface="Inter"/>
              <a:cs typeface="Inter"/>
              <a:sym typeface="Inter"/>
            </a:endParaRPr>
          </a:p>
          <a:p>
            <a:pPr indent="-317500" lvl="0" marL="457200" rtl="0" algn="l">
              <a:lnSpc>
                <a:spcPct val="115000"/>
              </a:lnSpc>
              <a:spcBef>
                <a:spcPts val="0"/>
              </a:spcBef>
              <a:spcAft>
                <a:spcPts val="0"/>
              </a:spcAft>
              <a:buClr>
                <a:schemeClr val="dk1"/>
              </a:buClr>
              <a:buSzPts val="1400"/>
              <a:buFont typeface="Inter"/>
              <a:buChar char="●"/>
            </a:pPr>
            <a:r>
              <a:rPr lang="en" sz="1400">
                <a:solidFill>
                  <a:schemeClr val="dk1"/>
                </a:solidFill>
                <a:latin typeface="Inter"/>
                <a:ea typeface="Inter"/>
                <a:cs typeface="Inter"/>
                <a:sym typeface="Inter"/>
              </a:rPr>
              <a:t>How do a state's average income and population size affect the average spending on healthcare-related products and services per person?</a:t>
            </a:r>
            <a:endParaRPr sz="1400">
              <a:solidFill>
                <a:schemeClr val="dk1"/>
              </a:solidFill>
              <a:latin typeface="Inter"/>
              <a:ea typeface="Inter"/>
              <a:cs typeface="Inter"/>
              <a:sym typeface="Inter"/>
            </a:endParaRPr>
          </a:p>
          <a:p>
            <a:pPr indent="-317500" lvl="0" marL="457200" rtl="0" algn="l">
              <a:lnSpc>
                <a:spcPct val="115000"/>
              </a:lnSpc>
              <a:spcBef>
                <a:spcPts val="0"/>
              </a:spcBef>
              <a:spcAft>
                <a:spcPts val="0"/>
              </a:spcAft>
              <a:buClr>
                <a:schemeClr val="dk1"/>
              </a:buClr>
              <a:buSzPts val="1400"/>
              <a:buFont typeface="Inter"/>
              <a:buChar char="●"/>
            </a:pPr>
            <a:r>
              <a:rPr lang="en" sz="1400">
                <a:solidFill>
                  <a:schemeClr val="dk1"/>
                </a:solidFill>
                <a:latin typeface="Inter"/>
                <a:ea typeface="Inter"/>
                <a:cs typeface="Inter"/>
                <a:sym typeface="Inter"/>
              </a:rPr>
              <a:t>Is there a correlation between a state's level of corruption and its competitor companies' profits?</a:t>
            </a:r>
            <a:endParaRPr sz="1400">
              <a:solidFill>
                <a:schemeClr val="dk1"/>
              </a:solidFill>
              <a:latin typeface="Inter"/>
              <a:ea typeface="Inter"/>
              <a:cs typeface="Inter"/>
              <a:sym typeface="Inter"/>
            </a:endParaRPr>
          </a:p>
          <a:p>
            <a:pPr indent="0" lvl="0" marL="0" rtl="0" algn="l">
              <a:lnSpc>
                <a:spcPct val="115000"/>
              </a:lnSpc>
              <a:spcBef>
                <a:spcPts val="1200"/>
              </a:spcBef>
              <a:spcAft>
                <a:spcPts val="0"/>
              </a:spcAft>
              <a:buSzPts val="1800"/>
              <a:buNone/>
            </a:pPr>
            <a:r>
              <a:t/>
            </a:r>
            <a:endParaRPr sz="1400">
              <a:solidFill>
                <a:srgbClr val="374151"/>
              </a:solidFill>
              <a:highlight>
                <a:schemeClr val="lt1"/>
              </a:highlight>
              <a:latin typeface="Inter SemiBold"/>
              <a:ea typeface="Inter SemiBold"/>
              <a:cs typeface="Inter SemiBold"/>
              <a:sym typeface="Inter SemiBold"/>
            </a:endParaRPr>
          </a:p>
          <a:p>
            <a:pPr indent="0" lvl="0" marL="0" rtl="0" algn="l">
              <a:lnSpc>
                <a:spcPct val="100000"/>
              </a:lnSpc>
              <a:spcBef>
                <a:spcPts val="1200"/>
              </a:spcBef>
              <a:spcAft>
                <a:spcPts val="0"/>
              </a:spcAft>
              <a:buSzPts val="1800"/>
              <a:buNone/>
            </a:pPr>
            <a:r>
              <a:t/>
            </a:r>
            <a:endParaRPr sz="1000">
              <a:solidFill>
                <a:schemeClr val="dk1"/>
              </a:solidFill>
              <a:latin typeface="Nunito"/>
              <a:ea typeface="Nunito"/>
              <a:cs typeface="Nunito"/>
              <a:sym typeface="Nunito"/>
            </a:endParaRPr>
          </a:p>
          <a:p>
            <a:pPr indent="0" lvl="0" marL="0" rtl="0" algn="l">
              <a:lnSpc>
                <a:spcPct val="115000"/>
              </a:lnSpc>
              <a:spcBef>
                <a:spcPts val="0"/>
              </a:spcBef>
              <a:spcAft>
                <a:spcPts val="1200"/>
              </a:spcAft>
              <a:buSzPts val="1800"/>
              <a:buNone/>
            </a:pPr>
            <a:r>
              <a:t/>
            </a:r>
            <a:endParaRPr b="1" sz="1400">
              <a:solidFill>
                <a:srgbClr val="374151"/>
              </a:solidFill>
              <a:highlight>
                <a:srgbClr val="FFFFFF"/>
              </a:highlight>
              <a:latin typeface="Inter"/>
              <a:ea typeface="Inter"/>
              <a:cs typeface="Inter"/>
              <a:sym typeface="Inter"/>
            </a:endParaRPr>
          </a:p>
        </p:txBody>
      </p:sp>
      <p:pic>
        <p:nvPicPr>
          <p:cNvPr id="398" name="Google Shape;398;p13"/>
          <p:cNvPicPr preferRelativeResize="0"/>
          <p:nvPr/>
        </p:nvPicPr>
        <p:blipFill rotWithShape="1">
          <a:blip r:embed="rId3">
            <a:alphaModFix/>
          </a:blip>
          <a:srcRect b="0" l="0" r="0" t="0"/>
          <a:stretch/>
        </p:blipFill>
        <p:spPr>
          <a:xfrm>
            <a:off x="458526" y="4459825"/>
            <a:ext cx="887050" cy="208450"/>
          </a:xfrm>
          <a:prstGeom prst="rect">
            <a:avLst/>
          </a:prstGeom>
          <a:noFill/>
          <a:ln>
            <a:noFill/>
          </a:ln>
        </p:spPr>
      </p:pic>
      <p:sp>
        <p:nvSpPr>
          <p:cNvPr id="399" name="Google Shape;399;p13"/>
          <p:cNvSpPr/>
          <p:nvPr/>
        </p:nvSpPr>
        <p:spPr>
          <a:xfrm>
            <a:off x="0" y="0"/>
            <a:ext cx="9144000" cy="295200"/>
          </a:xfrm>
          <a:prstGeom prst="rect">
            <a:avLst/>
          </a:prstGeom>
          <a:solidFill>
            <a:srgbClr val="DCF10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highlight>
                <a:srgbClr val="DCF10D"/>
              </a:highlight>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