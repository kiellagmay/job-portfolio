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6C444C1-E3BC-4233-B643-1F4347C62EC8}">
  <a:tblStyle styleId="{B6C444C1-E3BC-4233-B643-1F4347C62EC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24" Type="http://schemas.openxmlformats.org/officeDocument/2006/relationships/slide" Target="slides/slide18.xml"/><Relationship Id="rId12" Type="http://schemas.openxmlformats.org/officeDocument/2006/relationships/slide" Target="slides/slide6.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3d6d24d5e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3d6d24d5e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3d6d24d5e2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3d6d24d5e2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3d6d24d5e2_1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3d6d24d5e2_1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3d6d24d5e2_1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3d6d24d5e2_1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3d6d24d5e2_1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3d6d24d5e2_1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3d6d24d5e2_1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3d6d24d5e2_1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3d6d24d5e2_1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3d6d24d5e2_1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3d6d24d5e2_1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3d6d24d5e2_1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3d6d24d5e2_1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3d6d24d5e2_1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3d6d24d5e2_1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3d6d24d5e2_1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3d6d24d5e2_1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3d6d24d5e2_1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3d6d24d5e2_1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3d6d24d5e2_1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3d6d24d5e2_1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3d6d24d5e2_1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3d6d24d5e2_1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3d6d24d5e2_1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3d6d24d5e2_1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3d6d24d5e2_1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3d6d24d5e2_1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3d6d24d5e2_1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767d45ec5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767d45ec5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02060"/>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b="1" lang="en" sz="4180">
                <a:solidFill>
                  <a:srgbClr val="00CCFF"/>
                </a:solidFill>
              </a:rPr>
              <a:t>Effectiveness of Marketing Campaigns by PopCrt from a Demographic Perspective</a:t>
            </a:r>
            <a:endParaRPr b="1" sz="4180">
              <a:solidFill>
                <a:srgbClr val="00CCFF"/>
              </a:solidFill>
            </a:endParaRPr>
          </a:p>
        </p:txBody>
      </p:sp>
      <p:sp>
        <p:nvSpPr>
          <p:cNvPr id="55" name="Google Shape;55;p13"/>
          <p:cNvSpPr txBox="1"/>
          <p:nvPr>
            <p:ph idx="1" type="subTitle"/>
          </p:nvPr>
        </p:nvSpPr>
        <p:spPr>
          <a:xfrm>
            <a:off x="311700" y="39963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rgbClr val="FF00FF"/>
                </a:solidFill>
              </a:rPr>
              <a:t>Pop</a:t>
            </a:r>
            <a:r>
              <a:rPr b="1" lang="en">
                <a:solidFill>
                  <a:schemeClr val="lt1"/>
                </a:solidFill>
              </a:rPr>
              <a:t>Crt</a:t>
            </a:r>
            <a:endParaRPr b="1">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00CCFF"/>
                </a:solidFill>
              </a:rPr>
              <a:t>Problem</a:t>
            </a:r>
            <a:endParaRPr b="1">
              <a:solidFill>
                <a:srgbClr val="00CCFF"/>
              </a:solidFill>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3000">
                <a:solidFill>
                  <a:srgbClr val="FF00FF"/>
                </a:solidFill>
              </a:rPr>
              <a:t>Are the marketing campaigns effective in increasing clicks and profits, depending on the </a:t>
            </a:r>
            <a:r>
              <a:rPr lang="en" sz="3000">
                <a:solidFill>
                  <a:srgbClr val="FF00FF"/>
                </a:solidFill>
              </a:rPr>
              <a:t>target</a:t>
            </a:r>
            <a:r>
              <a:rPr lang="en" sz="3000">
                <a:solidFill>
                  <a:srgbClr val="FF00FF"/>
                </a:solidFill>
              </a:rPr>
              <a:t> market?</a:t>
            </a:r>
            <a:endParaRPr sz="3000">
              <a:solidFill>
                <a:srgbClr val="FF00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00CCFF"/>
                </a:solidFill>
              </a:rPr>
              <a:t>Objectives</a:t>
            </a:r>
            <a:endParaRPr b="1">
              <a:solidFill>
                <a:srgbClr val="00CCFF"/>
              </a:solidFill>
            </a:endParaRPr>
          </a:p>
        </p:txBody>
      </p:sp>
      <p:graphicFrame>
        <p:nvGraphicFramePr>
          <p:cNvPr id="67" name="Google Shape;67;p15"/>
          <p:cNvGraphicFramePr/>
          <p:nvPr/>
        </p:nvGraphicFramePr>
        <p:xfrm>
          <a:off x="311700" y="1257725"/>
          <a:ext cx="3000000" cy="3000000"/>
        </p:xfrm>
        <a:graphic>
          <a:graphicData uri="http://schemas.openxmlformats.org/drawingml/2006/table">
            <a:tbl>
              <a:tblPr>
                <a:noFill/>
                <a:tableStyleId>{B6C444C1-E3BC-4233-B643-1F4347C62EC8}</a:tableStyleId>
              </a:tblPr>
              <a:tblGrid>
                <a:gridCol w="2867700"/>
                <a:gridCol w="2867700"/>
                <a:gridCol w="2867700"/>
              </a:tblGrid>
              <a:tr h="3346400">
                <a:tc>
                  <a:txBody>
                    <a:bodyPr/>
                    <a:lstStyle/>
                    <a:p>
                      <a:pPr indent="0" lvl="0" marL="0" rtl="0" algn="l">
                        <a:spcBef>
                          <a:spcPts val="0"/>
                        </a:spcBef>
                        <a:spcAft>
                          <a:spcPts val="0"/>
                        </a:spcAft>
                        <a:buNone/>
                      </a:pPr>
                      <a:r>
                        <a:rPr lang="en" sz="2400">
                          <a:solidFill>
                            <a:srgbClr val="002060"/>
                          </a:solidFill>
                        </a:rPr>
                        <a:t>Determine which product categories are the most popular per market segment (e.g. gender, location, and age group).</a:t>
                      </a:r>
                      <a:endParaRPr sz="2400">
                        <a:solidFill>
                          <a:srgbClr val="002060"/>
                        </a:solidFill>
                      </a:endParaRPr>
                    </a:p>
                  </a:txBody>
                  <a:tcPr marT="91425" marB="91425" marR="91425" marL="91425">
                    <a:lnL cap="flat" cmpd="sng" w="76200">
                      <a:solidFill>
                        <a:srgbClr val="002060"/>
                      </a:solidFill>
                      <a:prstDash val="solid"/>
                      <a:round/>
                      <a:headEnd len="sm" w="sm" type="none"/>
                      <a:tailEnd len="sm" w="sm" type="none"/>
                    </a:lnL>
                    <a:lnR cap="flat" cmpd="sng" w="76200">
                      <a:solidFill>
                        <a:srgbClr val="002060"/>
                      </a:solidFill>
                      <a:prstDash val="solid"/>
                      <a:round/>
                      <a:headEnd len="sm" w="sm" type="none"/>
                      <a:tailEnd len="sm" w="sm" type="none"/>
                    </a:lnR>
                    <a:lnT cap="flat" cmpd="sng" w="76200">
                      <a:solidFill>
                        <a:srgbClr val="002060"/>
                      </a:solidFill>
                      <a:prstDash val="solid"/>
                      <a:round/>
                      <a:headEnd len="sm" w="sm" type="none"/>
                      <a:tailEnd len="sm" w="sm" type="none"/>
                    </a:lnT>
                    <a:lnB cap="flat" cmpd="sng" w="76200">
                      <a:solidFill>
                        <a:srgbClr val="002060"/>
                      </a:solidFill>
                      <a:prstDash val="solid"/>
                      <a:round/>
                      <a:headEnd len="sm" w="sm" type="none"/>
                      <a:tailEnd len="sm" w="sm" type="none"/>
                    </a:lnB>
                    <a:solidFill>
                      <a:srgbClr val="8EFF46"/>
                    </a:solidFill>
                  </a:tcPr>
                </a:tc>
                <a:tc>
                  <a:txBody>
                    <a:bodyPr/>
                    <a:lstStyle/>
                    <a:p>
                      <a:pPr indent="0" lvl="0" marL="0" rtl="0" algn="l">
                        <a:spcBef>
                          <a:spcPts val="0"/>
                        </a:spcBef>
                        <a:spcAft>
                          <a:spcPts val="0"/>
                        </a:spcAft>
                        <a:buNone/>
                      </a:pPr>
                      <a:r>
                        <a:rPr lang="en" sz="2400">
                          <a:solidFill>
                            <a:srgbClr val="002060"/>
                          </a:solidFill>
                        </a:rPr>
                        <a:t>Determine which campaigns are performing best by gender.</a:t>
                      </a:r>
                      <a:endParaRPr sz="2400">
                        <a:solidFill>
                          <a:srgbClr val="002060"/>
                        </a:solidFill>
                      </a:endParaRPr>
                    </a:p>
                  </a:txBody>
                  <a:tcPr marT="91425" marB="91425" marR="91425" marL="91425">
                    <a:lnL cap="flat" cmpd="sng" w="76200">
                      <a:solidFill>
                        <a:srgbClr val="002060"/>
                      </a:solidFill>
                      <a:prstDash val="solid"/>
                      <a:round/>
                      <a:headEnd len="sm" w="sm" type="none"/>
                      <a:tailEnd len="sm" w="sm" type="none"/>
                    </a:lnL>
                    <a:lnR cap="flat" cmpd="sng" w="76200">
                      <a:solidFill>
                        <a:srgbClr val="002060"/>
                      </a:solidFill>
                      <a:prstDash val="solid"/>
                      <a:round/>
                      <a:headEnd len="sm" w="sm" type="none"/>
                      <a:tailEnd len="sm" w="sm" type="none"/>
                    </a:lnR>
                    <a:lnT cap="flat" cmpd="sng" w="76200">
                      <a:solidFill>
                        <a:srgbClr val="002060"/>
                      </a:solidFill>
                      <a:prstDash val="solid"/>
                      <a:round/>
                      <a:headEnd len="sm" w="sm" type="none"/>
                      <a:tailEnd len="sm" w="sm" type="none"/>
                    </a:lnT>
                    <a:lnB cap="flat" cmpd="sng" w="76200">
                      <a:solidFill>
                        <a:srgbClr val="002060"/>
                      </a:solidFill>
                      <a:prstDash val="solid"/>
                      <a:round/>
                      <a:headEnd len="sm" w="sm" type="none"/>
                      <a:tailEnd len="sm" w="sm" type="none"/>
                    </a:lnB>
                    <a:solidFill>
                      <a:srgbClr val="8EFF46"/>
                    </a:solidFill>
                  </a:tcPr>
                </a:tc>
                <a:tc>
                  <a:txBody>
                    <a:bodyPr/>
                    <a:lstStyle/>
                    <a:p>
                      <a:pPr indent="0" lvl="0" marL="0" rtl="0" algn="l">
                        <a:spcBef>
                          <a:spcPts val="0"/>
                        </a:spcBef>
                        <a:spcAft>
                          <a:spcPts val="0"/>
                        </a:spcAft>
                        <a:buNone/>
                      </a:pPr>
                      <a:r>
                        <a:rPr lang="en" sz="2400">
                          <a:solidFill>
                            <a:srgbClr val="002060"/>
                          </a:solidFill>
                        </a:rPr>
                        <a:t>Determine which age groups are more likely to interact with the marketing campaigns.</a:t>
                      </a:r>
                      <a:endParaRPr sz="2400">
                        <a:solidFill>
                          <a:srgbClr val="002060"/>
                        </a:solidFill>
                      </a:endParaRPr>
                    </a:p>
                  </a:txBody>
                  <a:tcPr marT="91425" marB="91425" marR="91425" marL="91425">
                    <a:lnL cap="flat" cmpd="sng" w="76200">
                      <a:solidFill>
                        <a:srgbClr val="002060"/>
                      </a:solidFill>
                      <a:prstDash val="solid"/>
                      <a:round/>
                      <a:headEnd len="sm" w="sm" type="none"/>
                      <a:tailEnd len="sm" w="sm" type="none"/>
                    </a:lnL>
                    <a:lnR cap="flat" cmpd="sng" w="76200">
                      <a:solidFill>
                        <a:srgbClr val="002060"/>
                      </a:solidFill>
                      <a:prstDash val="solid"/>
                      <a:round/>
                      <a:headEnd len="sm" w="sm" type="none"/>
                      <a:tailEnd len="sm" w="sm" type="none"/>
                    </a:lnR>
                    <a:lnT cap="flat" cmpd="sng" w="76200">
                      <a:solidFill>
                        <a:srgbClr val="002060"/>
                      </a:solidFill>
                      <a:prstDash val="solid"/>
                      <a:round/>
                      <a:headEnd len="sm" w="sm" type="none"/>
                      <a:tailEnd len="sm" w="sm" type="none"/>
                    </a:lnT>
                    <a:lnB cap="flat" cmpd="sng" w="76200">
                      <a:solidFill>
                        <a:srgbClr val="002060"/>
                      </a:solidFill>
                      <a:prstDash val="solid"/>
                      <a:round/>
                      <a:headEnd len="sm" w="sm" type="none"/>
                      <a:tailEnd len="sm" w="sm" type="none"/>
                    </a:lnB>
                    <a:solidFill>
                      <a:srgbClr val="8EFF46"/>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00CCFF"/>
                </a:solidFill>
              </a:rPr>
              <a:t>Data Analysis Goals</a:t>
            </a:r>
            <a:endParaRPr b="1">
              <a:solidFill>
                <a:srgbClr val="00CCFF"/>
              </a:solidFill>
            </a:endParaRPr>
          </a:p>
        </p:txBody>
      </p:sp>
      <p:graphicFrame>
        <p:nvGraphicFramePr>
          <p:cNvPr id="73" name="Google Shape;73;p16"/>
          <p:cNvGraphicFramePr/>
          <p:nvPr/>
        </p:nvGraphicFramePr>
        <p:xfrm>
          <a:off x="311700" y="1121250"/>
          <a:ext cx="3000000" cy="3000000"/>
        </p:xfrm>
        <a:graphic>
          <a:graphicData uri="http://schemas.openxmlformats.org/drawingml/2006/table">
            <a:tbl>
              <a:tblPr>
                <a:noFill/>
                <a:tableStyleId>{B6C444C1-E3BC-4233-B643-1F4347C62EC8}</a:tableStyleId>
              </a:tblPr>
              <a:tblGrid>
                <a:gridCol w="2130150"/>
                <a:gridCol w="2130150"/>
                <a:gridCol w="2130150"/>
                <a:gridCol w="2130150"/>
              </a:tblGrid>
              <a:tr h="1723275">
                <a:tc>
                  <a:txBody>
                    <a:bodyPr/>
                    <a:lstStyle/>
                    <a:p>
                      <a:pPr indent="0" lvl="0" marL="0" rtl="0" algn="l">
                        <a:spcBef>
                          <a:spcPts val="0"/>
                        </a:spcBef>
                        <a:spcAft>
                          <a:spcPts val="0"/>
                        </a:spcAft>
                        <a:buNone/>
                      </a:pPr>
                      <a:r>
                        <a:rPr lang="en">
                          <a:solidFill>
                            <a:srgbClr val="002060"/>
                          </a:solidFill>
                        </a:rPr>
                        <a:t>What is the overall click-through rate (CTR) for the campaigns launched by the company?</a:t>
                      </a:r>
                      <a:endParaRPr>
                        <a:solidFill>
                          <a:srgbClr val="002060"/>
                        </a:solidFill>
                      </a:endParaRPr>
                    </a:p>
                  </a:txBody>
                  <a:tcPr marT="91425" marB="91425" marR="91425" marL="91425">
                    <a:lnL cap="flat" cmpd="sng" w="114300">
                      <a:solidFill>
                        <a:srgbClr val="002060"/>
                      </a:solidFill>
                      <a:prstDash val="solid"/>
                      <a:round/>
                      <a:headEnd len="sm" w="sm" type="none"/>
                      <a:tailEnd len="sm" w="sm" type="none"/>
                    </a:lnL>
                    <a:lnR cap="flat" cmpd="sng" w="114300">
                      <a:solidFill>
                        <a:srgbClr val="002060"/>
                      </a:solidFill>
                      <a:prstDash val="solid"/>
                      <a:round/>
                      <a:headEnd len="sm" w="sm" type="none"/>
                      <a:tailEnd len="sm" w="sm" type="none"/>
                    </a:lnR>
                    <a:lnT cap="flat" cmpd="sng" w="114300">
                      <a:solidFill>
                        <a:srgbClr val="002060"/>
                      </a:solidFill>
                      <a:prstDash val="solid"/>
                      <a:round/>
                      <a:headEnd len="sm" w="sm" type="none"/>
                      <a:tailEnd len="sm" w="sm" type="none"/>
                    </a:lnT>
                    <a:lnB cap="flat" cmpd="sng" w="114300">
                      <a:solidFill>
                        <a:srgbClr val="002060"/>
                      </a:solidFill>
                      <a:prstDash val="solid"/>
                      <a:round/>
                      <a:headEnd len="sm" w="sm" type="none"/>
                      <a:tailEnd len="sm" w="sm" type="none"/>
                    </a:lnB>
                    <a:solidFill>
                      <a:srgbClr val="8EFF46"/>
                    </a:solidFill>
                  </a:tcPr>
                </a:tc>
                <a:tc>
                  <a:txBody>
                    <a:bodyPr/>
                    <a:lstStyle/>
                    <a:p>
                      <a:pPr indent="0" lvl="0" marL="0" rtl="0" algn="l">
                        <a:spcBef>
                          <a:spcPts val="0"/>
                        </a:spcBef>
                        <a:spcAft>
                          <a:spcPts val="0"/>
                        </a:spcAft>
                        <a:buNone/>
                      </a:pPr>
                      <a:r>
                        <a:rPr lang="en">
                          <a:solidFill>
                            <a:srgbClr val="002060"/>
                          </a:solidFill>
                        </a:rPr>
                        <a:t>What is the CTR for each product category?</a:t>
                      </a:r>
                      <a:endParaRPr>
                        <a:solidFill>
                          <a:srgbClr val="002060"/>
                        </a:solidFill>
                      </a:endParaRPr>
                    </a:p>
                  </a:txBody>
                  <a:tcPr marT="91425" marB="91425" marR="91425" marL="91425">
                    <a:lnL cap="flat" cmpd="sng" w="114300">
                      <a:solidFill>
                        <a:srgbClr val="002060"/>
                      </a:solidFill>
                      <a:prstDash val="solid"/>
                      <a:round/>
                      <a:headEnd len="sm" w="sm" type="none"/>
                      <a:tailEnd len="sm" w="sm" type="none"/>
                    </a:lnL>
                    <a:lnR cap="flat" cmpd="sng" w="114300">
                      <a:solidFill>
                        <a:srgbClr val="002060"/>
                      </a:solidFill>
                      <a:prstDash val="solid"/>
                      <a:round/>
                      <a:headEnd len="sm" w="sm" type="none"/>
                      <a:tailEnd len="sm" w="sm" type="none"/>
                    </a:lnR>
                    <a:lnT cap="flat" cmpd="sng" w="114300">
                      <a:solidFill>
                        <a:srgbClr val="002060"/>
                      </a:solidFill>
                      <a:prstDash val="solid"/>
                      <a:round/>
                      <a:headEnd len="sm" w="sm" type="none"/>
                      <a:tailEnd len="sm" w="sm" type="none"/>
                    </a:lnT>
                    <a:lnB cap="flat" cmpd="sng" w="114300">
                      <a:solidFill>
                        <a:srgbClr val="002060"/>
                      </a:solidFill>
                      <a:prstDash val="solid"/>
                      <a:round/>
                      <a:headEnd len="sm" w="sm" type="none"/>
                      <a:tailEnd len="sm" w="sm" type="none"/>
                    </a:lnB>
                    <a:solidFill>
                      <a:srgbClr val="8EFF46"/>
                    </a:solidFill>
                  </a:tcPr>
                </a:tc>
                <a:tc>
                  <a:txBody>
                    <a:bodyPr/>
                    <a:lstStyle/>
                    <a:p>
                      <a:pPr indent="0" lvl="0" marL="0" rtl="0" algn="l">
                        <a:spcBef>
                          <a:spcPts val="0"/>
                        </a:spcBef>
                        <a:spcAft>
                          <a:spcPts val="0"/>
                        </a:spcAft>
                        <a:buNone/>
                      </a:pPr>
                      <a:r>
                        <a:rPr lang="en">
                          <a:solidFill>
                            <a:srgbClr val="002060"/>
                          </a:solidFill>
                        </a:rPr>
                        <a:t>What percentage of the total revenue generated during campaign periods is contributed by female customers?</a:t>
                      </a:r>
                      <a:endParaRPr>
                        <a:solidFill>
                          <a:srgbClr val="002060"/>
                        </a:solidFill>
                      </a:endParaRPr>
                    </a:p>
                  </a:txBody>
                  <a:tcPr marT="91425" marB="91425" marR="91425" marL="91425">
                    <a:lnL cap="flat" cmpd="sng" w="114300">
                      <a:solidFill>
                        <a:srgbClr val="002060"/>
                      </a:solidFill>
                      <a:prstDash val="solid"/>
                      <a:round/>
                      <a:headEnd len="sm" w="sm" type="none"/>
                      <a:tailEnd len="sm" w="sm" type="none"/>
                    </a:lnL>
                    <a:lnR cap="flat" cmpd="sng" w="114300">
                      <a:solidFill>
                        <a:srgbClr val="002060"/>
                      </a:solidFill>
                      <a:prstDash val="solid"/>
                      <a:round/>
                      <a:headEnd len="sm" w="sm" type="none"/>
                      <a:tailEnd len="sm" w="sm" type="none"/>
                    </a:lnR>
                    <a:lnT cap="flat" cmpd="sng" w="114300">
                      <a:solidFill>
                        <a:srgbClr val="002060"/>
                      </a:solidFill>
                      <a:prstDash val="solid"/>
                      <a:round/>
                      <a:headEnd len="sm" w="sm" type="none"/>
                      <a:tailEnd len="sm" w="sm" type="none"/>
                    </a:lnT>
                    <a:lnB cap="flat" cmpd="sng" w="114300">
                      <a:solidFill>
                        <a:srgbClr val="002060"/>
                      </a:solidFill>
                      <a:prstDash val="solid"/>
                      <a:round/>
                      <a:headEnd len="sm" w="sm" type="none"/>
                      <a:tailEnd len="sm" w="sm" type="none"/>
                    </a:lnB>
                    <a:solidFill>
                      <a:srgbClr val="8EFF46"/>
                    </a:solidFill>
                  </a:tcPr>
                </a:tc>
                <a:tc>
                  <a:txBody>
                    <a:bodyPr/>
                    <a:lstStyle/>
                    <a:p>
                      <a:pPr indent="0" lvl="0" marL="0" rtl="0" algn="l">
                        <a:spcBef>
                          <a:spcPts val="0"/>
                        </a:spcBef>
                        <a:spcAft>
                          <a:spcPts val="0"/>
                        </a:spcAft>
                        <a:buNone/>
                      </a:pPr>
                      <a:r>
                        <a:rPr lang="en">
                          <a:solidFill>
                            <a:srgbClr val="002060"/>
                          </a:solidFill>
                        </a:rPr>
                        <a:t>Which campaign has generated the most impressions?</a:t>
                      </a:r>
                      <a:endParaRPr>
                        <a:solidFill>
                          <a:srgbClr val="002060"/>
                        </a:solidFill>
                      </a:endParaRPr>
                    </a:p>
                  </a:txBody>
                  <a:tcPr marT="91425" marB="91425" marR="91425" marL="91425">
                    <a:lnL cap="flat" cmpd="sng" w="114300">
                      <a:solidFill>
                        <a:srgbClr val="002060"/>
                      </a:solidFill>
                      <a:prstDash val="solid"/>
                      <a:round/>
                      <a:headEnd len="sm" w="sm" type="none"/>
                      <a:tailEnd len="sm" w="sm" type="none"/>
                    </a:lnL>
                    <a:lnR cap="flat" cmpd="sng" w="114300">
                      <a:solidFill>
                        <a:srgbClr val="002060"/>
                      </a:solidFill>
                      <a:prstDash val="solid"/>
                      <a:round/>
                      <a:headEnd len="sm" w="sm" type="none"/>
                      <a:tailEnd len="sm" w="sm" type="none"/>
                    </a:lnR>
                    <a:lnT cap="flat" cmpd="sng" w="114300">
                      <a:solidFill>
                        <a:srgbClr val="002060"/>
                      </a:solidFill>
                      <a:prstDash val="solid"/>
                      <a:round/>
                      <a:headEnd len="sm" w="sm" type="none"/>
                      <a:tailEnd len="sm" w="sm" type="none"/>
                    </a:lnT>
                    <a:lnB cap="flat" cmpd="sng" w="114300">
                      <a:solidFill>
                        <a:srgbClr val="002060"/>
                      </a:solidFill>
                      <a:prstDash val="solid"/>
                      <a:round/>
                      <a:headEnd len="sm" w="sm" type="none"/>
                      <a:tailEnd len="sm" w="sm" type="none"/>
                    </a:lnB>
                    <a:solidFill>
                      <a:srgbClr val="8EFF46"/>
                    </a:solidFill>
                  </a:tcPr>
                </a:tc>
              </a:tr>
              <a:tr h="1723275">
                <a:tc>
                  <a:txBody>
                    <a:bodyPr/>
                    <a:lstStyle/>
                    <a:p>
                      <a:pPr indent="0" lvl="0" marL="0" rtl="0" algn="l">
                        <a:spcBef>
                          <a:spcPts val="0"/>
                        </a:spcBef>
                        <a:spcAft>
                          <a:spcPts val="0"/>
                        </a:spcAft>
                        <a:buNone/>
                      </a:pPr>
                      <a:r>
                        <a:rPr lang="en">
                          <a:solidFill>
                            <a:srgbClr val="002060"/>
                          </a:solidFill>
                        </a:rPr>
                        <a:t>How many unique users per location viewed the campaign with the most impressions?</a:t>
                      </a:r>
                      <a:endParaRPr>
                        <a:solidFill>
                          <a:srgbClr val="002060"/>
                        </a:solidFill>
                      </a:endParaRPr>
                    </a:p>
                  </a:txBody>
                  <a:tcPr marT="91425" marB="91425" marR="91425" marL="91425">
                    <a:lnL cap="flat" cmpd="sng" w="114300">
                      <a:solidFill>
                        <a:srgbClr val="002060"/>
                      </a:solidFill>
                      <a:prstDash val="solid"/>
                      <a:round/>
                      <a:headEnd len="sm" w="sm" type="none"/>
                      <a:tailEnd len="sm" w="sm" type="none"/>
                    </a:lnL>
                    <a:lnR cap="flat" cmpd="sng" w="114300">
                      <a:solidFill>
                        <a:srgbClr val="002060"/>
                      </a:solidFill>
                      <a:prstDash val="solid"/>
                      <a:round/>
                      <a:headEnd len="sm" w="sm" type="none"/>
                      <a:tailEnd len="sm" w="sm" type="none"/>
                    </a:lnR>
                    <a:lnT cap="flat" cmpd="sng" w="114300">
                      <a:solidFill>
                        <a:srgbClr val="002060"/>
                      </a:solidFill>
                      <a:prstDash val="solid"/>
                      <a:round/>
                      <a:headEnd len="sm" w="sm" type="none"/>
                      <a:tailEnd len="sm" w="sm" type="none"/>
                    </a:lnT>
                    <a:lnB cap="flat" cmpd="sng" w="114300">
                      <a:solidFill>
                        <a:srgbClr val="002060"/>
                      </a:solidFill>
                      <a:prstDash val="solid"/>
                      <a:round/>
                      <a:headEnd len="sm" w="sm" type="none"/>
                      <a:tailEnd len="sm" w="sm" type="none"/>
                    </a:lnB>
                    <a:solidFill>
                      <a:srgbClr val="8EFF46"/>
                    </a:solidFill>
                  </a:tcPr>
                </a:tc>
                <a:tc>
                  <a:txBody>
                    <a:bodyPr/>
                    <a:lstStyle/>
                    <a:p>
                      <a:pPr indent="0" lvl="0" marL="0" rtl="0" algn="l">
                        <a:spcBef>
                          <a:spcPts val="0"/>
                        </a:spcBef>
                        <a:spcAft>
                          <a:spcPts val="0"/>
                        </a:spcAft>
                        <a:buNone/>
                      </a:pPr>
                      <a:r>
                        <a:rPr lang="en">
                          <a:solidFill>
                            <a:srgbClr val="002060"/>
                          </a:solidFill>
                        </a:rPr>
                        <a:t>What are the total impressions and CTR for each product category per location?</a:t>
                      </a:r>
                      <a:endParaRPr>
                        <a:solidFill>
                          <a:srgbClr val="002060"/>
                        </a:solidFill>
                      </a:endParaRPr>
                    </a:p>
                  </a:txBody>
                  <a:tcPr marT="91425" marB="91425" marR="91425" marL="91425">
                    <a:lnL cap="flat" cmpd="sng" w="114300">
                      <a:solidFill>
                        <a:srgbClr val="002060"/>
                      </a:solidFill>
                      <a:prstDash val="solid"/>
                      <a:round/>
                      <a:headEnd len="sm" w="sm" type="none"/>
                      <a:tailEnd len="sm" w="sm" type="none"/>
                    </a:lnL>
                    <a:lnR cap="flat" cmpd="sng" w="114300">
                      <a:solidFill>
                        <a:srgbClr val="002060"/>
                      </a:solidFill>
                      <a:prstDash val="solid"/>
                      <a:round/>
                      <a:headEnd len="sm" w="sm" type="none"/>
                      <a:tailEnd len="sm" w="sm" type="none"/>
                    </a:lnR>
                    <a:lnT cap="flat" cmpd="sng" w="114300">
                      <a:solidFill>
                        <a:srgbClr val="002060"/>
                      </a:solidFill>
                      <a:prstDash val="solid"/>
                      <a:round/>
                      <a:headEnd len="sm" w="sm" type="none"/>
                      <a:tailEnd len="sm" w="sm" type="none"/>
                    </a:lnT>
                    <a:lnB cap="flat" cmpd="sng" w="114300">
                      <a:solidFill>
                        <a:srgbClr val="002060"/>
                      </a:solidFill>
                      <a:prstDash val="solid"/>
                      <a:round/>
                      <a:headEnd len="sm" w="sm" type="none"/>
                      <a:tailEnd len="sm" w="sm" type="none"/>
                    </a:lnB>
                    <a:solidFill>
                      <a:srgbClr val="8EFF46"/>
                    </a:solidFill>
                  </a:tcPr>
                </a:tc>
                <a:tc>
                  <a:txBody>
                    <a:bodyPr/>
                    <a:lstStyle/>
                    <a:p>
                      <a:pPr indent="0" lvl="0" marL="0" rtl="0" algn="l">
                        <a:spcBef>
                          <a:spcPts val="0"/>
                        </a:spcBef>
                        <a:spcAft>
                          <a:spcPts val="0"/>
                        </a:spcAft>
                        <a:buNone/>
                      </a:pPr>
                      <a:r>
                        <a:rPr lang="en">
                          <a:solidFill>
                            <a:srgbClr val="002060"/>
                          </a:solidFill>
                        </a:rPr>
                        <a:t>What are the total impressions and CTR for each product category per age group?</a:t>
                      </a:r>
                      <a:endParaRPr>
                        <a:solidFill>
                          <a:srgbClr val="002060"/>
                        </a:solidFill>
                      </a:endParaRPr>
                    </a:p>
                  </a:txBody>
                  <a:tcPr marT="91425" marB="91425" marR="91425" marL="91425">
                    <a:lnL cap="flat" cmpd="sng" w="114300">
                      <a:solidFill>
                        <a:srgbClr val="002060"/>
                      </a:solidFill>
                      <a:prstDash val="solid"/>
                      <a:round/>
                      <a:headEnd len="sm" w="sm" type="none"/>
                      <a:tailEnd len="sm" w="sm" type="none"/>
                    </a:lnL>
                    <a:lnR cap="flat" cmpd="sng" w="114300">
                      <a:solidFill>
                        <a:srgbClr val="002060"/>
                      </a:solidFill>
                      <a:prstDash val="solid"/>
                      <a:round/>
                      <a:headEnd len="sm" w="sm" type="none"/>
                      <a:tailEnd len="sm" w="sm" type="none"/>
                    </a:lnR>
                    <a:lnT cap="flat" cmpd="sng" w="114300">
                      <a:solidFill>
                        <a:srgbClr val="002060"/>
                      </a:solidFill>
                      <a:prstDash val="solid"/>
                      <a:round/>
                      <a:headEnd len="sm" w="sm" type="none"/>
                      <a:tailEnd len="sm" w="sm" type="none"/>
                    </a:lnT>
                    <a:lnB cap="flat" cmpd="sng" w="114300">
                      <a:solidFill>
                        <a:srgbClr val="002060"/>
                      </a:solidFill>
                      <a:prstDash val="solid"/>
                      <a:round/>
                      <a:headEnd len="sm" w="sm" type="none"/>
                      <a:tailEnd len="sm" w="sm" type="none"/>
                    </a:lnB>
                    <a:solidFill>
                      <a:srgbClr val="8EFF46"/>
                    </a:solidFill>
                  </a:tcPr>
                </a:tc>
                <a:tc>
                  <a:txBody>
                    <a:bodyPr/>
                    <a:lstStyle/>
                    <a:p>
                      <a:pPr indent="0" lvl="0" marL="0" rtl="0" algn="l">
                        <a:spcBef>
                          <a:spcPts val="0"/>
                        </a:spcBef>
                        <a:spcAft>
                          <a:spcPts val="0"/>
                        </a:spcAft>
                        <a:buNone/>
                      </a:pPr>
                      <a:r>
                        <a:rPr lang="en">
                          <a:solidFill>
                            <a:srgbClr val="002060"/>
                          </a:solidFill>
                        </a:rPr>
                        <a:t>What are the total impressions and CTR for each product category per gender?</a:t>
                      </a:r>
                      <a:endParaRPr>
                        <a:solidFill>
                          <a:srgbClr val="002060"/>
                        </a:solidFill>
                      </a:endParaRPr>
                    </a:p>
                  </a:txBody>
                  <a:tcPr marT="91425" marB="91425" marR="91425" marL="91425">
                    <a:lnL cap="flat" cmpd="sng" w="114300">
                      <a:solidFill>
                        <a:srgbClr val="002060"/>
                      </a:solidFill>
                      <a:prstDash val="solid"/>
                      <a:round/>
                      <a:headEnd len="sm" w="sm" type="none"/>
                      <a:tailEnd len="sm" w="sm" type="none"/>
                    </a:lnL>
                    <a:lnR cap="flat" cmpd="sng" w="114300">
                      <a:solidFill>
                        <a:srgbClr val="002060"/>
                      </a:solidFill>
                      <a:prstDash val="solid"/>
                      <a:round/>
                      <a:headEnd len="sm" w="sm" type="none"/>
                      <a:tailEnd len="sm" w="sm" type="none"/>
                    </a:lnR>
                    <a:lnT cap="flat" cmpd="sng" w="114300">
                      <a:solidFill>
                        <a:srgbClr val="002060"/>
                      </a:solidFill>
                      <a:prstDash val="solid"/>
                      <a:round/>
                      <a:headEnd len="sm" w="sm" type="none"/>
                      <a:tailEnd len="sm" w="sm" type="none"/>
                    </a:lnT>
                    <a:lnB cap="flat" cmpd="sng" w="114300">
                      <a:solidFill>
                        <a:srgbClr val="002060"/>
                      </a:solidFill>
                      <a:prstDash val="solid"/>
                      <a:round/>
                      <a:headEnd len="sm" w="sm" type="none"/>
                      <a:tailEnd len="sm" w="sm" type="none"/>
                    </a:lnB>
                    <a:solidFill>
                      <a:srgbClr val="8EFF46"/>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00CCFF"/>
                </a:solidFill>
              </a:rPr>
              <a:t>Click-Through Rate (CTR)</a:t>
            </a:r>
            <a:endParaRPr b="1">
              <a:solidFill>
                <a:srgbClr val="00CCFF"/>
              </a:solidFill>
            </a:endParaRPr>
          </a:p>
        </p:txBody>
      </p:sp>
      <p:grpSp>
        <p:nvGrpSpPr>
          <p:cNvPr id="79" name="Google Shape;79;p17"/>
          <p:cNvGrpSpPr/>
          <p:nvPr/>
        </p:nvGrpSpPr>
        <p:grpSpPr>
          <a:xfrm>
            <a:off x="2553138" y="1436700"/>
            <a:ext cx="5809788" cy="1135050"/>
            <a:chOff x="1512325" y="1436700"/>
            <a:chExt cx="5809788" cy="1135050"/>
          </a:xfrm>
        </p:grpSpPr>
        <p:sp>
          <p:nvSpPr>
            <p:cNvPr id="80" name="Google Shape;80;p17"/>
            <p:cNvSpPr txBox="1"/>
            <p:nvPr/>
          </p:nvSpPr>
          <p:spPr>
            <a:xfrm>
              <a:off x="1512325" y="1436700"/>
              <a:ext cx="2750100" cy="47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00FF"/>
                  </a:solidFill>
                </a:rPr>
                <a:t>Number of Clicks</a:t>
              </a:r>
              <a:endParaRPr sz="1800">
                <a:solidFill>
                  <a:srgbClr val="FF00FF"/>
                </a:solidFill>
              </a:endParaRPr>
            </a:p>
          </p:txBody>
        </p:sp>
        <p:sp>
          <p:nvSpPr>
            <p:cNvPr id="81" name="Google Shape;81;p17"/>
            <p:cNvSpPr txBox="1"/>
            <p:nvPr/>
          </p:nvSpPr>
          <p:spPr>
            <a:xfrm>
              <a:off x="1512325" y="2099850"/>
              <a:ext cx="2750100" cy="47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00FF"/>
                  </a:solidFill>
                </a:rPr>
                <a:t>Total Impressions*</a:t>
              </a:r>
              <a:endParaRPr sz="1800">
                <a:solidFill>
                  <a:srgbClr val="FF00FF"/>
                </a:solidFill>
              </a:endParaRPr>
            </a:p>
          </p:txBody>
        </p:sp>
        <p:cxnSp>
          <p:nvCxnSpPr>
            <p:cNvPr id="82" name="Google Shape;82;p17"/>
            <p:cNvCxnSpPr/>
            <p:nvPr/>
          </p:nvCxnSpPr>
          <p:spPr>
            <a:xfrm flipH="1" rot="10800000">
              <a:off x="1512325" y="2000475"/>
              <a:ext cx="2675700" cy="21000"/>
            </a:xfrm>
            <a:prstGeom prst="straightConnector1">
              <a:avLst/>
            </a:prstGeom>
            <a:noFill/>
            <a:ln cap="flat" cmpd="sng" w="114300">
              <a:solidFill>
                <a:srgbClr val="FF00FF"/>
              </a:solidFill>
              <a:prstDash val="solid"/>
              <a:round/>
              <a:headEnd len="med" w="med" type="none"/>
              <a:tailEnd len="med" w="med" type="none"/>
            </a:ln>
          </p:spPr>
        </p:cxnSp>
        <p:sp>
          <p:nvSpPr>
            <p:cNvPr id="83" name="Google Shape;83;p17"/>
            <p:cNvSpPr txBox="1"/>
            <p:nvPr/>
          </p:nvSpPr>
          <p:spPr>
            <a:xfrm>
              <a:off x="4417213" y="1768275"/>
              <a:ext cx="2904900" cy="471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00FF"/>
                  </a:solidFill>
                </a:rPr>
                <a:t>X 100%</a:t>
              </a:r>
              <a:endParaRPr sz="1800">
                <a:solidFill>
                  <a:srgbClr val="FF00FF"/>
                </a:solidFill>
              </a:endParaRPr>
            </a:p>
          </p:txBody>
        </p:sp>
      </p:grpSp>
      <p:sp>
        <p:nvSpPr>
          <p:cNvPr id="84" name="Google Shape;84;p17"/>
          <p:cNvSpPr txBox="1"/>
          <p:nvPr/>
        </p:nvSpPr>
        <p:spPr>
          <a:xfrm>
            <a:off x="545744" y="3621550"/>
            <a:ext cx="8169900" cy="47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00FF"/>
                </a:solidFill>
              </a:rPr>
              <a:t>*Total Impressions = Number of times content is displayed, clicked or not.</a:t>
            </a:r>
            <a:endParaRPr sz="1800">
              <a:solidFill>
                <a:srgbClr val="FF00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00CCFF"/>
                </a:solidFill>
              </a:rPr>
              <a:t>Methodology</a:t>
            </a:r>
            <a:endParaRPr b="1">
              <a:solidFill>
                <a:srgbClr val="00CCFF"/>
              </a:solidFill>
            </a:endParaRPr>
          </a:p>
        </p:txBody>
      </p:sp>
      <p:graphicFrame>
        <p:nvGraphicFramePr>
          <p:cNvPr id="90" name="Google Shape;90;p18"/>
          <p:cNvGraphicFramePr/>
          <p:nvPr/>
        </p:nvGraphicFramePr>
        <p:xfrm>
          <a:off x="311700" y="1143650"/>
          <a:ext cx="3000000" cy="3000000"/>
        </p:xfrm>
        <a:graphic>
          <a:graphicData uri="http://schemas.openxmlformats.org/drawingml/2006/table">
            <a:tbl>
              <a:tblPr>
                <a:noFill/>
                <a:tableStyleId>{B6C444C1-E3BC-4233-B643-1F4347C62EC8}</a:tableStyleId>
              </a:tblPr>
              <a:tblGrid>
                <a:gridCol w="2840200"/>
                <a:gridCol w="2840200"/>
                <a:gridCol w="2840200"/>
              </a:tblGrid>
              <a:tr h="1769625">
                <a:tc>
                  <a:txBody>
                    <a:bodyPr/>
                    <a:lstStyle/>
                    <a:p>
                      <a:pPr indent="0" lvl="0" marL="0" rtl="0" algn="l">
                        <a:spcBef>
                          <a:spcPts val="0"/>
                        </a:spcBef>
                        <a:spcAft>
                          <a:spcPts val="0"/>
                        </a:spcAft>
                        <a:buNone/>
                      </a:pPr>
                      <a:r>
                        <a:rPr lang="en">
                          <a:solidFill>
                            <a:schemeClr val="lt1"/>
                          </a:solidFill>
                        </a:rPr>
                        <a:t>PostGreSQL was used to clean and preprocess data (i.e. Join Sales Data with Marketing Impressions data)</a:t>
                      </a:r>
                      <a:endParaRPr>
                        <a:solidFill>
                          <a:schemeClr val="lt1"/>
                        </a:solidFill>
                      </a:endParaRPr>
                    </a:p>
                  </a:txBody>
                  <a:tcPr marT="91425" marB="91425" marR="91425" marL="91425">
                    <a:lnL cap="flat" cmpd="sng" w="152400">
                      <a:solidFill>
                        <a:srgbClr val="002060"/>
                      </a:solidFill>
                      <a:prstDash val="solid"/>
                      <a:round/>
                      <a:headEnd len="sm" w="sm" type="none"/>
                      <a:tailEnd len="sm" w="sm" type="none"/>
                    </a:lnL>
                    <a:lnR cap="flat" cmpd="sng" w="152400">
                      <a:solidFill>
                        <a:srgbClr val="002060"/>
                      </a:solidFill>
                      <a:prstDash val="solid"/>
                      <a:round/>
                      <a:headEnd len="sm" w="sm" type="none"/>
                      <a:tailEnd len="sm" w="sm" type="none"/>
                    </a:lnR>
                    <a:lnT cap="flat" cmpd="sng" w="152400">
                      <a:solidFill>
                        <a:srgbClr val="002060"/>
                      </a:solidFill>
                      <a:prstDash val="solid"/>
                      <a:round/>
                      <a:headEnd len="sm" w="sm" type="none"/>
                      <a:tailEnd len="sm" w="sm" type="none"/>
                    </a:lnT>
                    <a:lnB cap="flat" cmpd="sng" w="152400">
                      <a:solidFill>
                        <a:srgbClr val="002060"/>
                      </a:solidFill>
                      <a:prstDash val="solid"/>
                      <a:round/>
                      <a:headEnd len="sm" w="sm" type="none"/>
                      <a:tailEnd len="sm" w="sm" type="none"/>
                    </a:lnB>
                    <a:solidFill>
                      <a:srgbClr val="9900FF"/>
                    </a:solidFill>
                  </a:tcPr>
                </a:tc>
                <a:tc>
                  <a:txBody>
                    <a:bodyPr/>
                    <a:lstStyle/>
                    <a:p>
                      <a:pPr indent="0" lvl="0" marL="0" rtl="0" algn="l">
                        <a:spcBef>
                          <a:spcPts val="0"/>
                        </a:spcBef>
                        <a:spcAft>
                          <a:spcPts val="0"/>
                        </a:spcAft>
                        <a:buNone/>
                      </a:pPr>
                      <a:r>
                        <a:rPr lang="en">
                          <a:solidFill>
                            <a:schemeClr val="lt1"/>
                          </a:solidFill>
                        </a:rPr>
                        <a:t>Click-Through Rate (CTR) for marketing campaigns and product categories (overall and per-item)</a:t>
                      </a:r>
                      <a:endParaRPr>
                        <a:solidFill>
                          <a:schemeClr val="lt1"/>
                        </a:solidFill>
                      </a:endParaRPr>
                    </a:p>
                  </a:txBody>
                  <a:tcPr marT="91425" marB="91425" marR="91425" marL="91425">
                    <a:lnL cap="flat" cmpd="sng" w="152400">
                      <a:solidFill>
                        <a:srgbClr val="002060"/>
                      </a:solidFill>
                      <a:prstDash val="solid"/>
                      <a:round/>
                      <a:headEnd len="sm" w="sm" type="none"/>
                      <a:tailEnd len="sm" w="sm" type="none"/>
                    </a:lnL>
                    <a:lnR cap="flat" cmpd="sng" w="152400">
                      <a:solidFill>
                        <a:srgbClr val="002060"/>
                      </a:solidFill>
                      <a:prstDash val="solid"/>
                      <a:round/>
                      <a:headEnd len="sm" w="sm" type="none"/>
                      <a:tailEnd len="sm" w="sm" type="none"/>
                    </a:lnR>
                    <a:lnT cap="flat" cmpd="sng" w="152400">
                      <a:solidFill>
                        <a:srgbClr val="002060"/>
                      </a:solidFill>
                      <a:prstDash val="solid"/>
                      <a:round/>
                      <a:headEnd len="sm" w="sm" type="none"/>
                      <a:tailEnd len="sm" w="sm" type="none"/>
                    </a:lnT>
                    <a:lnB cap="flat" cmpd="sng" w="152400">
                      <a:solidFill>
                        <a:srgbClr val="002060"/>
                      </a:solidFill>
                      <a:prstDash val="solid"/>
                      <a:round/>
                      <a:headEnd len="sm" w="sm" type="none"/>
                      <a:tailEnd len="sm" w="sm" type="none"/>
                    </a:lnB>
                    <a:solidFill>
                      <a:srgbClr val="9900FF"/>
                    </a:solidFill>
                  </a:tcPr>
                </a:tc>
                <a:tc>
                  <a:txBody>
                    <a:bodyPr/>
                    <a:lstStyle/>
                    <a:p>
                      <a:pPr indent="0" lvl="0" marL="0" rtl="0" algn="l">
                        <a:spcBef>
                          <a:spcPts val="0"/>
                        </a:spcBef>
                        <a:spcAft>
                          <a:spcPts val="0"/>
                        </a:spcAft>
                        <a:buNone/>
                      </a:pPr>
                      <a:r>
                        <a:rPr lang="en">
                          <a:solidFill>
                            <a:schemeClr val="lt1"/>
                          </a:solidFill>
                        </a:rPr>
                        <a:t>Percentage of total revenue from campaign periods generated by female customers (overall and per marketing campaign)</a:t>
                      </a:r>
                      <a:endParaRPr>
                        <a:solidFill>
                          <a:schemeClr val="lt1"/>
                        </a:solidFill>
                      </a:endParaRPr>
                    </a:p>
                  </a:txBody>
                  <a:tcPr marT="91425" marB="91425" marR="91425" marL="91425">
                    <a:lnL cap="flat" cmpd="sng" w="152400">
                      <a:solidFill>
                        <a:srgbClr val="002060"/>
                      </a:solidFill>
                      <a:prstDash val="solid"/>
                      <a:round/>
                      <a:headEnd len="sm" w="sm" type="none"/>
                      <a:tailEnd len="sm" w="sm" type="none"/>
                    </a:lnL>
                    <a:lnR cap="flat" cmpd="sng" w="152400">
                      <a:solidFill>
                        <a:srgbClr val="002060"/>
                      </a:solidFill>
                      <a:prstDash val="solid"/>
                      <a:round/>
                      <a:headEnd len="sm" w="sm" type="none"/>
                      <a:tailEnd len="sm" w="sm" type="none"/>
                    </a:lnR>
                    <a:lnT cap="flat" cmpd="sng" w="152400">
                      <a:solidFill>
                        <a:srgbClr val="002060"/>
                      </a:solidFill>
                      <a:prstDash val="solid"/>
                      <a:round/>
                      <a:headEnd len="sm" w="sm" type="none"/>
                      <a:tailEnd len="sm" w="sm" type="none"/>
                    </a:lnT>
                    <a:lnB cap="flat" cmpd="sng" w="152400">
                      <a:solidFill>
                        <a:srgbClr val="002060"/>
                      </a:solidFill>
                      <a:prstDash val="solid"/>
                      <a:round/>
                      <a:headEnd len="sm" w="sm" type="none"/>
                      <a:tailEnd len="sm" w="sm" type="none"/>
                    </a:lnB>
                    <a:solidFill>
                      <a:srgbClr val="9900FF"/>
                    </a:solidFill>
                  </a:tcPr>
                </a:tc>
              </a:tr>
              <a:tr h="1769625">
                <a:tc>
                  <a:txBody>
                    <a:bodyPr/>
                    <a:lstStyle/>
                    <a:p>
                      <a:pPr indent="0" lvl="0" marL="0" rtl="0" algn="l">
                        <a:spcBef>
                          <a:spcPts val="0"/>
                        </a:spcBef>
                        <a:spcAft>
                          <a:spcPts val="0"/>
                        </a:spcAft>
                        <a:buNone/>
                      </a:pPr>
                      <a:r>
                        <a:rPr lang="en">
                          <a:solidFill>
                            <a:schemeClr val="lt1"/>
                          </a:solidFill>
                        </a:rPr>
                        <a:t>Determine campaign with the highest impressions and get the number of unique users per region who viewed the campaign</a:t>
                      </a:r>
                      <a:endParaRPr>
                        <a:solidFill>
                          <a:schemeClr val="lt1"/>
                        </a:solidFill>
                      </a:endParaRPr>
                    </a:p>
                  </a:txBody>
                  <a:tcPr marT="91425" marB="91425" marR="91425" marL="91425">
                    <a:lnL cap="flat" cmpd="sng" w="152400">
                      <a:solidFill>
                        <a:srgbClr val="002060"/>
                      </a:solidFill>
                      <a:prstDash val="solid"/>
                      <a:round/>
                      <a:headEnd len="sm" w="sm" type="none"/>
                      <a:tailEnd len="sm" w="sm" type="none"/>
                    </a:lnL>
                    <a:lnR cap="flat" cmpd="sng" w="152400">
                      <a:solidFill>
                        <a:srgbClr val="002060"/>
                      </a:solidFill>
                      <a:prstDash val="solid"/>
                      <a:round/>
                      <a:headEnd len="sm" w="sm" type="none"/>
                      <a:tailEnd len="sm" w="sm" type="none"/>
                    </a:lnR>
                    <a:lnT cap="flat" cmpd="sng" w="152400">
                      <a:solidFill>
                        <a:srgbClr val="002060"/>
                      </a:solidFill>
                      <a:prstDash val="solid"/>
                      <a:round/>
                      <a:headEnd len="sm" w="sm" type="none"/>
                      <a:tailEnd len="sm" w="sm" type="none"/>
                    </a:lnT>
                    <a:lnB cap="flat" cmpd="sng" w="152400">
                      <a:solidFill>
                        <a:srgbClr val="002060"/>
                      </a:solidFill>
                      <a:prstDash val="solid"/>
                      <a:round/>
                      <a:headEnd len="sm" w="sm" type="none"/>
                      <a:tailEnd len="sm" w="sm" type="none"/>
                    </a:lnB>
                    <a:solidFill>
                      <a:srgbClr val="9900FF"/>
                    </a:solidFill>
                  </a:tcPr>
                </a:tc>
                <a:tc>
                  <a:txBody>
                    <a:bodyPr/>
                    <a:lstStyle/>
                    <a:p>
                      <a:pPr indent="0" lvl="0" marL="0" rtl="0" algn="l">
                        <a:spcBef>
                          <a:spcPts val="0"/>
                        </a:spcBef>
                        <a:spcAft>
                          <a:spcPts val="0"/>
                        </a:spcAft>
                        <a:buNone/>
                      </a:pPr>
                      <a:r>
                        <a:rPr lang="en">
                          <a:solidFill>
                            <a:schemeClr val="lt1"/>
                          </a:solidFill>
                        </a:rPr>
                        <a:t>Calculate CTR and Total Impressions for each product category per location, age group, and gender</a:t>
                      </a:r>
                      <a:endParaRPr>
                        <a:solidFill>
                          <a:schemeClr val="lt1"/>
                        </a:solidFill>
                      </a:endParaRPr>
                    </a:p>
                  </a:txBody>
                  <a:tcPr marT="91425" marB="91425" marR="91425" marL="91425">
                    <a:lnL cap="flat" cmpd="sng" w="152400">
                      <a:solidFill>
                        <a:srgbClr val="002060"/>
                      </a:solidFill>
                      <a:prstDash val="solid"/>
                      <a:round/>
                      <a:headEnd len="sm" w="sm" type="none"/>
                      <a:tailEnd len="sm" w="sm" type="none"/>
                    </a:lnL>
                    <a:lnR cap="flat" cmpd="sng" w="152400">
                      <a:solidFill>
                        <a:srgbClr val="002060"/>
                      </a:solidFill>
                      <a:prstDash val="solid"/>
                      <a:round/>
                      <a:headEnd len="sm" w="sm" type="none"/>
                      <a:tailEnd len="sm" w="sm" type="none"/>
                    </a:lnR>
                    <a:lnT cap="flat" cmpd="sng" w="152400">
                      <a:solidFill>
                        <a:srgbClr val="002060"/>
                      </a:solidFill>
                      <a:prstDash val="solid"/>
                      <a:round/>
                      <a:headEnd len="sm" w="sm" type="none"/>
                      <a:tailEnd len="sm" w="sm" type="none"/>
                    </a:lnT>
                    <a:lnB cap="flat" cmpd="sng" w="152400">
                      <a:solidFill>
                        <a:srgbClr val="002060"/>
                      </a:solidFill>
                      <a:prstDash val="solid"/>
                      <a:round/>
                      <a:headEnd len="sm" w="sm" type="none"/>
                      <a:tailEnd len="sm" w="sm" type="none"/>
                    </a:lnB>
                    <a:solidFill>
                      <a:srgbClr val="9900FF"/>
                    </a:solidFill>
                  </a:tcPr>
                </a:tc>
                <a:tc>
                  <a:txBody>
                    <a:bodyPr/>
                    <a:lstStyle/>
                    <a:p>
                      <a:pPr indent="0" lvl="0" marL="0" rtl="0" algn="l">
                        <a:spcBef>
                          <a:spcPts val="0"/>
                        </a:spcBef>
                        <a:spcAft>
                          <a:spcPts val="0"/>
                        </a:spcAft>
                        <a:buNone/>
                      </a:pPr>
                      <a:r>
                        <a:rPr lang="en">
                          <a:solidFill>
                            <a:schemeClr val="lt1"/>
                          </a:solidFill>
                        </a:rPr>
                        <a:t>Visualize results with Excel</a:t>
                      </a:r>
                      <a:endParaRPr>
                        <a:solidFill>
                          <a:schemeClr val="lt1"/>
                        </a:solidFill>
                      </a:endParaRPr>
                    </a:p>
                  </a:txBody>
                  <a:tcPr marT="91425" marB="91425" marR="91425" marL="91425">
                    <a:lnL cap="flat" cmpd="sng" w="152400">
                      <a:solidFill>
                        <a:srgbClr val="002060"/>
                      </a:solidFill>
                      <a:prstDash val="solid"/>
                      <a:round/>
                      <a:headEnd len="sm" w="sm" type="none"/>
                      <a:tailEnd len="sm" w="sm" type="none"/>
                    </a:lnL>
                    <a:lnR cap="flat" cmpd="sng" w="152400">
                      <a:solidFill>
                        <a:srgbClr val="002060"/>
                      </a:solidFill>
                      <a:prstDash val="solid"/>
                      <a:round/>
                      <a:headEnd len="sm" w="sm" type="none"/>
                      <a:tailEnd len="sm" w="sm" type="none"/>
                    </a:lnR>
                    <a:lnT cap="flat" cmpd="sng" w="152400">
                      <a:solidFill>
                        <a:srgbClr val="002060"/>
                      </a:solidFill>
                      <a:prstDash val="solid"/>
                      <a:round/>
                      <a:headEnd len="sm" w="sm" type="none"/>
                      <a:tailEnd len="sm" w="sm" type="none"/>
                    </a:lnT>
                    <a:lnB cap="flat" cmpd="sng" w="152400">
                      <a:solidFill>
                        <a:srgbClr val="002060"/>
                      </a:solidFill>
                      <a:prstDash val="solid"/>
                      <a:round/>
                      <a:headEnd len="sm" w="sm" type="none"/>
                      <a:tailEnd len="sm" w="sm" type="none"/>
                    </a:lnB>
                    <a:solidFill>
                      <a:srgbClr val="9900FF"/>
                    </a:solidFill>
                  </a:tcPr>
                </a:tc>
              </a:tr>
            </a:tbl>
          </a:graphicData>
        </a:graphic>
      </p:graphicFrame>
      <p:sp>
        <p:nvSpPr>
          <p:cNvPr id="91" name="Google Shape;91;p18"/>
          <p:cNvSpPr/>
          <p:nvPr/>
        </p:nvSpPr>
        <p:spPr>
          <a:xfrm rot="5400000">
            <a:off x="2962150" y="1931475"/>
            <a:ext cx="299100" cy="258600"/>
          </a:xfrm>
          <a:prstGeom prst="triangle">
            <a:avLst>
              <a:gd fmla="val 50000" name="adj"/>
            </a:avLst>
          </a:prstGeom>
          <a:solidFill>
            <a:srgbClr val="9900FF"/>
          </a:solidFill>
          <a:ln cap="flat" cmpd="sng" w="952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8"/>
          <p:cNvSpPr/>
          <p:nvPr/>
        </p:nvSpPr>
        <p:spPr>
          <a:xfrm rot="5400000">
            <a:off x="5795625" y="1931475"/>
            <a:ext cx="299100" cy="258600"/>
          </a:xfrm>
          <a:prstGeom prst="triangle">
            <a:avLst>
              <a:gd fmla="val 50000" name="adj"/>
            </a:avLst>
          </a:prstGeom>
          <a:solidFill>
            <a:srgbClr val="9900FF"/>
          </a:solidFill>
          <a:ln cap="flat" cmpd="sng" w="952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8"/>
          <p:cNvSpPr/>
          <p:nvPr/>
        </p:nvSpPr>
        <p:spPr>
          <a:xfrm rot="5400000">
            <a:off x="8629100" y="1931475"/>
            <a:ext cx="299100" cy="258600"/>
          </a:xfrm>
          <a:prstGeom prst="triangle">
            <a:avLst>
              <a:gd fmla="val 50000" name="adj"/>
            </a:avLst>
          </a:prstGeom>
          <a:solidFill>
            <a:srgbClr val="9900FF"/>
          </a:solidFill>
          <a:ln cap="flat" cmpd="sng" w="952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8"/>
          <p:cNvSpPr/>
          <p:nvPr/>
        </p:nvSpPr>
        <p:spPr>
          <a:xfrm rot="5400000">
            <a:off x="2962150" y="3602775"/>
            <a:ext cx="299100" cy="258600"/>
          </a:xfrm>
          <a:prstGeom prst="triangle">
            <a:avLst>
              <a:gd fmla="val 50000" name="adj"/>
            </a:avLst>
          </a:prstGeom>
          <a:solidFill>
            <a:srgbClr val="9900FF"/>
          </a:solidFill>
          <a:ln cap="flat" cmpd="sng" w="952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8"/>
          <p:cNvSpPr/>
          <p:nvPr/>
        </p:nvSpPr>
        <p:spPr>
          <a:xfrm rot="5400000">
            <a:off x="5795625" y="3602775"/>
            <a:ext cx="299100" cy="258600"/>
          </a:xfrm>
          <a:prstGeom prst="triangle">
            <a:avLst>
              <a:gd fmla="val 50000" name="adj"/>
            </a:avLst>
          </a:prstGeom>
          <a:solidFill>
            <a:srgbClr val="9900FF"/>
          </a:solidFill>
          <a:ln cap="flat" cmpd="sng" w="952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99" name="Shape 99"/>
        <p:cNvGrpSpPr/>
        <p:nvPr/>
      </p:nvGrpSpPr>
      <p:grpSpPr>
        <a:xfrm>
          <a:off x="0" y="0"/>
          <a:ext cx="0" cy="0"/>
          <a:chOff x="0" y="0"/>
          <a:chExt cx="0" cy="0"/>
        </a:xfrm>
      </p:grpSpPr>
      <p:pic>
        <p:nvPicPr>
          <p:cNvPr id="100" name="Google Shape;100;p19"/>
          <p:cNvPicPr preferRelativeResize="0"/>
          <p:nvPr/>
        </p:nvPicPr>
        <p:blipFill>
          <a:blip r:embed="rId3">
            <a:alphaModFix/>
          </a:blip>
          <a:stretch>
            <a:fillRect/>
          </a:stretch>
        </p:blipFill>
        <p:spPr>
          <a:xfrm>
            <a:off x="0" y="172188"/>
            <a:ext cx="9143999" cy="479912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104" name="Shape 104"/>
        <p:cNvGrpSpPr/>
        <p:nvPr/>
      </p:nvGrpSpPr>
      <p:grpSpPr>
        <a:xfrm>
          <a:off x="0" y="0"/>
          <a:ext cx="0" cy="0"/>
          <a:chOff x="0" y="0"/>
          <a:chExt cx="0" cy="0"/>
        </a:xfrm>
      </p:grpSpPr>
      <p:pic>
        <p:nvPicPr>
          <p:cNvPr id="105" name="Google Shape;105;p20"/>
          <p:cNvPicPr preferRelativeResize="0"/>
          <p:nvPr/>
        </p:nvPicPr>
        <p:blipFill>
          <a:blip r:embed="rId3">
            <a:alphaModFix/>
          </a:blip>
          <a:stretch>
            <a:fillRect/>
          </a:stretch>
        </p:blipFill>
        <p:spPr>
          <a:xfrm>
            <a:off x="178725" y="0"/>
            <a:ext cx="8786558"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109" name="Shape 109"/>
        <p:cNvGrpSpPr/>
        <p:nvPr/>
      </p:nvGrpSpPr>
      <p:grpSpPr>
        <a:xfrm>
          <a:off x="0" y="0"/>
          <a:ext cx="0" cy="0"/>
          <a:chOff x="0" y="0"/>
          <a:chExt cx="0" cy="0"/>
        </a:xfrm>
      </p:grpSpPr>
      <p:pic>
        <p:nvPicPr>
          <p:cNvPr id="110" name="Google Shape;110;p21"/>
          <p:cNvPicPr preferRelativeResize="0"/>
          <p:nvPr/>
        </p:nvPicPr>
        <p:blipFill>
          <a:blip r:embed="rId3">
            <a:alphaModFix/>
          </a:blip>
          <a:stretch>
            <a:fillRect/>
          </a:stretch>
        </p:blipFill>
        <p:spPr>
          <a:xfrm>
            <a:off x="127613" y="0"/>
            <a:ext cx="8888768" cy="51435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114"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0" y="776125"/>
            <a:ext cx="9144001" cy="359125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119" name="Shape 119"/>
        <p:cNvGrpSpPr/>
        <p:nvPr/>
      </p:nvGrpSpPr>
      <p:grpSpPr>
        <a:xfrm>
          <a:off x="0" y="0"/>
          <a:ext cx="0" cy="0"/>
          <a:chOff x="0" y="0"/>
          <a:chExt cx="0" cy="0"/>
        </a:xfrm>
      </p:grpSpPr>
      <p:pic>
        <p:nvPicPr>
          <p:cNvPr id="120" name="Google Shape;120;p23"/>
          <p:cNvPicPr preferRelativeResize="0"/>
          <p:nvPr/>
        </p:nvPicPr>
        <p:blipFill>
          <a:blip r:embed="rId3">
            <a:alphaModFix/>
          </a:blip>
          <a:stretch>
            <a:fillRect/>
          </a:stretch>
        </p:blipFill>
        <p:spPr>
          <a:xfrm>
            <a:off x="44038" y="0"/>
            <a:ext cx="9055922" cy="514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124" name="Shape 124"/>
        <p:cNvGrpSpPr/>
        <p:nvPr/>
      </p:nvGrpSpPr>
      <p:grpSpPr>
        <a:xfrm>
          <a:off x="0" y="0"/>
          <a:ext cx="0" cy="0"/>
          <a:chOff x="0" y="0"/>
          <a:chExt cx="0" cy="0"/>
        </a:xfrm>
      </p:grpSpPr>
      <p:pic>
        <p:nvPicPr>
          <p:cNvPr id="125" name="Google Shape;125;p24"/>
          <p:cNvPicPr preferRelativeResize="0"/>
          <p:nvPr/>
        </p:nvPicPr>
        <p:blipFill>
          <a:blip r:embed="rId3">
            <a:alphaModFix/>
          </a:blip>
          <a:stretch>
            <a:fillRect/>
          </a:stretch>
        </p:blipFill>
        <p:spPr>
          <a:xfrm>
            <a:off x="0" y="908513"/>
            <a:ext cx="9144001" cy="332647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129" name="Shape 129"/>
        <p:cNvGrpSpPr/>
        <p:nvPr/>
      </p:nvGrpSpPr>
      <p:grpSpPr>
        <a:xfrm>
          <a:off x="0" y="0"/>
          <a:ext cx="0" cy="0"/>
          <a:chOff x="0" y="0"/>
          <a:chExt cx="0" cy="0"/>
        </a:xfrm>
      </p:grpSpPr>
      <p:pic>
        <p:nvPicPr>
          <p:cNvPr id="130" name="Google Shape;130;p25"/>
          <p:cNvPicPr preferRelativeResize="0"/>
          <p:nvPr/>
        </p:nvPicPr>
        <p:blipFill>
          <a:blip r:embed="rId3">
            <a:alphaModFix/>
          </a:blip>
          <a:stretch>
            <a:fillRect/>
          </a:stretch>
        </p:blipFill>
        <p:spPr>
          <a:xfrm>
            <a:off x="0" y="870538"/>
            <a:ext cx="9144001" cy="340241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134" name="Shape 134"/>
        <p:cNvGrpSpPr/>
        <p:nvPr/>
      </p:nvGrpSpPr>
      <p:grpSpPr>
        <a:xfrm>
          <a:off x="0" y="0"/>
          <a:ext cx="0" cy="0"/>
          <a:chOff x="0" y="0"/>
          <a:chExt cx="0" cy="0"/>
        </a:xfrm>
      </p:grpSpPr>
      <p:pic>
        <p:nvPicPr>
          <p:cNvPr id="135" name="Google Shape;135;p26"/>
          <p:cNvPicPr preferRelativeResize="0"/>
          <p:nvPr/>
        </p:nvPicPr>
        <p:blipFill>
          <a:blip r:embed="rId3">
            <a:alphaModFix/>
          </a:blip>
          <a:stretch>
            <a:fillRect/>
          </a:stretch>
        </p:blipFill>
        <p:spPr>
          <a:xfrm>
            <a:off x="0" y="43063"/>
            <a:ext cx="9143998" cy="50573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139" name="Shape 139"/>
        <p:cNvGrpSpPr/>
        <p:nvPr/>
      </p:nvGrpSpPr>
      <p:grpSpPr>
        <a:xfrm>
          <a:off x="0" y="0"/>
          <a:ext cx="0" cy="0"/>
          <a:chOff x="0" y="0"/>
          <a:chExt cx="0" cy="0"/>
        </a:xfrm>
      </p:grpSpPr>
      <p:pic>
        <p:nvPicPr>
          <p:cNvPr id="140" name="Google Shape;140;p27"/>
          <p:cNvPicPr preferRelativeResize="0"/>
          <p:nvPr/>
        </p:nvPicPr>
        <p:blipFill>
          <a:blip r:embed="rId3">
            <a:alphaModFix/>
          </a:blip>
          <a:stretch>
            <a:fillRect/>
          </a:stretch>
        </p:blipFill>
        <p:spPr>
          <a:xfrm>
            <a:off x="0" y="111213"/>
            <a:ext cx="9144001" cy="492108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144" name="Shape 144"/>
        <p:cNvGrpSpPr/>
        <p:nvPr/>
      </p:nvGrpSpPr>
      <p:grpSpPr>
        <a:xfrm>
          <a:off x="0" y="0"/>
          <a:ext cx="0" cy="0"/>
          <a:chOff x="0" y="0"/>
          <a:chExt cx="0" cy="0"/>
        </a:xfrm>
      </p:grpSpPr>
      <p:pic>
        <p:nvPicPr>
          <p:cNvPr id="145" name="Google Shape;145;p28"/>
          <p:cNvPicPr preferRelativeResize="0"/>
          <p:nvPr/>
        </p:nvPicPr>
        <p:blipFill>
          <a:blip r:embed="rId3">
            <a:alphaModFix/>
          </a:blip>
          <a:stretch>
            <a:fillRect/>
          </a:stretch>
        </p:blipFill>
        <p:spPr>
          <a:xfrm>
            <a:off x="0" y="595050"/>
            <a:ext cx="9144000" cy="395340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149" name="Shape 149"/>
        <p:cNvGrpSpPr/>
        <p:nvPr/>
      </p:nvGrpSpPr>
      <p:grpSpPr>
        <a:xfrm>
          <a:off x="0" y="0"/>
          <a:ext cx="0" cy="0"/>
          <a:chOff x="0" y="0"/>
          <a:chExt cx="0" cy="0"/>
        </a:xfrm>
      </p:grpSpPr>
      <p:pic>
        <p:nvPicPr>
          <p:cNvPr id="150" name="Google Shape;150;p29"/>
          <p:cNvPicPr preferRelativeResize="0"/>
          <p:nvPr/>
        </p:nvPicPr>
        <p:blipFill>
          <a:blip r:embed="rId3">
            <a:alphaModFix/>
          </a:blip>
          <a:stretch>
            <a:fillRect/>
          </a:stretch>
        </p:blipFill>
        <p:spPr>
          <a:xfrm>
            <a:off x="0" y="85348"/>
            <a:ext cx="9143998" cy="497280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00CCFF"/>
                </a:solidFill>
              </a:rPr>
              <a:t>Recommendations</a:t>
            </a:r>
            <a:endParaRPr b="1">
              <a:solidFill>
                <a:srgbClr val="00CCFF"/>
              </a:solidFill>
            </a:endParaRPr>
          </a:p>
        </p:txBody>
      </p:sp>
      <p:graphicFrame>
        <p:nvGraphicFramePr>
          <p:cNvPr id="156" name="Google Shape;156;p30"/>
          <p:cNvGraphicFramePr/>
          <p:nvPr/>
        </p:nvGraphicFramePr>
        <p:xfrm>
          <a:off x="311700" y="1017700"/>
          <a:ext cx="3000000" cy="3000000"/>
        </p:xfrm>
        <a:graphic>
          <a:graphicData uri="http://schemas.openxmlformats.org/drawingml/2006/table">
            <a:tbl>
              <a:tblPr>
                <a:noFill/>
                <a:tableStyleId>{B6C444C1-E3BC-4233-B643-1F4347C62EC8}</a:tableStyleId>
              </a:tblPr>
              <a:tblGrid>
                <a:gridCol w="8520600"/>
              </a:tblGrid>
              <a:tr h="1275350">
                <a:tc>
                  <a:txBody>
                    <a:bodyPr/>
                    <a:lstStyle/>
                    <a:p>
                      <a:pPr indent="0" lvl="0" marL="0" rtl="0" algn="l">
                        <a:spcBef>
                          <a:spcPts val="0"/>
                        </a:spcBef>
                        <a:spcAft>
                          <a:spcPts val="0"/>
                        </a:spcAft>
                        <a:buNone/>
                      </a:pPr>
                      <a:r>
                        <a:rPr lang="en" sz="1800">
                          <a:solidFill>
                            <a:srgbClr val="002060"/>
                          </a:solidFill>
                        </a:rPr>
                        <a:t>Focus more effort on marketing campaigns involving the Electronics and Gadgets product category, most especially in the 0-17 age group.</a:t>
                      </a:r>
                      <a:endParaRPr sz="1800">
                        <a:solidFill>
                          <a:srgbClr val="002060"/>
                        </a:solidFill>
                      </a:endParaRPr>
                    </a:p>
                  </a:txBody>
                  <a:tcPr marT="91425" marB="91425" marR="91425" marL="91425">
                    <a:lnL cap="flat" cmpd="sng" w="114300">
                      <a:solidFill>
                        <a:srgbClr val="002060"/>
                      </a:solidFill>
                      <a:prstDash val="solid"/>
                      <a:round/>
                      <a:headEnd len="sm" w="sm" type="none"/>
                      <a:tailEnd len="sm" w="sm" type="none"/>
                    </a:lnL>
                    <a:lnR cap="flat" cmpd="sng" w="114300">
                      <a:solidFill>
                        <a:srgbClr val="002060"/>
                      </a:solidFill>
                      <a:prstDash val="solid"/>
                      <a:round/>
                      <a:headEnd len="sm" w="sm" type="none"/>
                      <a:tailEnd len="sm" w="sm" type="none"/>
                    </a:lnR>
                    <a:lnT cap="flat" cmpd="sng" w="114300">
                      <a:solidFill>
                        <a:srgbClr val="002060"/>
                      </a:solidFill>
                      <a:prstDash val="solid"/>
                      <a:round/>
                      <a:headEnd len="sm" w="sm" type="none"/>
                      <a:tailEnd len="sm" w="sm" type="none"/>
                    </a:lnT>
                    <a:lnB cap="flat" cmpd="sng" w="114300">
                      <a:solidFill>
                        <a:srgbClr val="002060"/>
                      </a:solidFill>
                      <a:prstDash val="solid"/>
                      <a:round/>
                      <a:headEnd len="sm" w="sm" type="none"/>
                      <a:tailEnd len="sm" w="sm" type="none"/>
                    </a:lnB>
                    <a:solidFill>
                      <a:srgbClr val="8EFF46"/>
                    </a:solidFill>
                  </a:tcPr>
                </a:tc>
              </a:tr>
              <a:tr h="1275350">
                <a:tc>
                  <a:txBody>
                    <a:bodyPr/>
                    <a:lstStyle/>
                    <a:p>
                      <a:pPr indent="0" lvl="0" marL="0" rtl="0" algn="l">
                        <a:spcBef>
                          <a:spcPts val="0"/>
                        </a:spcBef>
                        <a:spcAft>
                          <a:spcPts val="0"/>
                        </a:spcAft>
                        <a:buClr>
                          <a:schemeClr val="dk1"/>
                        </a:buClr>
                        <a:buSzPts val="1100"/>
                        <a:buFont typeface="Arial"/>
                        <a:buNone/>
                      </a:pPr>
                      <a:r>
                        <a:rPr lang="en" sz="1800">
                          <a:solidFill>
                            <a:srgbClr val="002060"/>
                          </a:solidFill>
                        </a:rPr>
                        <a:t>Increase marketing campaign efforts on female users to potentially increase their chances of purchasing from the store.</a:t>
                      </a:r>
                      <a:endParaRPr sz="1800">
                        <a:solidFill>
                          <a:srgbClr val="002060"/>
                        </a:solidFill>
                      </a:endParaRPr>
                    </a:p>
                    <a:p>
                      <a:pPr indent="0" lvl="0" marL="0" rtl="0" algn="l">
                        <a:spcBef>
                          <a:spcPts val="0"/>
                        </a:spcBef>
                        <a:spcAft>
                          <a:spcPts val="0"/>
                        </a:spcAft>
                        <a:buNone/>
                      </a:pPr>
                      <a:r>
                        <a:t/>
                      </a:r>
                      <a:endParaRPr sz="1800">
                        <a:solidFill>
                          <a:srgbClr val="002060"/>
                        </a:solidFill>
                      </a:endParaRPr>
                    </a:p>
                  </a:txBody>
                  <a:tcPr marT="91425" marB="91425" marR="91425" marL="91425">
                    <a:lnL cap="flat" cmpd="sng" w="114300">
                      <a:solidFill>
                        <a:srgbClr val="002060"/>
                      </a:solidFill>
                      <a:prstDash val="solid"/>
                      <a:round/>
                      <a:headEnd len="sm" w="sm" type="none"/>
                      <a:tailEnd len="sm" w="sm" type="none"/>
                    </a:lnL>
                    <a:lnR cap="flat" cmpd="sng" w="114300">
                      <a:solidFill>
                        <a:srgbClr val="002060"/>
                      </a:solidFill>
                      <a:prstDash val="solid"/>
                      <a:round/>
                      <a:headEnd len="sm" w="sm" type="none"/>
                      <a:tailEnd len="sm" w="sm" type="none"/>
                    </a:lnR>
                    <a:lnT cap="flat" cmpd="sng" w="114300">
                      <a:solidFill>
                        <a:srgbClr val="002060"/>
                      </a:solidFill>
                      <a:prstDash val="solid"/>
                      <a:round/>
                      <a:headEnd len="sm" w="sm" type="none"/>
                      <a:tailEnd len="sm" w="sm" type="none"/>
                    </a:lnT>
                    <a:lnB cap="flat" cmpd="sng" w="114300">
                      <a:solidFill>
                        <a:srgbClr val="002060"/>
                      </a:solidFill>
                      <a:prstDash val="solid"/>
                      <a:round/>
                      <a:headEnd len="sm" w="sm" type="none"/>
                      <a:tailEnd len="sm" w="sm" type="none"/>
                    </a:lnB>
                    <a:solidFill>
                      <a:srgbClr val="8EFF46"/>
                    </a:solidFill>
                  </a:tcPr>
                </a:tc>
              </a:tr>
              <a:tr h="1275350">
                <a:tc>
                  <a:txBody>
                    <a:bodyPr/>
                    <a:lstStyle/>
                    <a:p>
                      <a:pPr indent="0" lvl="0" marL="0" rtl="0" algn="l">
                        <a:spcBef>
                          <a:spcPts val="0"/>
                        </a:spcBef>
                        <a:spcAft>
                          <a:spcPts val="0"/>
                        </a:spcAft>
                        <a:buClr>
                          <a:schemeClr val="dk1"/>
                        </a:buClr>
                        <a:buSzPts val="1100"/>
                        <a:buFont typeface="Arial"/>
                        <a:buNone/>
                      </a:pPr>
                      <a:r>
                        <a:rPr lang="en" sz="1800">
                          <a:solidFill>
                            <a:srgbClr val="002060"/>
                          </a:solidFill>
                        </a:rPr>
                        <a:t>Adopt the marketing strategies utilized in Flash Sales to improve the CTR of marketing campaigns below the CTR of all campaigns, most notably the 12 Days of Christmas Deals which had the highest impressions but has one of the below-overall CTR values.</a:t>
                      </a:r>
                      <a:endParaRPr sz="1800">
                        <a:solidFill>
                          <a:srgbClr val="002060"/>
                        </a:solidFill>
                      </a:endParaRPr>
                    </a:p>
                  </a:txBody>
                  <a:tcPr marT="91425" marB="91425" marR="91425" marL="91425">
                    <a:lnL cap="flat" cmpd="sng" w="114300">
                      <a:solidFill>
                        <a:srgbClr val="002060"/>
                      </a:solidFill>
                      <a:prstDash val="solid"/>
                      <a:round/>
                      <a:headEnd len="sm" w="sm" type="none"/>
                      <a:tailEnd len="sm" w="sm" type="none"/>
                    </a:lnL>
                    <a:lnR cap="flat" cmpd="sng" w="114300">
                      <a:solidFill>
                        <a:srgbClr val="002060"/>
                      </a:solidFill>
                      <a:prstDash val="solid"/>
                      <a:round/>
                      <a:headEnd len="sm" w="sm" type="none"/>
                      <a:tailEnd len="sm" w="sm" type="none"/>
                    </a:lnR>
                    <a:lnT cap="flat" cmpd="sng" w="114300">
                      <a:solidFill>
                        <a:srgbClr val="002060"/>
                      </a:solidFill>
                      <a:prstDash val="solid"/>
                      <a:round/>
                      <a:headEnd len="sm" w="sm" type="none"/>
                      <a:tailEnd len="sm" w="sm" type="none"/>
                    </a:lnT>
                    <a:lnB cap="flat" cmpd="sng" w="114300">
                      <a:solidFill>
                        <a:srgbClr val="002060"/>
                      </a:solidFill>
                      <a:prstDash val="solid"/>
                      <a:round/>
                      <a:headEnd len="sm" w="sm" type="none"/>
                      <a:tailEnd len="sm" w="sm" type="none"/>
                    </a:lnB>
                    <a:solidFill>
                      <a:srgbClr val="8EFF46"/>
                    </a:solid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