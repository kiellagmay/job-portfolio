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Nuni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fntdata"/><Relationship Id="rId30" Type="http://schemas.openxmlformats.org/officeDocument/2006/relationships/font" Target="fonts/Nunito-regular.fntdata"/><Relationship Id="rId11" Type="http://schemas.openxmlformats.org/officeDocument/2006/relationships/slide" Target="slides/slide6.xml"/><Relationship Id="rId33" Type="http://schemas.openxmlformats.org/officeDocument/2006/relationships/font" Target="fonts/Nunito-boldItalic.fntdata"/><Relationship Id="rId10" Type="http://schemas.openxmlformats.org/officeDocument/2006/relationships/slide" Target="slides/slide5.xml"/><Relationship Id="rId32" Type="http://schemas.openxmlformats.org/officeDocument/2006/relationships/font" Target="fonts/Nunit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d1adf741cd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d1adf741cd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d1adf741cd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d1adf741c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d1adf741cd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d1adf741cd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d1adf741cd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d1adf741cd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d1adf741cd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d1adf741cd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d1adf741cd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d1adf741cd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d1adf741cd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d1adf741cd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d21241ba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d21241ba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d1e7a343f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d1e7a343f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d1e7a343f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d1e7a343f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d1e7a343f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d1e7a343f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d1e7a343f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d1e7a343f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d1e7a343f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d1e7a343f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d1e7a343f0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d1e7a343f0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d1e7a343f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d1e7a343f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d1e7a343f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d1e7a343f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d21241bac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d21241bac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d1e7a343f0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d1e7a343f0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d1e7a343f0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d1e7a343f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d1e7a343f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d1e7a343f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d1e7a343f0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d1e7a343f0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d21241bac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d21241bac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703dbef1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703dbef1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Clockster: An Analysis of Tardiness and Absences in a Medical Company</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Ezekiel Adriel D. Lagmay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Background</a:t>
            </a:r>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HR Department in a medical company wants to know the following information about employee attendance and leaves:</a:t>
            </a:r>
            <a:endParaRPr/>
          </a:p>
          <a:p>
            <a:pPr indent="-311150" lvl="0" marL="457200" rtl="0" algn="l">
              <a:spcBef>
                <a:spcPts val="1200"/>
              </a:spcBef>
              <a:spcAft>
                <a:spcPts val="0"/>
              </a:spcAft>
              <a:buSzPts val="1300"/>
              <a:buChar char="●"/>
            </a:pPr>
            <a:r>
              <a:rPr lang="en"/>
              <a:t>Identify the most disciplined and undisciplined employees and divisions</a:t>
            </a:r>
            <a:endParaRPr/>
          </a:p>
          <a:p>
            <a:pPr indent="-311150" lvl="0" marL="457200" rtl="0" algn="l">
              <a:spcBef>
                <a:spcPts val="0"/>
              </a:spcBef>
              <a:spcAft>
                <a:spcPts val="0"/>
              </a:spcAft>
              <a:buSzPts val="1300"/>
              <a:buChar char="●"/>
            </a:pPr>
            <a:r>
              <a:rPr lang="en"/>
              <a:t>Create a visualization with the analysis of weekdays and months when the most employees were late/absent (either for vacation or sick leave)</a:t>
            </a:r>
            <a:endParaRPr/>
          </a:p>
          <a:p>
            <a:pPr indent="-311150" lvl="0" marL="457200" rtl="0" algn="l">
              <a:spcBef>
                <a:spcPts val="0"/>
              </a:spcBef>
              <a:spcAft>
                <a:spcPts val="0"/>
              </a:spcAft>
              <a:buSzPts val="1300"/>
              <a:buChar char="●"/>
            </a:pPr>
            <a:r>
              <a:rPr lang="en"/>
              <a:t>Which heads of departments tend to forgive employees for lack of discipline? Are there any favorites for any heads of departments (perhaps some employees are always forgiven for being late, given time off, etc.)?</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Dataset Description</a:t>
            </a:r>
            <a:endParaRPr/>
          </a:p>
        </p:txBody>
      </p:sp>
      <p:sp>
        <p:nvSpPr>
          <p:cNvPr id="141" name="Google Shape;141;p1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users - The list of all users (employees) and their basic information including the date of hire, date of leave, gender, department, position, etc.</a:t>
            </a:r>
            <a:endParaRPr/>
          </a:p>
          <a:p>
            <a:pPr indent="-311150" lvl="0" marL="457200" rtl="0" algn="l">
              <a:spcBef>
                <a:spcPts val="0"/>
              </a:spcBef>
              <a:spcAft>
                <a:spcPts val="0"/>
              </a:spcAft>
              <a:buSzPts val="1300"/>
              <a:buChar char="●"/>
            </a:pPr>
            <a:r>
              <a:rPr lang="en"/>
              <a:t>payroll - Contains information about the pay employees will receive for a particular time period.</a:t>
            </a:r>
            <a:endParaRPr/>
          </a:p>
          <a:p>
            <a:pPr indent="-311150" lvl="0" marL="457200" rtl="0" algn="l">
              <a:spcBef>
                <a:spcPts val="0"/>
              </a:spcBef>
              <a:spcAft>
                <a:spcPts val="0"/>
              </a:spcAft>
              <a:buSzPts val="1300"/>
              <a:buChar char="●"/>
            </a:pPr>
            <a:r>
              <a:rPr lang="en"/>
              <a:t>schedules - The schedules for the shifts of each employee. For this study, schedules pertaining to leaves and work are only considered.</a:t>
            </a:r>
            <a:endParaRPr/>
          </a:p>
          <a:p>
            <a:pPr indent="-311150" lvl="0" marL="457200" rtl="0" algn="l">
              <a:spcBef>
                <a:spcPts val="0"/>
              </a:spcBef>
              <a:spcAft>
                <a:spcPts val="0"/>
              </a:spcAft>
              <a:buSzPts val="1300"/>
              <a:buChar char="●"/>
            </a:pPr>
            <a:r>
              <a:rPr lang="en"/>
              <a:t>leave_requests - All requests for leaves. If approved, the requested leave will show up on the schedules dataset.</a:t>
            </a:r>
            <a:endParaRPr/>
          </a:p>
          <a:p>
            <a:pPr indent="-311150" lvl="0" marL="457200" rtl="0" algn="l">
              <a:spcBef>
                <a:spcPts val="0"/>
              </a:spcBef>
              <a:spcAft>
                <a:spcPts val="0"/>
              </a:spcAft>
              <a:buSzPts val="1300"/>
              <a:buChar char="●"/>
            </a:pPr>
            <a:r>
              <a:rPr lang="en"/>
              <a:t>attendance - The time in and time out recorded for each employee when reporting to work.</a:t>
            </a:r>
            <a:r>
              <a:rPr lang="en"/>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Dataset Preprocessing</a:t>
            </a:r>
            <a:endParaRPr/>
          </a:p>
        </p:txBody>
      </p:sp>
      <p:sp>
        <p:nvSpPr>
          <p:cNvPr id="147" name="Google Shape;147;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Using Excel:</a:t>
            </a:r>
            <a:endParaRPr/>
          </a:p>
          <a:p>
            <a:pPr indent="-311150" lvl="0" marL="457200" rtl="0" algn="l">
              <a:spcBef>
                <a:spcPts val="1200"/>
              </a:spcBef>
              <a:spcAft>
                <a:spcPts val="0"/>
              </a:spcAft>
              <a:buSzPts val="1300"/>
              <a:buChar char="●"/>
            </a:pPr>
            <a:r>
              <a:rPr lang="en"/>
              <a:t>Renamed the case column in the attendance data to type to avoid problems in the later preprocessing stages via PostgreSQL.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Dataset Preprocessing</a:t>
            </a:r>
            <a:endParaRPr/>
          </a:p>
        </p:txBody>
      </p:sp>
      <p:sp>
        <p:nvSpPr>
          <p:cNvPr id="153" name="Google Shape;153;p1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Using PostgreSQL:</a:t>
            </a:r>
            <a:endParaRPr/>
          </a:p>
          <a:p>
            <a:pPr indent="-311150" lvl="0" marL="457200" rtl="0" algn="l">
              <a:spcBef>
                <a:spcPts val="1200"/>
              </a:spcBef>
              <a:spcAft>
                <a:spcPts val="0"/>
              </a:spcAft>
              <a:buSzPts val="1300"/>
              <a:buChar char="●"/>
            </a:pPr>
            <a:r>
              <a:rPr lang="en"/>
              <a:t>Cleaned the comma-separated text strings in the dates column (schedules and leave_requests), and in the user_id column (schedules), allowing for splitting and unpivoting of these columns later in Power Query.</a:t>
            </a:r>
            <a:endParaRPr/>
          </a:p>
          <a:p>
            <a:pPr indent="-311150" lvl="0" marL="457200" rtl="0" algn="l">
              <a:spcBef>
                <a:spcPts val="0"/>
              </a:spcBef>
              <a:spcAft>
                <a:spcPts val="0"/>
              </a:spcAft>
              <a:buSzPts val="1300"/>
              <a:buChar char="●"/>
            </a:pPr>
            <a:r>
              <a:rPr lang="en"/>
              <a:t>Concatenated the time_start and time_end columns with the timestamp column for schedules, and the date, time, and timestamp columns for attendance.</a:t>
            </a:r>
            <a:endParaRPr/>
          </a:p>
          <a:p>
            <a:pPr indent="-311150" lvl="0" marL="457200" rtl="0" algn="l">
              <a:spcBef>
                <a:spcPts val="0"/>
              </a:spcBef>
              <a:spcAft>
                <a:spcPts val="0"/>
              </a:spcAft>
              <a:buSzPts val="1300"/>
              <a:buChar char="●"/>
            </a:pPr>
            <a:r>
              <a:rPr lang="en"/>
              <a:t>Split the schedules data into work and leaves, and split the attendance data into in and out datasets.</a:t>
            </a:r>
            <a:endParaRPr/>
          </a:p>
          <a:p>
            <a:pPr indent="-311150" lvl="0" marL="457200" rtl="0" algn="l">
              <a:spcBef>
                <a:spcPts val="0"/>
              </a:spcBef>
              <a:spcAft>
                <a:spcPts val="0"/>
              </a:spcAft>
              <a:buSzPts val="1300"/>
              <a:buChar char="●"/>
            </a:pPr>
            <a:r>
              <a:rPr lang="en"/>
              <a:t>Saved the results to respective CSV files.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Dataset Preprocessing</a:t>
            </a:r>
            <a:endParaRPr/>
          </a:p>
        </p:txBody>
      </p:sp>
      <p:sp>
        <p:nvSpPr>
          <p:cNvPr id="159" name="Google Shape;159;p1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Using PowerBI (Power Query):</a:t>
            </a:r>
            <a:endParaRPr/>
          </a:p>
          <a:p>
            <a:pPr indent="-304959" lvl="0" marL="457200" rtl="0" algn="l">
              <a:spcBef>
                <a:spcPts val="1200"/>
              </a:spcBef>
              <a:spcAft>
                <a:spcPts val="0"/>
              </a:spcAft>
              <a:buSzPct val="100000"/>
              <a:buChar char="●"/>
            </a:pPr>
            <a:r>
              <a:rPr lang="en"/>
              <a:t>Removal of duplicates:</a:t>
            </a:r>
            <a:endParaRPr/>
          </a:p>
          <a:p>
            <a:pPr indent="-293211" lvl="1" marL="914400" rtl="0" algn="l">
              <a:spcBef>
                <a:spcPts val="0"/>
              </a:spcBef>
              <a:spcAft>
                <a:spcPts val="0"/>
              </a:spcAft>
              <a:buSzPct val="100000"/>
              <a:buChar char="○"/>
            </a:pPr>
            <a:r>
              <a:rPr lang="en"/>
              <a:t>Via user_id (users), user_id and date (leave_requests, schedules - leaves), user_id, date_start, and date_end (payroll)</a:t>
            </a:r>
            <a:endParaRPr/>
          </a:p>
          <a:p>
            <a:pPr indent="-293211" lvl="1" marL="914400" rtl="0" algn="l">
              <a:spcBef>
                <a:spcPts val="0"/>
              </a:spcBef>
              <a:spcAft>
                <a:spcPts val="0"/>
              </a:spcAft>
              <a:buSzPct val="100000"/>
              <a:buChar char="○"/>
            </a:pPr>
            <a:r>
              <a:rPr lang="en"/>
              <a:t>Grouped by user_id and date and obtained the min timestamp (attendance - in) or max timestamp (attendance - out)</a:t>
            </a:r>
            <a:endParaRPr/>
          </a:p>
          <a:p>
            <a:pPr indent="-293211" lvl="1" marL="914400" rtl="0" algn="l">
              <a:spcBef>
                <a:spcPts val="0"/>
              </a:spcBef>
              <a:spcAft>
                <a:spcPts val="0"/>
              </a:spcAft>
              <a:buSzPct val="100000"/>
              <a:buChar char="○"/>
            </a:pPr>
            <a:r>
              <a:rPr lang="en"/>
              <a:t>Grouped by user_id and date and obtained the min timestamp_start and max timestamp_end (schedules - work)</a:t>
            </a:r>
            <a:endParaRPr/>
          </a:p>
          <a:p>
            <a:pPr indent="-304959" lvl="0" marL="457200" rtl="0" algn="l">
              <a:spcBef>
                <a:spcPts val="0"/>
              </a:spcBef>
              <a:spcAft>
                <a:spcPts val="0"/>
              </a:spcAft>
              <a:buSzPct val="100000"/>
              <a:buChar char="●"/>
            </a:pPr>
            <a:r>
              <a:rPr lang="en"/>
              <a:t>Split by comma and unpivoted other columns for columns holding comma-separated values (schedules - work, schedules - leaves, and leave_requests)</a:t>
            </a:r>
            <a:endParaRPr/>
          </a:p>
          <a:p>
            <a:pPr indent="-304959" lvl="0" marL="457200" rtl="0" algn="l">
              <a:spcBef>
                <a:spcPts val="0"/>
              </a:spcBef>
              <a:spcAft>
                <a:spcPts val="0"/>
              </a:spcAft>
              <a:buSzPct val="100000"/>
              <a:buChar char="●"/>
            </a:pPr>
            <a:r>
              <a:rPr lang="en"/>
              <a:t>Full outer joined the schedules - work and schedules - leaves, and then merged the leave_requests (status), payroll, attendance - in, attendance - out, and users (created_at, date_hired, date_leave) data into it.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Dataset Preprocessing</a:t>
            </a:r>
            <a:endParaRPr/>
          </a:p>
        </p:txBody>
      </p:sp>
      <p:sp>
        <p:nvSpPr>
          <p:cNvPr id="165" name="Google Shape;165;p1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Using PowerBI (DAX):</a:t>
            </a:r>
            <a:endParaRPr/>
          </a:p>
          <a:p>
            <a:pPr indent="-311150" lvl="0" marL="457200" rtl="0" algn="l">
              <a:spcBef>
                <a:spcPts val="1200"/>
              </a:spcBef>
              <a:spcAft>
                <a:spcPts val="0"/>
              </a:spcAft>
              <a:buSzPts val="1300"/>
              <a:buChar char="●"/>
            </a:pPr>
            <a:r>
              <a:rPr lang="en"/>
              <a:t>Calculated columns to indicate if a schedule record is:</a:t>
            </a:r>
            <a:endParaRPr/>
          </a:p>
          <a:p>
            <a:pPr indent="-298450" lvl="1" marL="914400" rtl="0" algn="l">
              <a:spcBef>
                <a:spcPts val="0"/>
              </a:spcBef>
              <a:spcAft>
                <a:spcPts val="0"/>
              </a:spcAft>
              <a:buSzPts val="1100"/>
              <a:buChar char="○"/>
            </a:pPr>
            <a:r>
              <a:rPr lang="en"/>
              <a:t>Within employment period: Date should be between the date_hired (or created_at if date_hired is blank), inclusive, and date_leave (or none at all), exclusive.</a:t>
            </a:r>
            <a:endParaRPr/>
          </a:p>
          <a:p>
            <a:pPr indent="-298450" lvl="1" marL="914400" rtl="0" algn="l">
              <a:spcBef>
                <a:spcPts val="0"/>
              </a:spcBef>
              <a:spcAft>
                <a:spcPts val="0"/>
              </a:spcAft>
              <a:buSzPts val="1100"/>
              <a:buChar char="○"/>
            </a:pPr>
            <a:r>
              <a:rPr lang="en"/>
              <a:t>Arrived late: The difference between time in and the scheduled time start in seconds.</a:t>
            </a:r>
            <a:endParaRPr/>
          </a:p>
          <a:p>
            <a:pPr indent="-298450" lvl="1" marL="914400" rtl="0" algn="l">
              <a:spcBef>
                <a:spcPts val="0"/>
              </a:spcBef>
              <a:spcAft>
                <a:spcPts val="0"/>
              </a:spcAft>
              <a:buSzPts val="1100"/>
              <a:buChar char="○"/>
            </a:pPr>
            <a:r>
              <a:rPr lang="en"/>
              <a:t>Left early: The difference between scheduled time end and time out in seconds.</a:t>
            </a:r>
            <a:endParaRPr/>
          </a:p>
          <a:p>
            <a:pPr indent="-298450" lvl="1" marL="914400" rtl="0" algn="l">
              <a:spcBef>
                <a:spcPts val="0"/>
              </a:spcBef>
              <a:spcAft>
                <a:spcPts val="0"/>
              </a:spcAft>
              <a:buSzPts val="1100"/>
              <a:buChar char="○"/>
            </a:pPr>
            <a:r>
              <a:rPr lang="en"/>
              <a:t>Basic Monthly Salary: Calculated based on the basic salary rate and the basic salary type (hourly, daily, or monthly).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Dataset Preprocessing</a:t>
            </a:r>
            <a:endParaRPr/>
          </a:p>
        </p:txBody>
      </p:sp>
      <p:sp>
        <p:nvSpPr>
          <p:cNvPr id="171" name="Google Shape;171;p2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Using PowerBI (DAX):</a:t>
            </a:r>
            <a:endParaRPr/>
          </a:p>
          <a:p>
            <a:pPr indent="-311150" lvl="0" marL="457200" rtl="0" algn="l">
              <a:spcBef>
                <a:spcPts val="1200"/>
              </a:spcBef>
              <a:spcAft>
                <a:spcPts val="0"/>
              </a:spcAft>
              <a:buSzPts val="1300"/>
              <a:buChar char="●"/>
            </a:pPr>
            <a:r>
              <a:rPr lang="en"/>
              <a:t>An employee is tardy for a particular day if a schedule record within the employment period has a time in and/or time out recorded and has arrived late by at least 10 minutes and/or left early. Schedule records with lates or early timeouts of more than 2 hours are considered outliers and are hence not considered tardy.</a:t>
            </a:r>
            <a:endParaRPr/>
          </a:p>
          <a:p>
            <a:pPr indent="-311150" lvl="0" marL="457200" rtl="0" algn="l">
              <a:spcBef>
                <a:spcPts val="0"/>
              </a:spcBef>
              <a:spcAft>
                <a:spcPts val="0"/>
              </a:spcAft>
              <a:buSzPts val="1300"/>
              <a:buChar char="●"/>
            </a:pPr>
            <a:r>
              <a:rPr lang="en"/>
              <a:t>An employee has an unscheduled absence for a particular day if a schedule record within the employment period has no time in and time out recorded and there is no leave type indicated.</a:t>
            </a:r>
            <a:endParaRPr/>
          </a:p>
          <a:p>
            <a:pPr indent="-311150" lvl="0" marL="457200" rtl="0" algn="l">
              <a:spcBef>
                <a:spcPts val="0"/>
              </a:spcBef>
              <a:spcAft>
                <a:spcPts val="0"/>
              </a:spcAft>
              <a:buSzPts val="1300"/>
              <a:buChar char="●"/>
            </a:pPr>
            <a:r>
              <a:rPr lang="en"/>
              <a:t>An employee has a scheduled/leave absence for a particular day if a schedule record within the employment period has no time in and time out recorded and there is a leave type indicated.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Dataset Preprocessing</a:t>
            </a:r>
            <a:endParaRPr/>
          </a:p>
        </p:txBody>
      </p:sp>
      <p:sp>
        <p:nvSpPr>
          <p:cNvPr id="177" name="Google Shape;177;p2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Using PowerBI (DAX):</a:t>
            </a:r>
            <a:endParaRPr/>
          </a:p>
          <a:p>
            <a:pPr indent="-311150" lvl="0" marL="457200" rtl="0" algn="l">
              <a:spcBef>
                <a:spcPts val="1200"/>
              </a:spcBef>
              <a:spcAft>
                <a:spcPts val="0"/>
              </a:spcAft>
              <a:buSzPts val="1300"/>
              <a:buChar char="●"/>
            </a:pPr>
            <a:r>
              <a:rPr lang="en"/>
              <a:t>For each employee, the number of distinct days wherein the employee was tardy or absent is calculated.</a:t>
            </a:r>
            <a:endParaRPr/>
          </a:p>
          <a:p>
            <a:pPr indent="-311150" lvl="0" marL="457200" rtl="0" algn="l">
              <a:spcBef>
                <a:spcPts val="0"/>
              </a:spcBef>
              <a:spcAft>
                <a:spcPts val="0"/>
              </a:spcAft>
              <a:buSzPts val="1300"/>
              <a:buChar char="●"/>
            </a:pPr>
            <a:r>
              <a:rPr lang="en"/>
              <a:t>For each department, the average number of distinct days with tardiness/absence per employee (for disciplined/undisciplined), the percentage of employees with tardiness/absence (for undisciplined forgiveness), and the percentage of approved leaves are calculated.</a:t>
            </a:r>
            <a:endParaRPr/>
          </a:p>
          <a:p>
            <a:pPr indent="-311150" lvl="0" marL="457200" rtl="0" algn="l">
              <a:spcBef>
                <a:spcPts val="0"/>
              </a:spcBef>
              <a:spcAft>
                <a:spcPts val="0"/>
              </a:spcAft>
              <a:buSzPts val="1300"/>
              <a:buChar char="●"/>
            </a:pPr>
            <a:r>
              <a:rPr lang="en"/>
              <a:t>For each month and weekday, the number of distinct employees with tardiness/absences are calculated.</a:t>
            </a:r>
            <a:endParaRPr/>
          </a:p>
          <a:p>
            <a:pPr indent="-311150" lvl="0" marL="457200" rtl="0" algn="l">
              <a:spcBef>
                <a:spcPts val="0"/>
              </a:spcBef>
              <a:spcAft>
                <a:spcPts val="0"/>
              </a:spcAft>
              <a:buSzPts val="1300"/>
              <a:buChar char="●"/>
            </a:pPr>
            <a:r>
              <a:rPr lang="en"/>
              <a:t>Demographic information such as basic monthly salary and gender are also considered in the analysis of lateness and day-offs.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Disciplined and Undisciplined Departments</a:t>
            </a:r>
            <a:endParaRPr/>
          </a:p>
        </p:txBody>
      </p:sp>
      <p:pic>
        <p:nvPicPr>
          <p:cNvPr id="183" name="Google Shape;183;p22"/>
          <p:cNvPicPr preferRelativeResize="0"/>
          <p:nvPr/>
        </p:nvPicPr>
        <p:blipFill>
          <a:blip r:embed="rId3">
            <a:alphaModFix/>
          </a:blip>
          <a:stretch>
            <a:fillRect/>
          </a:stretch>
        </p:blipFill>
        <p:spPr>
          <a:xfrm>
            <a:off x="409625" y="2414838"/>
            <a:ext cx="8324725" cy="1396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3"/>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Disciplined and Undisciplined Employees</a:t>
            </a:r>
            <a:endParaRPr/>
          </a:p>
        </p:txBody>
      </p:sp>
      <p:pic>
        <p:nvPicPr>
          <p:cNvPr id="189" name="Google Shape;189;p23"/>
          <p:cNvPicPr preferRelativeResize="0"/>
          <p:nvPr/>
        </p:nvPicPr>
        <p:blipFill>
          <a:blip r:embed="rId3">
            <a:alphaModFix/>
          </a:blip>
          <a:stretch>
            <a:fillRect/>
          </a:stretch>
        </p:blipFill>
        <p:spPr>
          <a:xfrm>
            <a:off x="485775" y="2283475"/>
            <a:ext cx="8172449" cy="163449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Disciplined and Undisciplined Employees</a:t>
            </a:r>
            <a:endParaRPr/>
          </a:p>
        </p:txBody>
      </p:sp>
      <p:pic>
        <p:nvPicPr>
          <p:cNvPr id="195" name="Google Shape;195;p24"/>
          <p:cNvPicPr preferRelativeResize="0"/>
          <p:nvPr/>
        </p:nvPicPr>
        <p:blipFill>
          <a:blip r:embed="rId3">
            <a:alphaModFix/>
          </a:blip>
          <a:stretch>
            <a:fillRect/>
          </a:stretch>
        </p:blipFill>
        <p:spPr>
          <a:xfrm>
            <a:off x="743600" y="2288025"/>
            <a:ext cx="7656800" cy="1577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Number of Employees with Lates or on Vacation/Sick Leave per Month and Weekday</a:t>
            </a:r>
            <a:endParaRPr/>
          </a:p>
        </p:txBody>
      </p:sp>
      <p:pic>
        <p:nvPicPr>
          <p:cNvPr id="201" name="Google Shape;201;p25"/>
          <p:cNvPicPr preferRelativeResize="0"/>
          <p:nvPr/>
        </p:nvPicPr>
        <p:blipFill>
          <a:blip r:embed="rId3">
            <a:alphaModFix/>
          </a:blip>
          <a:stretch>
            <a:fillRect/>
          </a:stretch>
        </p:blipFill>
        <p:spPr>
          <a:xfrm>
            <a:off x="695613" y="2571750"/>
            <a:ext cx="7752775" cy="15666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Number of Employees with Lates or on Vacation/Sick Leave per Month and Weekday</a:t>
            </a:r>
            <a:endParaRPr/>
          </a:p>
        </p:txBody>
      </p:sp>
      <p:pic>
        <p:nvPicPr>
          <p:cNvPr id="207" name="Google Shape;207;p26"/>
          <p:cNvPicPr preferRelativeResize="0"/>
          <p:nvPr/>
        </p:nvPicPr>
        <p:blipFill>
          <a:blip r:embed="rId3">
            <a:alphaModFix/>
          </a:blip>
          <a:stretch>
            <a:fillRect/>
          </a:stretch>
        </p:blipFill>
        <p:spPr>
          <a:xfrm>
            <a:off x="819150" y="2571750"/>
            <a:ext cx="7505701" cy="153963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Number of Employees with Lates or on Vacation/Sick Leave per Month and Weekday</a:t>
            </a:r>
            <a:endParaRPr/>
          </a:p>
        </p:txBody>
      </p:sp>
      <p:pic>
        <p:nvPicPr>
          <p:cNvPr id="213" name="Google Shape;213;p27"/>
          <p:cNvPicPr preferRelativeResize="0"/>
          <p:nvPr/>
        </p:nvPicPr>
        <p:blipFill>
          <a:blip r:embed="rId3">
            <a:alphaModFix/>
          </a:blip>
          <a:stretch>
            <a:fillRect/>
          </a:stretch>
        </p:blipFill>
        <p:spPr>
          <a:xfrm>
            <a:off x="819150" y="2438375"/>
            <a:ext cx="7505700" cy="163947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Most Forgiving Departments and Favorites</a:t>
            </a:r>
            <a:endParaRPr/>
          </a:p>
        </p:txBody>
      </p:sp>
      <p:pic>
        <p:nvPicPr>
          <p:cNvPr id="219" name="Google Shape;219;p28"/>
          <p:cNvPicPr preferRelativeResize="0"/>
          <p:nvPr/>
        </p:nvPicPr>
        <p:blipFill>
          <a:blip r:embed="rId3">
            <a:alphaModFix/>
          </a:blip>
          <a:stretch>
            <a:fillRect/>
          </a:stretch>
        </p:blipFill>
        <p:spPr>
          <a:xfrm>
            <a:off x="1162638" y="2363200"/>
            <a:ext cx="6818725" cy="1516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9"/>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Most Forgiving Departments and Favorites</a:t>
            </a:r>
            <a:endParaRPr/>
          </a:p>
        </p:txBody>
      </p:sp>
      <p:pic>
        <p:nvPicPr>
          <p:cNvPr id="225" name="Google Shape;225;p29"/>
          <p:cNvPicPr preferRelativeResize="0"/>
          <p:nvPr/>
        </p:nvPicPr>
        <p:blipFill>
          <a:blip r:embed="rId3">
            <a:alphaModFix/>
          </a:blip>
          <a:stretch>
            <a:fillRect/>
          </a:stretch>
        </p:blipFill>
        <p:spPr>
          <a:xfrm>
            <a:off x="2338388" y="1800200"/>
            <a:ext cx="4467225" cy="2819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0"/>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Most Forgiving Departments and Favorites</a:t>
            </a:r>
            <a:endParaRPr/>
          </a:p>
        </p:txBody>
      </p:sp>
      <p:pic>
        <p:nvPicPr>
          <p:cNvPr id="231" name="Google Shape;231;p30"/>
          <p:cNvPicPr preferRelativeResize="0"/>
          <p:nvPr/>
        </p:nvPicPr>
        <p:blipFill>
          <a:blip r:embed="rId3">
            <a:alphaModFix/>
          </a:blip>
          <a:stretch>
            <a:fillRect/>
          </a:stretch>
        </p:blipFill>
        <p:spPr>
          <a:xfrm>
            <a:off x="1539563" y="1927050"/>
            <a:ext cx="6064875" cy="19982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1"/>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Most Forgiving Departments and Favorites</a:t>
            </a:r>
            <a:endParaRPr/>
          </a:p>
        </p:txBody>
      </p:sp>
      <p:pic>
        <p:nvPicPr>
          <p:cNvPr id="237" name="Google Shape;237;p31"/>
          <p:cNvPicPr preferRelativeResize="0"/>
          <p:nvPr/>
        </p:nvPicPr>
        <p:blipFill>
          <a:blip r:embed="rId3">
            <a:alphaModFix/>
          </a:blip>
          <a:stretch>
            <a:fillRect/>
          </a:stretch>
        </p:blipFill>
        <p:spPr>
          <a:xfrm>
            <a:off x="2095563" y="1800200"/>
            <a:ext cx="4952875" cy="2735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2"/>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Most Forgiving Departments and Favorites</a:t>
            </a:r>
            <a:endParaRPr/>
          </a:p>
        </p:txBody>
      </p:sp>
      <p:pic>
        <p:nvPicPr>
          <p:cNvPr id="243" name="Google Shape;243;p32"/>
          <p:cNvPicPr preferRelativeResize="0"/>
          <p:nvPr/>
        </p:nvPicPr>
        <p:blipFill>
          <a:blip r:embed="rId3">
            <a:alphaModFix/>
          </a:blip>
          <a:stretch>
            <a:fillRect/>
          </a:stretch>
        </p:blipFill>
        <p:spPr>
          <a:xfrm>
            <a:off x="2023813" y="1800200"/>
            <a:ext cx="5096375" cy="2844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Most Forgiving Departments and Favorites</a:t>
            </a:r>
            <a:endParaRPr/>
          </a:p>
        </p:txBody>
      </p:sp>
      <p:pic>
        <p:nvPicPr>
          <p:cNvPr id="249" name="Google Shape;249;p33"/>
          <p:cNvPicPr preferRelativeResize="0"/>
          <p:nvPr/>
        </p:nvPicPr>
        <p:blipFill>
          <a:blip r:embed="rId3">
            <a:alphaModFix/>
          </a:blip>
          <a:stretch>
            <a:fillRect/>
          </a:stretch>
        </p:blipFill>
        <p:spPr>
          <a:xfrm>
            <a:off x="1966245" y="1800200"/>
            <a:ext cx="5211517" cy="29347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 Most Forgiving Departments and Favorites</a:t>
            </a:r>
            <a:endParaRPr/>
          </a:p>
        </p:txBody>
      </p:sp>
      <p:pic>
        <p:nvPicPr>
          <p:cNvPr id="255" name="Google Shape;255;p34"/>
          <p:cNvPicPr preferRelativeResize="0"/>
          <p:nvPr/>
        </p:nvPicPr>
        <p:blipFill>
          <a:blip r:embed="rId3">
            <a:alphaModFix/>
          </a:blip>
          <a:stretch>
            <a:fillRect/>
          </a:stretch>
        </p:blipFill>
        <p:spPr>
          <a:xfrm>
            <a:off x="2117563" y="1800200"/>
            <a:ext cx="4908875" cy="2772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Recommendations</a:t>
            </a:r>
            <a:endParaRPr/>
          </a:p>
        </p:txBody>
      </p:sp>
      <p:sp>
        <p:nvSpPr>
          <p:cNvPr id="261" name="Google Shape;261;p3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Employees in the Unknown department should be educated on how to properly file leaves.</a:t>
            </a:r>
            <a:endParaRPr/>
          </a:p>
          <a:p>
            <a:pPr indent="-311150" lvl="0" marL="457200" rtl="0" algn="l">
              <a:spcBef>
                <a:spcPts val="0"/>
              </a:spcBef>
              <a:spcAft>
                <a:spcPts val="0"/>
              </a:spcAft>
              <a:buSzPts val="1300"/>
              <a:buChar char="●"/>
            </a:pPr>
            <a:r>
              <a:rPr lang="en"/>
              <a:t>Encourage the Pharmacy, Medical, and Support Centre departments to enforce stricter guidelines in terms of tardiness and filing leaves, regardless of employee position.</a:t>
            </a:r>
            <a:endParaRPr/>
          </a:p>
          <a:p>
            <a:pPr indent="-311150" lvl="0" marL="457200" rtl="0" algn="l">
              <a:spcBef>
                <a:spcPts val="0"/>
              </a:spcBef>
              <a:spcAft>
                <a:spcPts val="0"/>
              </a:spcAft>
              <a:buSzPts val="1300"/>
              <a:buChar char="●"/>
            </a:pPr>
            <a:r>
              <a:rPr lang="en"/>
              <a:t>The fact that there are more employees who left early than employees being late may indicate potential burnout and should be further investigated.</a:t>
            </a:r>
            <a:endParaRPr/>
          </a:p>
          <a:p>
            <a:pPr indent="-311150" lvl="0" marL="457200" rtl="0" algn="l">
              <a:spcBef>
                <a:spcPts val="0"/>
              </a:spcBef>
              <a:spcAft>
                <a:spcPts val="0"/>
              </a:spcAft>
              <a:buSzPts val="1300"/>
              <a:buChar char="●"/>
            </a:pPr>
            <a:r>
              <a:rPr lang="en"/>
              <a:t>The fact that there are only a few recorded approved leaves might be an indication of inconsistency and inefficiency in the leave recording system and should be further investigated.</a:t>
            </a:r>
            <a:endParaRPr/>
          </a:p>
          <a:p>
            <a:pPr indent="-311150" lvl="0" marL="457200" rtl="0" algn="l">
              <a:spcBef>
                <a:spcPts val="0"/>
              </a:spcBef>
              <a:spcAft>
                <a:spcPts val="0"/>
              </a:spcAft>
              <a:buSzPts val="1300"/>
              <a:buChar char="●"/>
            </a:pPr>
            <a:r>
              <a:rPr lang="en"/>
              <a:t>Very likely employees only think that day-off is the only type of leave available. Employees should be made aware of the other leaves that are available to them. Alternatively, this could also indicate burnout and should be further investigated.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Recommendations</a:t>
            </a:r>
            <a:endParaRPr/>
          </a:p>
        </p:txBody>
      </p:sp>
      <p:sp>
        <p:nvSpPr>
          <p:cNvPr id="267" name="Google Shape;267;p3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One reason why employees with lower basic monthly salary are more likely to be late or file a day-off is because of employee demotivation. Efforts should be made to investigate the issue and offer salary raises if deemed necessary to motivate the employees.</a:t>
            </a:r>
            <a:endParaRPr/>
          </a:p>
          <a:p>
            <a:pPr indent="-311150" lvl="0" marL="457200" rtl="0" algn="l">
              <a:spcBef>
                <a:spcPts val="0"/>
              </a:spcBef>
              <a:spcAft>
                <a:spcPts val="0"/>
              </a:spcAft>
              <a:buSzPts val="1300"/>
              <a:buChar char="●"/>
            </a:pPr>
            <a:r>
              <a:rPr lang="en"/>
              <a:t>The fact that female employees have more days late or day-offs than males should be further investigated, since this may indicate a work-life balance issue.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